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6fc5f79-e705-b97a-b80b-e57a3f38204e}">
          <p14:sldIdLst>
            <p14:sldId id="256"/>
            <p14:sldId id="257"/>
            <p14:sldId id="258"/>
            <p14:sldId id="259"/>
            <p14:sldId id="260"/>
          </p14:sldIdLst>
        </p14:section>
        <p14:section name="How it works" id="{02f488d5-04f4-2b07-702b-a54c42f5027f}">
          <p14:sldIdLst>
            <p14:sldId id="261"/>
            <p14:sldId id="262"/>
            <p14:sldId id="263"/>
            <p14:sldId id="264"/>
            <p14:sldId id="265"/>
            <p14:sldId id="266"/>
            <p14:sldId id="267"/>
          </p14:sldIdLst>
        </p14:section>
        <p14:section name="Dashboard analysis" id="{d0dd4b36-a804-1aff-68ab-cdad864dc3b0}">
          <p14:sldIdLst>
            <p14:sldId id="268"/>
            <p14:sldId id="269"/>
            <p14:sldId id="270"/>
            <p14:sldId id="271"/>
          </p14:sldIdLst>
        </p14:section>
        <p14:section name="Conclusion" id="{e45cf414-72d2-1be7-0be6-7d1cce73d2cc}">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TreadOps is a tyre-casing inspection platform: a benchmarked image classifier wrapped in a full MLOps loop and a guarded LLM copilot called Bib. Final clearance always stays with a qualified inspector.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Retreading reuses the casing of a worn truck tyre. Michelin's published figures: about 50 kg of the 70 kg of raw material is saved per retread, at 2.3 kg CO2e per kg, and MICHELIN Remix allows two retreads. The risk is a damaged casing slipping through, so the objective is a triage aid that never clears a doubtful tyre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truck tyre has two parts that matter here. The tread is the rubber that touches the road; it wears out and a retreader grinds it off and bonds on a new one. The casing is everything underneath: the steel belts, the body ply cords that run from bead to bead, the sidewalls, the beads that grip the rim and the inner liner. The casing is what gets reused two or three times, so it must be sound. A worn tread is the reason a tyre comes in; damage to the casing is the reason to reject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the tread: wear is expected and is why the tyre is being retreaded; a nail is a repairable puncture; a chunk torn out down to the steel belt is serious. Bottom row, the casing: weather cracking from age and ozone, cuts in the sidewall where the tyre flexes, and a bulge, which means broken ply cords under the rubber and scrap. The yellow boxes are the datasets' own labels. The classifier learned the cracked, aged look; the new damage locator is trained on boxes like these, so it can point at a cut on an otherwise new tyre.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public phone-photo sources, each downloaded from its publisher and checked against the published checksum. D1 from Mendeley, 1,828 photos, is the original. TyreNet adds 1,693 photos from eight service stations and showrooms. The Harvard MSU set looked like 1,028 more, but 883 of them are byte-identical copies of D1 photos; the hash check caught them, so none could sneak into a test set, and only 144 are new. Each source is split on its own, 70/15/15 by tyre, and a test proves no D1 photo moved. The damage locator has its own box-labelled data: 715 photos with 932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three public sources with DVC, train benchmarked models with MLflow tracking, release through gates and ONNX parity with a compare-and-swap switch, serve photos, videos and RTSP line cameras through FastAPI and Celery workers in nine visible steps, ask through Bib, and watch drift and LLM traces in MLflow. Every result is pinned to the exact data, model and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DVC versions the data and model bytes and makes the pipeline stages reproducible. MLflow keeps each training run, the model registry with aliases candidate, challenger and champion, and now every Bib turn as a trace. PostgreSQL holds the serving pointer; the champion alias follows it through a retried reconcile job. The join keys tie them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images, same transforms and the same low-light, blur and JPEG augmentation for every candidate, scored on the gate cohort by a rule fixed before any result: recall at least 0.95 and specificity at least 0.90 first, then the weakest source, then low light, then latency. YOLO26s missed recall by a hair, YOLO26n flagged too many good tyres. The benchmark was stopped after three of five candidates; YOLO26m and the non-robust control are recorded as unfinished.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Locked test of 558 photos, run once. Specificity is 0.971 and only 4 of 282 defective tyres reach the auto-clear queue. Recall at the strict binary threshold is 0.911, below the 0.95 target, and on D1 alone 0.88 against the old YOLO's 0.953: we report that. The gain is robustness: 0.90 recall at 45 percent brightness where YOLO had 0.76, and it clears good tyres from the new sources, where YOLO cleared only about two thirds.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inspection records its steps with images and real timings: ingest with metadata stripped, the canonical photo, a relative depth map, the 224-pixel letterbox, the tensor, the quality screen, the classifier with calibrated probability, the occlusion heatmap and the classified image. Depth Anything V2 shows the tyre's shape and how much of the frame it fills; monocular depth has no units and cannot see cuts, so it never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RTSP camera over a stop-and-go belt. The connector inspects each tyre once it stops in the inspection zone, and draws on about five frames a second: the zone in the colour of that tyre's verdict, and the damage locator's boxes found on that very frame. Left: cracks boxed, damaged 0.99. Right: the classifier says 0.03, yet the locator outlines a bulge at 0.93; it is experimental because it failed its gate, which is exactly why a stronger locator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independent checks can each send a tyre to an inspector: the quality screen, the 0.20 and 0.80 triage thresholds, the damage locator once it passes its gate, the vision second opinion on every auto-clear, and the subject gate. When the vision provider is unreachable, nothing is auto-cleared. An image is rejected as not a tyre only when the unusual-image score and the vision model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Inspectors and admins open Live cameras next to Bib's chat: each line with the AI overlay, a chip that repeats what the frame shows, and one click to ask Bib about a camera. Connect takes an RTSP URL, tests it, shows a real frame and lets you place the inspection zone before saving. The URL is encrypted at rest and shown masked.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training photos of damaged tyres are mostly old, cracked rubber, so the classifier missed a fresh gash on a new tyre: YOLO gave 0.124, ConvNeXt 0.017. A vision model re-checks every auto-clear and can only escalate. The real fix is box-labelled data with local damage on new tyres.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Models page shows champion and challengers with their gate reports, now including the ConvNeXt winner and its locked-test recall. Promotion re-checks every file hash, replays a golden batch and switches the serving pointer only if its generation has not moved. Any failure keeps the old model serving.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Bib turn is mirrored into MLflow Tracing: the guardrails, the planning step with the autologged chat completion and token usage, every tool call with its full result, and the grounding check. A failed model call shows as a red span. Inspector thumbs up or down and golden-set results are attached to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Michelin's TreadVision, launched in March 2026, combines plant imaging, TreadEye with 1,200 tread-depth points per tyre, AI classification of shearography and robotic handling. TreadOps cannot compete on plant hardware or shearography. It competes on what a photo or a line camera can do with full proof: benchmarked models, live boxes, a fail-safe second opinion and every result traceable. Michelin's figures are company-stated; ours are measured on public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Findings: three sources and a fair benchmark gave a model that holds up in low light and on new photos, every step is visible including depth, the line camera shows live boxes and verdicts, and every Bib turn is a trace. Recommendations: label local damage on new tyres to bring the locator past its gate, run a plant pilot to measure time and cost per casing, and use TreadOps to pre-screen before shearography, not instead of it.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57400"/>
            <a:ext cx="11091672" cy="1920240"/>
          </a:xfrm>
          <a:prstGeom prst="rect">
            <a:avLst/>
          </a:prstGeom>
          <a:noFill/>
          <a:ln/>
        </p:spPr>
        <p:txBody>
          <a:bodyPr wrap="square" rtlCol="0"/>
          <a:lstStyle>
            <a:lvl1pPr algn="ctr" indent="0" marL="0">
              <a:buNone/>
              <a:defRPr lang="en-US" sz="3000" b="1" i="1" dirty="0">
                <a:solidFill>
                  <a:schemeClr val="tx2"/>
                </a:solidFill>
              </a:defRPr>
            </a:lvl1pPr>
          </a:lstStyle>
          <a:p>
            <a:pPr algn="ctr" indent="0" marL="0">
              <a:buNone/>
            </a:pPr>
            <a:endParaRPr lang="en-US" sz="3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0" y="0"/>
            <a:ext cx="292608" cy="6858000"/>
          </a:xfrm>
          <a:prstGeom prst="rect">
            <a:avLst/>
          </a:prstGeom>
          <a:solidFill>
            <a:schemeClr val="tx2"/>
          </a:solidFill>
          <a:ln/>
        </p:spPr>
      </p:sp>
      <p:sp>
        <p:nvSpPr>
          <p:cNvPr id="3" name="Shape 1"/>
          <p:cNvSpPr/>
          <p:nvPr/>
        </p:nvSpPr>
        <p:spPr>
          <a:xfrm>
            <a:off x="292608" y="0"/>
            <a:ext cx="73152" cy="6858000"/>
          </a:xfrm>
          <a:prstGeom prst="rect">
            <a:avLst/>
          </a:prstGeom>
          <a:solidFill>
            <a:schemeClr val="accent2"/>
          </a:solidFill>
          <a:ln/>
        </p:spPr>
      </p:sp>
      <p:sp>
        <p:nvSpPr>
          <p:cNvPr id="4" name="Text 2"/>
          <p:cNvSpPr/>
          <p:nvPr>
            <p:ph idx="102" type="body" hasCustomPrompt="1"/>
          </p:nvPr>
        </p:nvSpPr>
        <p:spPr>
          <a:xfrm>
            <a:off x="777240" y="384048"/>
            <a:ext cx="10058400" cy="365760"/>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
        <p:nvSpPr>
          <p:cNvPr id="5" name="Text 2"/>
          <p:cNvSpPr/>
          <p:nvPr>
            <p:ph idx="103" type="title" hasCustomPrompt="1"/>
          </p:nvPr>
        </p:nvSpPr>
        <p:spPr>
          <a:xfrm>
            <a:off x="777240" y="731520"/>
            <a:ext cx="11064240" cy="822960"/>
          </a:xfrm>
          <a:prstGeom prst="rect">
            <a:avLst/>
          </a:prstGeom>
          <a:noFill/>
          <a:ln/>
        </p:spPr>
        <p:txBody>
          <a:bodyPr wrap="square" rtlCol="0"/>
          <a:lstStyle>
            <a:lvl1pPr algn="l" indent="0" marL="0">
              <a:buNone/>
              <a:defRPr lang="en-US" sz="3000" b="1" i="1" dirty="0">
                <a:solidFill>
                  <a:schemeClr val="tx2"/>
                </a:solidFill>
              </a:defRPr>
            </a:lvl1pPr>
          </a:lstStyle>
          <a:p>
            <a:pPr algn="l" indent="0" marL="0">
              <a:buNone/>
            </a:pPr>
            <a:endParaRPr lang="en-US" sz="3000" dirty="0"/>
          </a:p>
        </p:txBody>
      </p:sp>
      <p:sp>
        <p:nvSpPr>
          <p:cNvPr id="6" name="Text 2"/>
          <p:cNvSpPr/>
          <p:nvPr/>
        </p:nvSpPr>
        <p:spPr>
          <a:xfrm>
            <a:off x="9464040" y="6400800"/>
            <a:ext cx="1463040" cy="274320"/>
          </a:xfrm>
          <a:prstGeom prst="rect">
            <a:avLst/>
          </a:prstGeom>
          <a:noFill/>
          <a:ln/>
        </p:spPr>
        <p:txBody>
          <a:bodyPr wrap="square" lIns="0" tIns="0" rIns="0" bIns="0" rtlCol="0" anchor="t"/>
          <a:lstStyle/>
          <a:p>
            <a:pPr algn="r" indent="0" marL="0">
              <a:buNone/>
            </a:pPr>
            <a:r>
              <a:rPr lang="en-US" sz="1100" dirty="0">
                <a:solidFill>
                  <a:schemeClr val="accent4"/>
                </a:solidFill>
              </a:rPr>
              <a:t>TreadOps  |</a:t>
            </a:r>
            <a:endParaRPr lang="en-US" sz="1100" dirty="0"/>
          </a:p>
        </p:txBody>
      </p:sp>
      <p:sp>
        <p:nvSpPr>
          <p:cNvPr id="7" name="Text 3"/>
          <p:cNvSpPr/>
          <p:nvPr/>
        </p:nvSpPr>
        <p:spPr>
          <a:xfrm>
            <a:off x="11320272" y="6400800"/>
            <a:ext cx="548640" cy="274320"/>
          </a:xfrm>
          <a:prstGeom prst="rect">
            <a:avLst/>
          </a:prstGeom>
          <a:noFill/>
          <a:ln/>
        </p:spPr>
        <p:txBody>
          <a:bodyPr wrap="square" lIns="0" tIns="0" rIns="0" bIns="0" rtlCol="0" anchor="t"/>
          <a:lstStyle/>
          <a:p>
            <a:pPr algn="l" indent="0" marL="0">
              <a:buNone/>
            </a:pPr>
            <a:r>
              <a:rPr lang="en-US" sz="1100" dirty="0">
                <a:solidFill>
                  <a:schemeClr val="accent4"/>
                </a:solidFill>
              </a:rPr>
              <a:t>/ 18</a:t>
            </a:r>
            <a:endParaRPr lang="en-US" sz="1100" dirty="0"/>
          </a:p>
        </p:txBody>
      </p:sp>
      <p:sp>
        <p:nvSpPr>
          <p:cNvPr id="25" name="Slide Number Placeholder 0"/>
          <p:cNvSpPr>
            <a:spLocks noGrp="1"/>
          </p:cNvSpPr>
          <p:nvPr>
            <p:ph type="sldNum" sz="quarter" idx="4294967295"/>
          </p:nvPr>
        </p:nvSpPr>
        <p:spPr>
          <a:xfrm>
            <a:off x="10972800" y="6400800"/>
            <a:ext cx="310896"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100">
                <a:solidFill>
                  <a:schemeClr val="accent4"/>
                </a:solidFill>
                <a:latin typeface="+mn-lt"/>
                <a:ea typeface="+mn-lt"/>
                <a:cs typeface="+mn-lt"/>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310896"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100">
                <a:solidFill>
                  <a:schemeClr val="accent4"/>
                </a:solidFill>
                <a:latin typeface="+mn-lt"/>
                <a:ea typeface="+mn-lt"/>
                <a:cs typeface="+mn-lt"/>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jpg"/><Relationship Id="rId6" Type="http://schemas.openxmlformats.org/officeDocument/2006/relationships/image" Target="../media/image-4-6.jp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it-logo" descr="Symbiosis Institute of Technology">    </p:cNvPr>
          <p:cNvPicPr>
            <a:picLocks noChangeAspect="1"/>
          </p:cNvPicPr>
          <p:nvPr/>
        </p:nvPicPr>
        <p:blipFill>
          <a:blip r:embed="rId1"/>
          <a:stretch>
            <a:fillRect/>
          </a:stretch>
        </p:blipFill>
        <p:spPr>
          <a:xfrm>
            <a:off x="4727448" y="365760"/>
            <a:ext cx="2340864" cy="1417320"/>
          </a:xfrm>
          <a:prstGeom prst="rect">
            <a:avLst/>
          </a:prstGeom>
        </p:spPr>
      </p:pic>
      <p:sp>
        <p:nvSpPr>
          <p:cNvPr id="3" name="Text 0"/>
          <p:cNvSpPr/>
          <p:nvPr>
            <p:ph idx="100" type="title" hasCustomPrompt="1"/>
          </p:nvPr>
        </p:nvSpPr>
        <p:spPr>
          <a:xfrm>
            <a:off x="548640" y="2057400"/>
            <a:ext cx="11091672" cy="1920240"/>
          </a:xfrm>
          <a:prstGeom prst="rect">
            <a:avLst/>
          </a:prstGeom>
          <a:noFill/>
          <a:ln/>
        </p:spPr>
        <p:txBody>
          <a:bodyPr wrap="square" rtlCol="0" anchor="ctr"/>
          <a:lstStyle/>
          <a:p>
            <a:pPr algn="ctr" indent="0" marL="0">
              <a:buNone/>
            </a:pPr>
            <a:r>
              <a:rPr lang="en-US" sz="3000" b="1" i="1" dirty="0">
                <a:solidFill>
                  <a:schemeClr val="tx2"/>
                </a:solidFill>
              </a:rPr>
              <a:t>TreadOps: Trustworthy Tyre-Casing Inspection with Benchmarked Vision Models, MLOps and a Guarded LLM Copilot</a:t>
            </a:r>
            <a:endParaRPr lang="en-US" sz="3000" dirty="0"/>
          </a:p>
        </p:txBody>
      </p:sp>
      <p:sp>
        <p:nvSpPr>
          <p:cNvPr id="4" name="assessment"/>
          <p:cNvSpPr txBox="1"/>
          <p:nvPr/>
        </p:nvSpPr>
        <p:spPr>
          <a:xfrm>
            <a:off x="457200" y="4069080"/>
            <a:ext cx="11274552" cy="411480"/>
          </a:xfrm>
          <a:prstGeom prst="rect">
            <a:avLst/>
          </a:prstGeom>
          <a:noFill/>
          <a:ln/>
        </p:spPr>
        <p:txBody>
          <a:bodyPr wrap="square" lIns="0" tIns="0" rIns="0" bIns="0" rtlCol="0" anchor="ctr"/>
          <a:lstStyle/>
          <a:p>
            <a:pPr algn="ctr" indent="0" marL="0">
              <a:buNone/>
            </a:pPr>
            <a:r>
              <a:rPr lang="en-US" sz="1700" i="1" dirty="0">
                <a:solidFill>
                  <a:schemeClr val="tx1"/>
                </a:solidFill>
              </a:rPr>
              <a:t>Project Presentation</a:t>
            </a:r>
            <a:endParaRPr lang="en-US" sz="1700" dirty="0"/>
          </a:p>
        </p:txBody>
      </p:sp>
      <p:sp>
        <p:nvSpPr>
          <p:cNvPr id="5" name="subject"/>
          <p:cNvSpPr txBox="1"/>
          <p:nvPr/>
        </p:nvSpPr>
        <p:spPr>
          <a:xfrm>
            <a:off x="457200" y="4480560"/>
            <a:ext cx="11274552" cy="457200"/>
          </a:xfrm>
          <a:prstGeom prst="rect">
            <a:avLst/>
          </a:prstGeom>
          <a:noFill/>
          <a:ln/>
        </p:spPr>
        <p:txBody>
          <a:bodyPr wrap="square" lIns="0" tIns="0" rIns="0" bIns="0" rtlCol="0" anchor="ctr"/>
          <a:lstStyle/>
          <a:p>
            <a:pPr algn="ctr" indent="0" marL="0">
              <a:buNone/>
            </a:pPr>
            <a:r>
              <a:rPr lang="en-US" sz="2000" b="1" i="1" dirty="0">
                <a:solidFill>
                  <a:schemeClr val="tx2"/>
                </a:solidFill>
              </a:rPr>
              <a:t>Subject: MLOps and Applied AI</a:t>
            </a:r>
            <a:endParaRPr lang="en-US" sz="2000" dirty="0"/>
          </a:p>
        </p:txBody>
      </p:sp>
      <p:sp>
        <p:nvSpPr>
          <p:cNvPr id="6" name="submitted"/>
          <p:cNvSpPr txBox="1"/>
          <p:nvPr/>
        </p:nvSpPr>
        <p:spPr>
          <a:xfrm>
            <a:off x="868680" y="5120640"/>
            <a:ext cx="2743200" cy="320040"/>
          </a:xfrm>
          <a:prstGeom prst="rect">
            <a:avLst/>
          </a:prstGeom>
          <a:noFill/>
          <a:ln/>
        </p:spPr>
        <p:txBody>
          <a:bodyPr wrap="square" lIns="0" tIns="0" rIns="0" bIns="0" rtlCol="0" anchor="ctr"/>
          <a:lstStyle/>
          <a:p>
            <a:pPr indent="0" marL="0">
              <a:buNone/>
            </a:pPr>
            <a:r>
              <a:rPr lang="en-US" sz="1400" dirty="0">
                <a:solidFill>
                  <a:schemeClr val="tx1"/>
                </a:solidFill>
              </a:rPr>
              <a:t>Submitted By:</a:t>
            </a:r>
            <a:endParaRPr lang="en-US" sz="1400" dirty="0"/>
          </a:p>
        </p:txBody>
      </p:sp>
      <p:sp>
        <p:nvSpPr>
          <p:cNvPr id="7" name="author-1"/>
          <p:cNvSpPr txBox="1"/>
          <p:nvPr/>
        </p:nvSpPr>
        <p:spPr>
          <a:xfrm>
            <a:off x="868680" y="5440680"/>
            <a:ext cx="3108960" cy="640080"/>
          </a:xfrm>
          <a:prstGeom prst="rect">
            <a:avLst/>
          </a:prstGeom>
          <a:noFill/>
          <a:ln/>
        </p:spPr>
        <p:txBody>
          <a:bodyPr wrap="square" lIns="0" tIns="0" rIns="0" bIns="0" rtlCol="0" anchor="ctr"/>
          <a:lstStyle/>
          <a:p>
            <a:pPr indent="0" marL="0">
              <a:buNone/>
            </a:pPr>
            <a:r>
              <a:rPr lang="en-US" sz="1400" dirty="0">
                <a:solidFill>
                  <a:schemeClr val="tx1"/>
                </a:solidFill>
              </a:rPr>
              <a:t>Arav Saxena</a:t>
            </a:r>
            <a:endParaRPr lang="en-US" sz="1400" dirty="0"/>
          </a:p>
          <a:p>
            <a:pPr indent="0" marL="0">
              <a:buNone/>
            </a:pPr>
            <a:r>
              <a:rPr lang="en-US" sz="1400" dirty="0">
                <a:solidFill>
                  <a:schemeClr val="tx1"/>
                </a:solidFill>
              </a:rPr>
              <a:t>PRN: 23070126018</a:t>
            </a:r>
            <a:endParaRPr lang="en-US" sz="1400" dirty="0"/>
          </a:p>
        </p:txBody>
      </p:sp>
      <p:sp>
        <p:nvSpPr>
          <p:cNvPr id="8" name="author-2"/>
          <p:cNvSpPr txBox="1"/>
          <p:nvPr/>
        </p:nvSpPr>
        <p:spPr>
          <a:xfrm>
            <a:off x="4160520" y="5440680"/>
            <a:ext cx="3108960" cy="640080"/>
          </a:xfrm>
          <a:prstGeom prst="rect">
            <a:avLst/>
          </a:prstGeom>
          <a:noFill/>
          <a:ln/>
        </p:spPr>
        <p:txBody>
          <a:bodyPr wrap="square" lIns="0" tIns="0" rIns="0" bIns="0" rtlCol="0" anchor="ctr"/>
          <a:lstStyle/>
          <a:p>
            <a:pPr indent="0" marL="0">
              <a:buNone/>
            </a:pPr>
            <a:r>
              <a:rPr lang="en-US" sz="1400" dirty="0">
                <a:solidFill>
                  <a:schemeClr val="tx1"/>
                </a:solidFill>
              </a:rPr>
              <a:t>Mahi Laddha</a:t>
            </a:r>
            <a:endParaRPr lang="en-US" sz="1400" dirty="0"/>
          </a:p>
          <a:p>
            <a:pPr indent="0" marL="0">
              <a:buNone/>
            </a:pPr>
            <a:r>
              <a:rPr lang="en-US" sz="1400" dirty="0">
                <a:solidFill>
                  <a:schemeClr val="tx1"/>
                </a:solidFill>
              </a:rPr>
              <a:t>PRN: 230701260169</a:t>
            </a:r>
            <a:endParaRPr lang="en-US" sz="1400" dirty="0"/>
          </a:p>
        </p:txBody>
      </p:sp>
      <p:pic>
        <p:nvPicPr>
          <p:cNvPr id="9" name="treadops-logo" descr="TreadOps">    </p:cNvPr>
          <p:cNvPicPr>
            <a:picLocks noChangeAspect="1"/>
          </p:cNvPicPr>
          <p:nvPr/>
        </p:nvPicPr>
        <p:blipFill>
          <a:blip r:embed="rId2"/>
          <a:stretch>
            <a:fillRect/>
          </a:stretch>
        </p:blipFill>
        <p:spPr>
          <a:xfrm>
            <a:off x="8732520" y="5349240"/>
            <a:ext cx="2606040" cy="603504"/>
          </a:xfrm>
          <a:prstGeom prst="rect">
            <a:avLst/>
          </a:prstGeom>
        </p:spPr>
      </p:pic>
      <p:sp>
        <p:nvSpPr>
          <p:cNvPr id="10" name="branch"/>
          <p:cNvSpPr txBox="1"/>
          <p:nvPr/>
        </p:nvSpPr>
        <p:spPr>
          <a:xfrm>
            <a:off x="457200" y="6263640"/>
            <a:ext cx="11274552" cy="411480"/>
          </a:xfrm>
          <a:prstGeom prst="rect">
            <a:avLst/>
          </a:prstGeom>
          <a:noFill/>
          <a:ln/>
        </p:spPr>
        <p:txBody>
          <a:bodyPr wrap="square" lIns="0" tIns="0" rIns="0" bIns="0" rtlCol="0" anchor="ctr"/>
          <a:lstStyle/>
          <a:p>
            <a:pPr algn="ctr" indent="0" marL="0">
              <a:buNone/>
            </a:pPr>
            <a:r>
              <a:rPr lang="en-US" sz="1800" i="1" dirty="0">
                <a:solidFill>
                  <a:schemeClr val="tx1"/>
                </a:solidFill>
              </a:rPr>
              <a:t>Artificial Intelligence and Machine Learning</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body" hasCustomPrompt="1"/>
          </p:nvPr>
        </p:nvSpPr>
        <p:spPr>
          <a:xfrm>
            <a:off x="777240" y="384048"/>
            <a:ext cx="10058400" cy="365760"/>
          </a:xfrm>
          <a:prstGeom prst="rect">
            <a:avLst/>
          </a:prstGeom>
          <a:noFill/>
          <a:ln/>
        </p:spPr>
        <p:txBody>
          <a:bodyPr wrap="square" lIns="0" tIns="0" rIns="0" bIns="0" rtlCol="0" anchor="ctr"/>
          <a:lstStyle/>
          <a:p>
            <a:pPr indent="0" marL="0">
              <a:buNone/>
            </a:pPr>
            <a:r>
              <a:rPr lang="en-US" sz="1400" b="1" dirty="0">
                <a:solidFill>
                  <a:schemeClr val="accent1"/>
                </a:solidFill>
              </a:rPr>
              <a:t>PROBLEM &amp; OBJECTIVES</a:t>
            </a:r>
            <a:endParaRPr lang="en-US" sz="1400" dirty="0"/>
          </a:p>
        </p:txBody>
      </p:sp>
      <p:sp>
        <p:nvSpPr>
          <p:cNvPr id="3" name="Text 2"/>
          <p:cNvSpPr/>
          <p:nvPr>
            <p:ph idx="103" type="title" hasCustomPrompt="1"/>
          </p:nvPr>
        </p:nvSpPr>
        <p:spPr>
          <a:xfrm>
            <a:off x="777240" y="731520"/>
            <a:ext cx="11064240" cy="822960"/>
          </a:xfrm>
          <a:prstGeom prst="rect">
            <a:avLst/>
          </a:prstGeom>
          <a:noFill/>
          <a:ln/>
        </p:spPr>
        <p:txBody>
          <a:bodyPr wrap="square" lIns="0" tIns="0" rIns="0" bIns="0" rtlCol="0" anchor="ctr"/>
          <a:lstStyle/>
          <a:p>
            <a:pPr algn="l" indent="0" marL="0">
              <a:buNone/>
            </a:pPr>
            <a:r>
              <a:rPr lang="en-US" sz="3000" b="1" i="1" dirty="0">
                <a:solidFill>
                  <a:schemeClr val="tx2"/>
                </a:solidFill>
              </a:rPr>
              <a:t>Only sound casings can be retreaded</a:t>
            </a:r>
            <a:endParaRPr lang="en-US" sz="3000" dirty="0"/>
          </a:p>
        </p:txBody>
      </p:sp>
      <p:sp>
        <p:nvSpPr>
          <p:cNvPr id="5" name="stat-material-card"/>
          <p:cNvSpPr/>
          <p:nvPr/>
        </p:nvSpPr>
        <p:spPr>
          <a:xfrm>
            <a:off x="777240" y="1828800"/>
            <a:ext cx="3931920" cy="1280160"/>
          </a:xfrm>
          <a:prstGeom prst="rect">
            <a:avLst/>
          </a:prstGeom>
          <a:solidFill>
            <a:schemeClr val="bg1"/>
          </a:solidFill>
          <a:ln w="12700">
            <a:solidFill>
              <a:schemeClr val="bg2"/>
            </a:solidFill>
            <a:prstDash val="solid"/>
          </a:ln>
        </p:spPr>
      </p:sp>
      <p:sp>
        <p:nvSpPr>
          <p:cNvPr id="6" name="stat-material-bar"/>
          <p:cNvSpPr/>
          <p:nvPr/>
        </p:nvSpPr>
        <p:spPr>
          <a:xfrm>
            <a:off x="777240" y="1828800"/>
            <a:ext cx="109728" cy="1280160"/>
          </a:xfrm>
          <a:prstGeom prst="rect">
            <a:avLst/>
          </a:prstGeom>
          <a:solidFill>
            <a:schemeClr val="accent2"/>
          </a:solidFill>
          <a:ln w="12700">
            <a:solidFill>
              <a:schemeClr val="accent2"/>
            </a:solidFill>
            <a:prstDash val="solid"/>
          </a:ln>
        </p:spPr>
      </p:sp>
      <p:sp>
        <p:nvSpPr>
          <p:cNvPr id="7" name="stat-material-big"/>
          <p:cNvSpPr txBox="1"/>
          <p:nvPr/>
        </p:nvSpPr>
        <p:spPr>
          <a:xfrm>
            <a:off x="1069848" y="1920240"/>
            <a:ext cx="3520440" cy="704088"/>
          </a:xfrm>
          <a:prstGeom prst="rect">
            <a:avLst/>
          </a:prstGeom>
          <a:noFill/>
          <a:ln/>
        </p:spPr>
        <p:txBody>
          <a:bodyPr wrap="square" lIns="0" tIns="0" rIns="0" bIns="0" rtlCol="0" anchor="b"/>
          <a:lstStyle/>
          <a:p>
            <a:pPr indent="0" marL="0">
              <a:buNone/>
            </a:pPr>
            <a:r>
              <a:rPr lang="en-US" sz="4000" b="1" i="1" dirty="0">
                <a:solidFill>
                  <a:schemeClr val="tx2"/>
                </a:solidFill>
                <a:latin typeface="+mj-lt" pitchFamily="34" charset="0"/>
                <a:ea typeface="+mj-lt" pitchFamily="34" charset="-122"/>
                <a:cs typeface="+mj-lt" pitchFamily="34" charset="-120"/>
              </a:rPr>
              <a:t>50 kg</a:t>
            </a:r>
            <a:endParaRPr lang="en-US" sz="4000" dirty="0"/>
          </a:p>
        </p:txBody>
      </p:sp>
      <p:sp>
        <p:nvSpPr>
          <p:cNvPr id="8" name="stat-material-label"/>
          <p:cNvSpPr txBox="1"/>
          <p:nvPr/>
        </p:nvSpPr>
        <p:spPr>
          <a:xfrm>
            <a:off x="1069848" y="2622499"/>
            <a:ext cx="3520440" cy="435254"/>
          </a:xfrm>
          <a:prstGeom prst="rect">
            <a:avLst/>
          </a:prstGeom>
          <a:noFill/>
          <a:ln/>
        </p:spPr>
        <p:txBody>
          <a:bodyPr wrap="square" lIns="0" tIns="0" rIns="0" bIns="0" rtlCol="0" anchor="t"/>
          <a:lstStyle/>
          <a:p>
            <a:pPr indent="0" marL="0">
              <a:buNone/>
            </a:pPr>
            <a:r>
              <a:rPr lang="en-US" sz="1500" dirty="0">
                <a:solidFill>
                  <a:schemeClr val="accent4"/>
                </a:solidFill>
              </a:rPr>
              <a:t>raw material saved per retread</a:t>
            </a:r>
            <a:endParaRPr lang="en-US" sz="1500" dirty="0"/>
          </a:p>
        </p:txBody>
      </p:sp>
      <p:sp>
        <p:nvSpPr>
          <p:cNvPr id="9" name="stat-retreads-card"/>
          <p:cNvSpPr/>
          <p:nvPr/>
        </p:nvSpPr>
        <p:spPr>
          <a:xfrm>
            <a:off x="777240" y="3291840"/>
            <a:ext cx="3931920" cy="1280160"/>
          </a:xfrm>
          <a:prstGeom prst="rect">
            <a:avLst/>
          </a:prstGeom>
          <a:solidFill>
            <a:schemeClr val="bg1"/>
          </a:solidFill>
          <a:ln w="12700">
            <a:solidFill>
              <a:schemeClr val="bg2"/>
            </a:solidFill>
            <a:prstDash val="solid"/>
          </a:ln>
        </p:spPr>
      </p:sp>
      <p:sp>
        <p:nvSpPr>
          <p:cNvPr id="10" name="stat-retreads-bar"/>
          <p:cNvSpPr/>
          <p:nvPr/>
        </p:nvSpPr>
        <p:spPr>
          <a:xfrm>
            <a:off x="777240" y="3291840"/>
            <a:ext cx="109728" cy="1280160"/>
          </a:xfrm>
          <a:prstGeom prst="rect">
            <a:avLst/>
          </a:prstGeom>
          <a:solidFill>
            <a:schemeClr val="accent2"/>
          </a:solidFill>
          <a:ln w="12700">
            <a:solidFill>
              <a:schemeClr val="accent2"/>
            </a:solidFill>
            <a:prstDash val="solid"/>
          </a:ln>
        </p:spPr>
      </p:sp>
      <p:sp>
        <p:nvSpPr>
          <p:cNvPr id="11" name="stat-retreads-big"/>
          <p:cNvSpPr txBox="1"/>
          <p:nvPr/>
        </p:nvSpPr>
        <p:spPr>
          <a:xfrm>
            <a:off x="1069848" y="3383280"/>
            <a:ext cx="3520440" cy="704088"/>
          </a:xfrm>
          <a:prstGeom prst="rect">
            <a:avLst/>
          </a:prstGeom>
          <a:noFill/>
          <a:ln/>
        </p:spPr>
        <p:txBody>
          <a:bodyPr wrap="square" lIns="0" tIns="0" rIns="0" bIns="0" rtlCol="0" anchor="b"/>
          <a:lstStyle/>
          <a:p>
            <a:pPr indent="0" marL="0">
              <a:buNone/>
            </a:pPr>
            <a:r>
              <a:rPr lang="en-US" sz="4000" b="1" i="1" dirty="0">
                <a:solidFill>
                  <a:schemeClr val="tx2"/>
                </a:solidFill>
                <a:latin typeface="+mj-lt" pitchFamily="34" charset="0"/>
                <a:ea typeface="+mj-lt" pitchFamily="34" charset="-122"/>
                <a:cs typeface="+mj-lt" pitchFamily="34" charset="-120"/>
              </a:rPr>
              <a:t>2×</a:t>
            </a:r>
            <a:endParaRPr lang="en-US" sz="4000" dirty="0"/>
          </a:p>
        </p:txBody>
      </p:sp>
      <p:sp>
        <p:nvSpPr>
          <p:cNvPr id="12" name="stat-retreads-label"/>
          <p:cNvSpPr txBox="1"/>
          <p:nvPr/>
        </p:nvSpPr>
        <p:spPr>
          <a:xfrm>
            <a:off x="1069848" y="4085539"/>
            <a:ext cx="3520440" cy="435254"/>
          </a:xfrm>
          <a:prstGeom prst="rect">
            <a:avLst/>
          </a:prstGeom>
          <a:noFill/>
          <a:ln/>
        </p:spPr>
        <p:txBody>
          <a:bodyPr wrap="square" lIns="0" tIns="0" rIns="0" bIns="0" rtlCol="0" anchor="t"/>
          <a:lstStyle/>
          <a:p>
            <a:pPr indent="0" marL="0">
              <a:buNone/>
            </a:pPr>
            <a:r>
              <a:rPr lang="en-US" sz="1500" dirty="0">
                <a:solidFill>
                  <a:schemeClr val="accent4"/>
                </a:solidFill>
              </a:rPr>
              <a:t>retreads per casing (MICHELIN Remix)</a:t>
            </a:r>
            <a:endParaRPr lang="en-US" sz="1500" dirty="0"/>
          </a:p>
        </p:txBody>
      </p:sp>
      <p:sp>
        <p:nvSpPr>
          <p:cNvPr id="13" name="stat-co2-card"/>
          <p:cNvSpPr/>
          <p:nvPr/>
        </p:nvSpPr>
        <p:spPr>
          <a:xfrm>
            <a:off x="777240" y="4754880"/>
            <a:ext cx="3931920" cy="1280160"/>
          </a:xfrm>
          <a:prstGeom prst="rect">
            <a:avLst/>
          </a:prstGeom>
          <a:solidFill>
            <a:schemeClr val="bg1"/>
          </a:solidFill>
          <a:ln w="12700">
            <a:solidFill>
              <a:schemeClr val="bg2"/>
            </a:solidFill>
            <a:prstDash val="solid"/>
          </a:ln>
        </p:spPr>
      </p:sp>
      <p:sp>
        <p:nvSpPr>
          <p:cNvPr id="14" name="stat-co2-bar"/>
          <p:cNvSpPr/>
          <p:nvPr/>
        </p:nvSpPr>
        <p:spPr>
          <a:xfrm>
            <a:off x="777240" y="4754880"/>
            <a:ext cx="109728" cy="1280160"/>
          </a:xfrm>
          <a:prstGeom prst="rect">
            <a:avLst/>
          </a:prstGeom>
          <a:solidFill>
            <a:schemeClr val="accent2"/>
          </a:solidFill>
          <a:ln w="12700">
            <a:solidFill>
              <a:schemeClr val="accent2"/>
            </a:solidFill>
            <a:prstDash val="solid"/>
          </a:ln>
        </p:spPr>
      </p:sp>
      <p:sp>
        <p:nvSpPr>
          <p:cNvPr id="15" name="stat-co2-big"/>
          <p:cNvSpPr txBox="1"/>
          <p:nvPr/>
        </p:nvSpPr>
        <p:spPr>
          <a:xfrm>
            <a:off x="1069848" y="4846320"/>
            <a:ext cx="3520440" cy="704088"/>
          </a:xfrm>
          <a:prstGeom prst="rect">
            <a:avLst/>
          </a:prstGeom>
          <a:noFill/>
          <a:ln/>
        </p:spPr>
        <p:txBody>
          <a:bodyPr wrap="square" lIns="0" tIns="0" rIns="0" bIns="0" rtlCol="0" anchor="b"/>
          <a:lstStyle/>
          <a:p>
            <a:pPr indent="0" marL="0">
              <a:buNone/>
            </a:pPr>
            <a:r>
              <a:rPr lang="en-US" sz="4000" b="1" i="1" dirty="0">
                <a:solidFill>
                  <a:schemeClr val="tx2"/>
                </a:solidFill>
                <a:latin typeface="+mj-lt" pitchFamily="34" charset="0"/>
                <a:ea typeface="+mj-lt" pitchFamily="34" charset="-122"/>
                <a:cs typeface="+mj-lt" pitchFamily="34" charset="-120"/>
              </a:rPr>
              <a:t>115 kg</a:t>
            </a:r>
            <a:endParaRPr lang="en-US" sz="4000" dirty="0"/>
          </a:p>
        </p:txBody>
      </p:sp>
      <p:sp>
        <p:nvSpPr>
          <p:cNvPr id="16" name="stat-co2-label"/>
          <p:cNvSpPr txBox="1"/>
          <p:nvPr/>
        </p:nvSpPr>
        <p:spPr>
          <a:xfrm>
            <a:off x="1069848" y="5548579"/>
            <a:ext cx="3520440" cy="435254"/>
          </a:xfrm>
          <a:prstGeom prst="rect">
            <a:avLst/>
          </a:prstGeom>
          <a:noFill/>
          <a:ln/>
        </p:spPr>
        <p:txBody>
          <a:bodyPr wrap="square" lIns="0" tIns="0" rIns="0" bIns="0" rtlCol="0" anchor="t"/>
          <a:lstStyle/>
          <a:p>
            <a:pPr indent="0" marL="0">
              <a:buNone/>
            </a:pPr>
            <a:r>
              <a:rPr lang="en-US" sz="1500" dirty="0">
                <a:solidFill>
                  <a:schemeClr val="accent4"/>
                </a:solidFill>
              </a:rPr>
              <a:t>CO₂e avoided per verified retread</a:t>
            </a:r>
            <a:endParaRPr lang="en-US" sz="1500" dirty="0"/>
          </a:p>
        </p:txBody>
      </p:sp>
      <p:sp>
        <p:nvSpPr>
          <p:cNvPr id="17" name="objectives"/>
          <p:cNvSpPr txBox="1"/>
          <p:nvPr/>
        </p:nvSpPr>
        <p:spPr>
          <a:xfrm>
            <a:off x="5303520" y="1965960"/>
            <a:ext cx="6400800" cy="3840480"/>
          </a:xfrm>
          <a:prstGeom prst="rect">
            <a:avLst/>
          </a:prstGeom>
          <a:noFill/>
          <a:ln/>
        </p:spPr>
        <p:txBody>
          <a:bodyPr wrap="square" lIns="508" tIns="508" rIns="508" bIns="508" rtlCol="0" anchor="t"/>
          <a:lstStyle/>
          <a:p>
            <a:pPr marL="342900" indent="-342900">
              <a:spcAft>
                <a:spcPts val="1000"/>
              </a:spcAft>
              <a:buSzPct val="100000"/>
              <a:buChar char="■"/>
            </a:pPr>
            <a:r>
              <a:rPr lang="en-US" sz="2400" dirty="0">
                <a:solidFill>
                  <a:schemeClr val="tx1"/>
                </a:solidFill>
              </a:rPr>
              <a:t>Flag damaged casings from a photo, video or line camera</a:t>
            </a:r>
            <a:endParaRPr lang="en-US" sz="2400" dirty="0"/>
          </a:p>
          <a:p>
            <a:pPr marL="342900" indent="-342900">
              <a:spcAft>
                <a:spcPts val="1000"/>
              </a:spcAft>
              <a:buSzPct val="100000"/>
              <a:buChar char="■"/>
            </a:pPr>
            <a:r>
              <a:rPr lang="en-US" sz="2400" dirty="0">
                <a:solidFill>
                  <a:schemeClr val="tx1"/>
                </a:solidFill>
              </a:rPr>
              <a:t>Never auto-clear a doubtful tyre</a:t>
            </a:r>
            <a:endParaRPr lang="en-US" sz="2400" dirty="0"/>
          </a:p>
          <a:p>
            <a:pPr marL="342900" indent="-342900">
              <a:spcAft>
                <a:spcPts val="1000"/>
              </a:spcAft>
              <a:buSzPct val="100000"/>
              <a:buChar char="■"/>
            </a:pPr>
            <a:r>
              <a:rPr lang="en-US" sz="2400" dirty="0">
                <a:solidFill>
                  <a:schemeClr val="tx1"/>
                </a:solidFill>
              </a:rPr>
              <a:t>Trace every decision to its data and model</a:t>
            </a:r>
            <a:endParaRPr lang="en-US" sz="2400" dirty="0"/>
          </a:p>
          <a:p>
            <a:pPr marL="342900" indent="-342900">
              <a:spcAft>
                <a:spcPts val="1000"/>
              </a:spcAft>
              <a:buSzPct val="100000"/>
              <a:buChar char="■"/>
            </a:pPr>
            <a:r>
              <a:rPr lang="en-US" sz="2400" dirty="0">
                <a:solidFill>
                  <a:schemeClr val="tx1"/>
                </a:solidFill>
              </a:rPr>
              <a:t>Explain each result through a guarded copilot</a:t>
            </a:r>
            <a:endParaRPr lang="en-US" sz="2400" dirty="0"/>
          </a:p>
        </p:txBody>
      </p:sp>
      <p:sp>
        <p:nvSpPr>
          <p:cNvPr id="18" name="source"/>
          <p:cNvSpPr txBox="1"/>
          <p:nvPr/>
        </p:nvSpPr>
        <p:spPr>
          <a:xfrm>
            <a:off x="5303520" y="5806440"/>
            <a:ext cx="6400800" cy="274320"/>
          </a:xfrm>
          <a:prstGeom prst="rect">
            <a:avLst/>
          </a:prstGeom>
          <a:noFill/>
          <a:ln/>
        </p:spPr>
        <p:txBody>
          <a:bodyPr wrap="square" lIns="0" tIns="0" rIns="0" bIns="0" rtlCol="0" anchor="ctr"/>
          <a:lstStyle/>
          <a:p>
            <a:pPr indent="0" marL="0">
              <a:buNone/>
            </a:pPr>
            <a:r>
              <a:rPr lang="en-US" sz="1100" dirty="0">
                <a:solidFill>
                  <a:schemeClr val="accent4"/>
                </a:solidFill>
              </a:rPr>
              <a:t>Source: Michelin UK retreading page. 115 kg = 50 kg × 2.3 kg CO₂e/kg (estimate)</a:t>
            </a:r>
            <a:endParaRPr lang="en-US" sz="1100" dirty="0"/>
          </a:p>
        </p:txBody>
      </p:sp>
      <p:sp>
        <p:nvSpPr>
          <p:cNvPr id="25" name="Slide Number Placeholder 0"/>
          <p:cNvSpPr>
            <a:spLocks noGrp="1"/>
          </p:cNvSpPr>
          <p:nvPr>
            <p:ph type="sldNum" sz="quarter" idx="4294967295"/>
          </p:nvPr>
        </p:nvSpPr>
        <p:spPr>
          <a:xfrm>
            <a:off x="10972800" y="6400800"/>
            <a:ext cx="310896"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100">
                <a:solidFill>
                  <a:schemeClr val="accent4"/>
                </a:solidFill>
                <a:latin typeface="+mn-lt"/>
                <a:ea typeface="+mn-lt"/>
                <a:cs typeface="+mn-lt"/>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body" hasCustomPrompt="1"/>
          </p:nvPr>
        </p:nvSpPr>
        <p:spPr>
          <a:xfrm>
            <a:off x="777240" y="384048"/>
            <a:ext cx="10058400" cy="365760"/>
          </a:xfrm>
          <a:prstGeom prst="rect">
            <a:avLst/>
          </a:prstGeom>
          <a:noFill/>
          <a:ln/>
        </p:spPr>
        <p:txBody>
          <a:bodyPr wrap="square" lIns="0" tIns="0" rIns="0" bIns="0" rtlCol="0" anchor="ctr"/>
          <a:lstStyle/>
          <a:p>
            <a:pPr indent="0" marL="0">
              <a:buNone/>
            </a:pPr>
            <a:r>
              <a:rPr lang="en-US" sz="1400" b="1" dirty="0">
                <a:solidFill>
                  <a:schemeClr val="accent1"/>
                </a:solidFill>
              </a:rPr>
              <a:t>TYRE ANATOMY</a:t>
            </a:r>
            <a:endParaRPr lang="en-US" sz="1400" dirty="0"/>
          </a:p>
        </p:txBody>
      </p:sp>
      <p:sp>
        <p:nvSpPr>
          <p:cNvPr id="3" name="Text 2"/>
          <p:cNvSpPr/>
          <p:nvPr>
            <p:ph idx="103" type="title" hasCustomPrompt="1"/>
          </p:nvPr>
        </p:nvSpPr>
        <p:spPr>
          <a:xfrm>
            <a:off x="777240" y="731520"/>
            <a:ext cx="11064240" cy="822960"/>
          </a:xfrm>
          <a:prstGeom prst="rect">
            <a:avLst/>
          </a:prstGeom>
          <a:noFill/>
          <a:ln/>
        </p:spPr>
        <p:txBody>
          <a:bodyPr wrap="square" lIns="0" tIns="0" rIns="0" bIns="0" rtlCol="0" anchor="ctr"/>
          <a:lstStyle/>
          <a:p>
            <a:pPr algn="l" indent="0" marL="0">
              <a:buNone/>
            </a:pPr>
            <a:r>
              <a:rPr lang="en-US" sz="3000" b="1" i="1" dirty="0">
                <a:solidFill>
                  <a:schemeClr val="tx2"/>
                </a:solidFill>
              </a:rPr>
              <a:t>Retreading replaces the tread and saves the casing</a:t>
            </a:r>
            <a:endParaRPr lang="en-US" sz="3000" dirty="0"/>
          </a:p>
        </p:txBody>
      </p:sp>
      <p:pic>
        <p:nvPicPr>
          <p:cNvPr id="5" name="anatomy-diagram" descr="Tyre cross-section: tread with grooves on top, steel belts beneath it, the casing ply running bead to bead, inner liner inside, sidewalls and beads on a rim">    </p:cNvPr>
          <p:cNvPicPr>
            <a:picLocks noChangeAspect="1"/>
          </p:cNvPicPr>
          <p:nvPr/>
        </p:nvPicPr>
        <p:blipFill>
          <a:blip r:embed="rId1"/>
          <a:stretch>
            <a:fillRect/>
          </a:stretch>
        </p:blipFill>
        <p:spPr>
          <a:xfrm>
            <a:off x="777240" y="1874520"/>
            <a:ext cx="6492240" cy="3886200"/>
          </a:xfrm>
          <a:prstGeom prst="rect">
            <a:avLst/>
          </a:prstGeom>
        </p:spPr>
      </p:pic>
      <p:sp>
        <p:nvSpPr>
          <p:cNvPr id="6" name="zone-0-card"/>
          <p:cNvSpPr/>
          <p:nvPr/>
        </p:nvSpPr>
        <p:spPr>
          <a:xfrm>
            <a:off x="7452360" y="1783080"/>
            <a:ext cx="4389120" cy="1965960"/>
          </a:xfrm>
          <a:prstGeom prst="rect">
            <a:avLst/>
          </a:prstGeom>
          <a:solidFill>
            <a:schemeClr val="bg1"/>
          </a:solidFill>
          <a:ln w="12700">
            <a:solidFill>
              <a:schemeClr val="bg2"/>
            </a:solidFill>
            <a:prstDash val="solid"/>
          </a:ln>
        </p:spPr>
      </p:sp>
      <p:pic>
        <p:nvPicPr>
          <p:cNvPr id="7" name="zone-0-photo" descr="Close-up of a new tyre tread pattern">    </p:cNvPr>
          <p:cNvPicPr>
            <a:picLocks noChangeAspect="1"/>
          </p:cNvPicPr>
          <p:nvPr/>
        </p:nvPicPr>
        <p:blipFill>
          <a:blip r:embed="rId2"/>
          <a:stretch>
            <a:fillRect/>
          </a:stretch>
        </p:blipFill>
        <p:spPr>
          <a:xfrm>
            <a:off x="7452360" y="1783080"/>
            <a:ext cx="1965960" cy="1965960"/>
          </a:xfrm>
          <a:prstGeom prst="rect">
            <a:avLst/>
          </a:prstGeom>
        </p:spPr>
      </p:pic>
      <p:sp>
        <p:nvSpPr>
          <p:cNvPr id="8" name="zone-0-chip"/>
          <p:cNvSpPr/>
          <p:nvPr/>
        </p:nvSpPr>
        <p:spPr>
          <a:xfrm>
            <a:off x="9601200" y="1984248"/>
            <a:ext cx="1143000" cy="310896"/>
          </a:xfrm>
          <a:prstGeom prst="roundRect">
            <a:avLst>
              <a:gd name="adj" fmla="val 50000"/>
            </a:avLst>
          </a:prstGeom>
          <a:solidFill>
            <a:schemeClr val="accent2"/>
          </a:solidFill>
          <a:ln w="12700">
            <a:solidFill>
              <a:schemeClr val="accent2"/>
            </a:solidFill>
            <a:prstDash val="solid"/>
          </a:ln>
        </p:spPr>
      </p:sp>
      <p:sp>
        <p:nvSpPr>
          <p:cNvPr id="9" name="zone-0-chip-text"/>
          <p:cNvSpPr txBox="1"/>
          <p:nvPr/>
        </p:nvSpPr>
        <p:spPr>
          <a:xfrm>
            <a:off x="9601200" y="1984248"/>
            <a:ext cx="1143000" cy="310896"/>
          </a:xfrm>
          <a:prstGeom prst="rect">
            <a:avLst/>
          </a:prstGeom>
          <a:noFill/>
          <a:ln/>
        </p:spPr>
        <p:txBody>
          <a:bodyPr wrap="square" lIns="0" tIns="0" rIns="0" bIns="0" rtlCol="0" anchor="ctr"/>
          <a:lstStyle/>
          <a:p>
            <a:pPr algn="ctr" indent="0" marL="0">
              <a:buNone/>
            </a:pPr>
            <a:r>
              <a:rPr lang="en-US" sz="1200" b="1" i="1" dirty="0">
                <a:solidFill>
                  <a:schemeClr val="tx2"/>
                </a:solidFill>
                <a:latin typeface="+mj-lt" pitchFamily="34" charset="0"/>
                <a:ea typeface="+mj-lt" pitchFamily="34" charset="-122"/>
                <a:cs typeface="+mj-lt" pitchFamily="34" charset="-120"/>
              </a:rPr>
              <a:t>TREAD</a:t>
            </a:r>
            <a:endParaRPr lang="en-US" sz="1200" dirty="0"/>
          </a:p>
        </p:txBody>
      </p:sp>
      <p:sp>
        <p:nvSpPr>
          <p:cNvPr id="10" name="zone-0-head"/>
          <p:cNvSpPr txBox="1"/>
          <p:nvPr/>
        </p:nvSpPr>
        <p:spPr>
          <a:xfrm>
            <a:off x="9601200" y="2386584"/>
            <a:ext cx="2103120" cy="548640"/>
          </a:xfrm>
          <a:prstGeom prst="rect">
            <a:avLst/>
          </a:prstGeom>
          <a:noFill/>
          <a:ln/>
        </p:spPr>
        <p:txBody>
          <a:bodyPr wrap="square" lIns="0" tIns="0" rIns="0" bIns="0" rtlCol="0" anchor="t"/>
          <a:lstStyle/>
          <a:p>
            <a:pPr indent="0" marL="0">
              <a:buNone/>
            </a:pPr>
            <a:r>
              <a:rPr lang="en-US" sz="1500" b="1" dirty="0">
                <a:solidFill>
                  <a:schemeClr val="tx2"/>
                </a:solidFill>
              </a:rPr>
              <a:t>The road surface</a:t>
            </a:r>
            <a:endParaRPr lang="en-US" sz="1500" dirty="0"/>
          </a:p>
        </p:txBody>
      </p:sp>
      <p:sp>
        <p:nvSpPr>
          <p:cNvPr id="11" name="zone-0-body"/>
          <p:cNvSpPr txBox="1"/>
          <p:nvPr/>
        </p:nvSpPr>
        <p:spPr>
          <a:xfrm>
            <a:off x="9601200" y="2916936"/>
            <a:ext cx="2121408" cy="777240"/>
          </a:xfrm>
          <a:prstGeom prst="rect">
            <a:avLst/>
          </a:prstGeom>
          <a:noFill/>
          <a:ln/>
        </p:spPr>
        <p:txBody>
          <a:bodyPr wrap="square" lIns="0" tIns="0" rIns="0" bIns="0" rtlCol="0" anchor="t"/>
          <a:lstStyle/>
          <a:p>
            <a:pPr indent="0" marL="0">
              <a:buNone/>
            </a:pPr>
            <a:r>
              <a:rPr lang="en-US" sz="1200" dirty="0">
                <a:solidFill>
                  <a:schemeClr val="accent4"/>
                </a:solidFill>
              </a:rPr>
              <a:t>Wears down with use. Retreading grinds it off and bonds on a new one.</a:t>
            </a:r>
            <a:endParaRPr lang="en-US" sz="1200" dirty="0"/>
          </a:p>
        </p:txBody>
      </p:sp>
      <p:sp>
        <p:nvSpPr>
          <p:cNvPr id="12" name="zone-1-card"/>
          <p:cNvSpPr/>
          <p:nvPr/>
        </p:nvSpPr>
        <p:spPr>
          <a:xfrm>
            <a:off x="7452360" y="3913632"/>
            <a:ext cx="4389120" cy="1965960"/>
          </a:xfrm>
          <a:prstGeom prst="rect">
            <a:avLst/>
          </a:prstGeom>
          <a:solidFill>
            <a:schemeClr val="bg1"/>
          </a:solidFill>
          <a:ln w="12700">
            <a:solidFill>
              <a:schemeClr val="bg2"/>
            </a:solidFill>
            <a:prstDash val="solid"/>
          </a:ln>
        </p:spPr>
      </p:sp>
      <p:pic>
        <p:nvPicPr>
          <p:cNvPr id="13" name="zone-1-photo" descr="Close-up of a sound tyre sidewall">    </p:cNvPr>
          <p:cNvPicPr>
            <a:picLocks noChangeAspect="1"/>
          </p:cNvPicPr>
          <p:nvPr/>
        </p:nvPicPr>
        <p:blipFill>
          <a:blip r:embed="rId3"/>
          <a:stretch>
            <a:fillRect/>
          </a:stretch>
        </p:blipFill>
        <p:spPr>
          <a:xfrm>
            <a:off x="7452360" y="3913632"/>
            <a:ext cx="1965960" cy="1965960"/>
          </a:xfrm>
          <a:prstGeom prst="rect">
            <a:avLst/>
          </a:prstGeom>
        </p:spPr>
      </p:pic>
      <p:sp>
        <p:nvSpPr>
          <p:cNvPr id="14" name="zone-1-chip"/>
          <p:cNvSpPr/>
          <p:nvPr/>
        </p:nvSpPr>
        <p:spPr>
          <a:xfrm>
            <a:off x="9601200" y="4114800"/>
            <a:ext cx="1143000" cy="310896"/>
          </a:xfrm>
          <a:prstGeom prst="roundRect">
            <a:avLst>
              <a:gd name="adj" fmla="val 50000"/>
            </a:avLst>
          </a:prstGeom>
          <a:solidFill>
            <a:schemeClr val="tx2"/>
          </a:solidFill>
          <a:ln w="12700">
            <a:solidFill>
              <a:schemeClr val="tx2"/>
            </a:solidFill>
            <a:prstDash val="solid"/>
          </a:ln>
        </p:spPr>
      </p:sp>
      <p:sp>
        <p:nvSpPr>
          <p:cNvPr id="15" name="zone-1-chip-text"/>
          <p:cNvSpPr txBox="1"/>
          <p:nvPr/>
        </p:nvSpPr>
        <p:spPr>
          <a:xfrm>
            <a:off x="9601200" y="4114800"/>
            <a:ext cx="1143000" cy="310896"/>
          </a:xfrm>
          <a:prstGeom prst="rect">
            <a:avLst/>
          </a:prstGeom>
          <a:noFill/>
          <a:ln/>
        </p:spPr>
        <p:txBody>
          <a:bodyPr wrap="square" lIns="0" tIns="0" rIns="0" bIns="0" rtlCol="0" anchor="ctr"/>
          <a:lstStyle/>
          <a:p>
            <a:pPr algn="ctr" indent="0" marL="0">
              <a:buNone/>
            </a:pPr>
            <a:r>
              <a:rPr lang="en-US" sz="1200" b="1" i="1" dirty="0">
                <a:solidFill>
                  <a:schemeClr val="accent2"/>
                </a:solidFill>
                <a:latin typeface="+mj-lt" pitchFamily="34" charset="0"/>
                <a:ea typeface="+mj-lt" pitchFamily="34" charset="-122"/>
                <a:cs typeface="+mj-lt" pitchFamily="34" charset="-120"/>
              </a:rPr>
              <a:t>CASING</a:t>
            </a:r>
            <a:endParaRPr lang="en-US" sz="1200" dirty="0"/>
          </a:p>
        </p:txBody>
      </p:sp>
      <p:sp>
        <p:nvSpPr>
          <p:cNvPr id="16" name="zone-1-head"/>
          <p:cNvSpPr txBox="1"/>
          <p:nvPr/>
        </p:nvSpPr>
        <p:spPr>
          <a:xfrm>
            <a:off x="9601200" y="4517136"/>
            <a:ext cx="2103120" cy="548640"/>
          </a:xfrm>
          <a:prstGeom prst="rect">
            <a:avLst/>
          </a:prstGeom>
          <a:noFill/>
          <a:ln/>
        </p:spPr>
        <p:txBody>
          <a:bodyPr wrap="square" lIns="0" tIns="0" rIns="0" bIns="0" rtlCol="0" anchor="t"/>
          <a:lstStyle/>
          <a:p>
            <a:pPr indent="0" marL="0">
              <a:buNone/>
            </a:pPr>
            <a:r>
              <a:rPr lang="en-US" sz="1500" b="1" dirty="0">
                <a:solidFill>
                  <a:schemeClr val="tx2"/>
                </a:solidFill>
              </a:rPr>
              <a:t>Belts, plies, sidewalls, beads</a:t>
            </a:r>
            <a:endParaRPr lang="en-US" sz="1500" dirty="0"/>
          </a:p>
        </p:txBody>
      </p:sp>
      <p:sp>
        <p:nvSpPr>
          <p:cNvPr id="17" name="zone-1-body"/>
          <p:cNvSpPr txBox="1"/>
          <p:nvPr/>
        </p:nvSpPr>
        <p:spPr>
          <a:xfrm>
            <a:off x="9601200" y="5047488"/>
            <a:ext cx="2121408" cy="777240"/>
          </a:xfrm>
          <a:prstGeom prst="rect">
            <a:avLst/>
          </a:prstGeom>
          <a:noFill/>
          <a:ln/>
        </p:spPr>
        <p:txBody>
          <a:bodyPr wrap="square" lIns="0" tIns="0" rIns="0" bIns="0" rtlCol="0" anchor="t"/>
          <a:lstStyle/>
          <a:p>
            <a:pPr indent="0" marL="0">
              <a:buNone/>
            </a:pPr>
            <a:r>
              <a:rPr lang="en-US" sz="1200" dirty="0">
                <a:solidFill>
                  <a:schemeClr val="accent4"/>
                </a:solidFill>
              </a:rPr>
              <a:t>Reused two or three times, so it must have no cuts, bulges or deep cracks.</a:t>
            </a:r>
            <a:endParaRPr lang="en-US" sz="1200" dirty="0"/>
          </a:p>
        </p:txBody>
      </p:sp>
      <p:sp>
        <p:nvSpPr>
          <p:cNvPr id="18" name="anatomy-credit"/>
          <p:cNvSpPr txBox="1"/>
          <p:nvPr/>
        </p:nvSpPr>
        <p:spPr>
          <a:xfrm>
            <a:off x="7452360" y="5989320"/>
            <a:ext cx="4389120" cy="274320"/>
          </a:xfrm>
          <a:prstGeom prst="rect">
            <a:avLst/>
          </a:prstGeom>
          <a:noFill/>
          <a:ln/>
        </p:spPr>
        <p:txBody>
          <a:bodyPr wrap="square" lIns="0" tIns="0" rIns="0" bIns="0" rtlCol="0" anchor="ctr"/>
          <a:lstStyle/>
          <a:p>
            <a:pPr indent="0" marL="0">
              <a:buNone/>
            </a:pPr>
            <a:r>
              <a:rPr lang="en-US" sz="1000" dirty="0">
                <a:solidFill>
                  <a:schemeClr val="accent4"/>
                </a:solidFill>
              </a:rPr>
              <a:t>Photos: TyreNet (CC BY 4.0), MSU tire sidewalls (CC0). Diagram: TreadOps.</a:t>
            </a:r>
            <a:endParaRPr lang="en-US" sz="1000" dirty="0"/>
          </a:p>
        </p:txBody>
      </p:sp>
      <p:sp>
        <p:nvSpPr>
          <p:cNvPr id="25" name="Slide Number Placeholder 0"/>
          <p:cNvSpPr>
            <a:spLocks noGrp="1"/>
          </p:cNvSpPr>
          <p:nvPr>
            <p:ph type="sldNum" sz="quarter" idx="4294967295"/>
          </p:nvPr>
        </p:nvSpPr>
        <p:spPr>
          <a:xfrm>
            <a:off x="10972800" y="6400800"/>
            <a:ext cx="310896"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100">
                <a:solidFill>
                  <a:schemeClr val="accent4"/>
                </a:solidFill>
                <a:latin typeface="+mn-lt"/>
                <a:ea typeface="+mn-lt"/>
                <a:cs typeface="+mn-lt"/>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body" hasCustomPrompt="1"/>
          </p:nvPr>
        </p:nvSpPr>
        <p:spPr>
          <a:xfrm>
            <a:off x="777240" y="384048"/>
            <a:ext cx="10058400" cy="365760"/>
          </a:xfrm>
          <a:prstGeom prst="rect">
            <a:avLst/>
          </a:prstGeom>
          <a:noFill/>
          <a:ln/>
        </p:spPr>
        <p:txBody>
          <a:bodyPr wrap="square" lIns="0" tIns="0" rIns="0" bIns="0" rtlCol="0" anchor="ctr"/>
          <a:lstStyle/>
          <a:p>
            <a:pPr indent="0" marL="0">
              <a:buNone/>
            </a:pPr>
            <a:r>
              <a:rPr lang="en-US" sz="1400" b="1" dirty="0">
                <a:solidFill>
                  <a:schemeClr val="accent1"/>
                </a:solidFill>
              </a:rPr>
              <a:t>WHERE DAMAGE LIVES</a:t>
            </a:r>
            <a:endParaRPr lang="en-US" sz="1400" dirty="0"/>
          </a:p>
        </p:txBody>
      </p:sp>
      <p:sp>
        <p:nvSpPr>
          <p:cNvPr id="3" name="Text 2"/>
          <p:cNvSpPr/>
          <p:nvPr>
            <p:ph idx="103" type="title" hasCustomPrompt="1"/>
          </p:nvPr>
        </p:nvSpPr>
        <p:spPr>
          <a:xfrm>
            <a:off x="777240" y="731520"/>
            <a:ext cx="11064240" cy="822960"/>
          </a:xfrm>
          <a:prstGeom prst="rect">
            <a:avLst/>
          </a:prstGeom>
          <a:noFill/>
          <a:ln/>
        </p:spPr>
        <p:txBody>
          <a:bodyPr wrap="square" lIns="0" tIns="0" rIns="0" bIns="0" rtlCol="0" anchor="ctr"/>
          <a:lstStyle/>
          <a:p>
            <a:pPr algn="l" indent="0" marL="0">
              <a:buNone/>
            </a:pPr>
            <a:r>
              <a:rPr lang="en-US" sz="3000" b="1" i="1" dirty="0">
                <a:solidFill>
                  <a:schemeClr val="tx2"/>
                </a:solidFill>
              </a:rPr>
              <a:t>Worn tread is normal; casing damage is the risk</a:t>
            </a:r>
            <a:endParaRPr lang="en-US" sz="3000" dirty="0"/>
          </a:p>
        </p:txBody>
      </p:sp>
      <p:sp>
        <p:nvSpPr>
          <p:cNvPr id="5" name="dmg-0-card"/>
          <p:cNvSpPr/>
          <p:nvPr/>
        </p:nvSpPr>
        <p:spPr>
          <a:xfrm>
            <a:off x="777240" y="1737360"/>
            <a:ext cx="3520440" cy="2057400"/>
          </a:xfrm>
          <a:prstGeom prst="rect">
            <a:avLst/>
          </a:prstGeom>
          <a:solidFill>
            <a:schemeClr val="bg1"/>
          </a:solidFill>
          <a:ln w="12700">
            <a:solidFill>
              <a:schemeClr val="bg2"/>
            </a:solidFill>
            <a:prstDash val="solid"/>
          </a:ln>
        </p:spPr>
      </p:sp>
      <p:pic>
        <p:nvPicPr>
          <p:cNvPr id="6" name="dmg-0-photo" descr="Worn tread: Normal wear: why it is retreaded">    </p:cNvPr>
          <p:cNvPicPr>
            <a:picLocks noChangeAspect="1"/>
          </p:cNvPicPr>
          <p:nvPr/>
        </p:nvPicPr>
        <p:blipFill>
          <a:blip r:embed="rId1"/>
          <a:stretch>
            <a:fillRect/>
          </a:stretch>
        </p:blipFill>
        <p:spPr>
          <a:xfrm>
            <a:off x="777240" y="1737360"/>
            <a:ext cx="2057400" cy="2057400"/>
          </a:xfrm>
          <a:prstGeom prst="rect">
            <a:avLst/>
          </a:prstGeom>
        </p:spPr>
      </p:pic>
      <p:sp>
        <p:nvSpPr>
          <p:cNvPr id="7" name="dmg-0-chip"/>
          <p:cNvSpPr/>
          <p:nvPr/>
        </p:nvSpPr>
        <p:spPr>
          <a:xfrm>
            <a:off x="2971800" y="1901952"/>
            <a:ext cx="1005840" cy="310896"/>
          </a:xfrm>
          <a:prstGeom prst="roundRect">
            <a:avLst>
              <a:gd name="adj" fmla="val 50000"/>
            </a:avLst>
          </a:prstGeom>
          <a:solidFill>
            <a:schemeClr val="accent2"/>
          </a:solidFill>
          <a:ln w="12700">
            <a:solidFill>
              <a:schemeClr val="accent2"/>
            </a:solidFill>
            <a:prstDash val="solid"/>
          </a:ln>
        </p:spPr>
      </p:sp>
      <p:sp>
        <p:nvSpPr>
          <p:cNvPr id="8" name="dmg-0-chip-text"/>
          <p:cNvSpPr txBox="1"/>
          <p:nvPr/>
        </p:nvSpPr>
        <p:spPr>
          <a:xfrm>
            <a:off x="2971800" y="1901952"/>
            <a:ext cx="1005840" cy="310896"/>
          </a:xfrm>
          <a:prstGeom prst="rect">
            <a:avLst/>
          </a:prstGeom>
          <a:noFill/>
          <a:ln/>
        </p:spPr>
        <p:txBody>
          <a:bodyPr wrap="square" lIns="0" tIns="0" rIns="0" bIns="0" rtlCol="0" anchor="ctr"/>
          <a:lstStyle/>
          <a:p>
            <a:pPr algn="ctr" indent="0" marL="0">
              <a:buNone/>
            </a:pPr>
            <a:r>
              <a:rPr lang="en-US" sz="1200" b="1" i="1" dirty="0">
                <a:solidFill>
                  <a:schemeClr val="tx2"/>
                </a:solidFill>
                <a:latin typeface="+mj-lt" pitchFamily="34" charset="0"/>
                <a:ea typeface="+mj-lt" pitchFamily="34" charset="-122"/>
                <a:cs typeface="+mj-lt" pitchFamily="34" charset="-120"/>
              </a:rPr>
              <a:t>TREAD</a:t>
            </a:r>
            <a:endParaRPr lang="en-US" sz="1200" dirty="0"/>
          </a:p>
        </p:txBody>
      </p:sp>
      <p:sp>
        <p:nvSpPr>
          <p:cNvPr id="9" name="dmg-0-name"/>
          <p:cNvSpPr txBox="1"/>
          <p:nvPr/>
        </p:nvSpPr>
        <p:spPr>
          <a:xfrm>
            <a:off x="2971800" y="2286000"/>
            <a:ext cx="1261872" cy="566928"/>
          </a:xfrm>
          <a:prstGeom prst="rect">
            <a:avLst/>
          </a:prstGeom>
          <a:noFill/>
          <a:ln/>
        </p:spPr>
        <p:txBody>
          <a:bodyPr wrap="square" lIns="0" tIns="0" rIns="0" bIns="0" rtlCol="0" anchor="t"/>
          <a:lstStyle/>
          <a:p>
            <a:pPr indent="0" marL="0">
              <a:buNone/>
            </a:pPr>
            <a:r>
              <a:rPr lang="en-US" sz="1350" b="1" dirty="0">
                <a:solidFill>
                  <a:schemeClr val="tx2"/>
                </a:solidFill>
              </a:rPr>
              <a:t>Worn tread</a:t>
            </a:r>
            <a:endParaRPr lang="en-US" sz="1350" dirty="0"/>
          </a:p>
        </p:txBody>
      </p:sp>
      <p:sp>
        <p:nvSpPr>
          <p:cNvPr id="10" name="dmg-0-what"/>
          <p:cNvSpPr txBox="1"/>
          <p:nvPr/>
        </p:nvSpPr>
        <p:spPr>
          <a:xfrm>
            <a:off x="2971800" y="2834640"/>
            <a:ext cx="1280160" cy="502920"/>
          </a:xfrm>
          <a:prstGeom prst="rect">
            <a:avLst/>
          </a:prstGeom>
          <a:noFill/>
          <a:ln/>
        </p:spPr>
        <p:txBody>
          <a:bodyPr wrap="square" lIns="0" tIns="0" rIns="0" bIns="0" rtlCol="0" anchor="t"/>
          <a:lstStyle/>
          <a:p>
            <a:pPr indent="0" marL="0">
              <a:buNone/>
            </a:pPr>
            <a:r>
              <a:rPr lang="en-US" sz="1050" dirty="0">
                <a:solidFill>
                  <a:schemeClr val="accent4"/>
                </a:solidFill>
              </a:rPr>
              <a:t>Normal wear: why it is retreaded</a:t>
            </a:r>
            <a:endParaRPr lang="en-US" sz="1050" dirty="0"/>
          </a:p>
        </p:txBody>
      </p:sp>
      <p:sp>
        <p:nvSpPr>
          <p:cNvPr id="11" name="dmg-0-caught"/>
          <p:cNvSpPr txBox="1"/>
          <p:nvPr/>
        </p:nvSpPr>
        <p:spPr>
          <a:xfrm>
            <a:off x="2971800" y="3310128"/>
            <a:ext cx="1280160" cy="438912"/>
          </a:xfrm>
          <a:prstGeom prst="rect">
            <a:avLst/>
          </a:prstGeom>
          <a:noFill/>
          <a:ln/>
        </p:spPr>
        <p:txBody>
          <a:bodyPr wrap="square" lIns="0" tIns="0" rIns="0" bIns="0" rtlCol="0" anchor="t"/>
          <a:lstStyle/>
          <a:p>
            <a:pPr indent="0" marL="0">
              <a:buNone/>
            </a:pPr>
            <a:r>
              <a:rPr lang="en-US" sz="1000" b="1" dirty="0">
                <a:solidFill>
                  <a:schemeClr val="accent1"/>
                </a:solidFill>
              </a:rPr>
              <a:t>Inspector decides</a:t>
            </a:r>
            <a:endParaRPr lang="en-US" sz="1000" dirty="0"/>
          </a:p>
        </p:txBody>
      </p:sp>
      <p:sp>
        <p:nvSpPr>
          <p:cNvPr id="12" name="dmg-1-card"/>
          <p:cNvSpPr/>
          <p:nvPr/>
        </p:nvSpPr>
        <p:spPr>
          <a:xfrm>
            <a:off x="4480560" y="1737360"/>
            <a:ext cx="3520440" cy="2057400"/>
          </a:xfrm>
          <a:prstGeom prst="rect">
            <a:avLst/>
          </a:prstGeom>
          <a:solidFill>
            <a:schemeClr val="bg1"/>
          </a:solidFill>
          <a:ln w="12700">
            <a:solidFill>
              <a:schemeClr val="bg2"/>
            </a:solidFill>
            <a:prstDash val="solid"/>
          </a:ln>
        </p:spPr>
      </p:sp>
      <p:pic>
        <p:nvPicPr>
          <p:cNvPr id="13" name="dmg-1-photo" descr="Nail in the tread: A puncture, repairable if small">    </p:cNvPr>
          <p:cNvPicPr>
            <a:picLocks noChangeAspect="1"/>
          </p:cNvPicPr>
          <p:nvPr/>
        </p:nvPicPr>
        <p:blipFill>
          <a:blip r:embed="rId2"/>
          <a:stretch>
            <a:fillRect/>
          </a:stretch>
        </p:blipFill>
        <p:spPr>
          <a:xfrm>
            <a:off x="4480560" y="1737360"/>
            <a:ext cx="2057400" cy="2057400"/>
          </a:xfrm>
          <a:prstGeom prst="rect">
            <a:avLst/>
          </a:prstGeom>
        </p:spPr>
      </p:pic>
      <p:sp>
        <p:nvSpPr>
          <p:cNvPr id="14" name="dmg-1-chip"/>
          <p:cNvSpPr/>
          <p:nvPr/>
        </p:nvSpPr>
        <p:spPr>
          <a:xfrm>
            <a:off x="6675120" y="1901952"/>
            <a:ext cx="1005840" cy="310896"/>
          </a:xfrm>
          <a:prstGeom prst="roundRect">
            <a:avLst>
              <a:gd name="adj" fmla="val 50000"/>
            </a:avLst>
          </a:prstGeom>
          <a:solidFill>
            <a:schemeClr val="accent2"/>
          </a:solidFill>
          <a:ln w="12700">
            <a:solidFill>
              <a:schemeClr val="accent2"/>
            </a:solidFill>
            <a:prstDash val="solid"/>
          </a:ln>
        </p:spPr>
      </p:sp>
      <p:sp>
        <p:nvSpPr>
          <p:cNvPr id="15" name="dmg-1-chip-text"/>
          <p:cNvSpPr txBox="1"/>
          <p:nvPr/>
        </p:nvSpPr>
        <p:spPr>
          <a:xfrm>
            <a:off x="6675120" y="1901952"/>
            <a:ext cx="1005840" cy="310896"/>
          </a:xfrm>
          <a:prstGeom prst="rect">
            <a:avLst/>
          </a:prstGeom>
          <a:noFill/>
          <a:ln/>
        </p:spPr>
        <p:txBody>
          <a:bodyPr wrap="square" lIns="0" tIns="0" rIns="0" bIns="0" rtlCol="0" anchor="ctr"/>
          <a:lstStyle/>
          <a:p>
            <a:pPr algn="ctr" indent="0" marL="0">
              <a:buNone/>
            </a:pPr>
            <a:r>
              <a:rPr lang="en-US" sz="1200" b="1" i="1" dirty="0">
                <a:solidFill>
                  <a:schemeClr val="tx2"/>
                </a:solidFill>
                <a:latin typeface="+mj-lt" pitchFamily="34" charset="0"/>
                <a:ea typeface="+mj-lt" pitchFamily="34" charset="-122"/>
                <a:cs typeface="+mj-lt" pitchFamily="34" charset="-120"/>
              </a:rPr>
              <a:t>TREAD</a:t>
            </a:r>
            <a:endParaRPr lang="en-US" sz="1200" dirty="0"/>
          </a:p>
        </p:txBody>
      </p:sp>
      <p:sp>
        <p:nvSpPr>
          <p:cNvPr id="16" name="dmg-1-name"/>
          <p:cNvSpPr txBox="1"/>
          <p:nvPr/>
        </p:nvSpPr>
        <p:spPr>
          <a:xfrm>
            <a:off x="6675120" y="2286000"/>
            <a:ext cx="1261872" cy="566928"/>
          </a:xfrm>
          <a:prstGeom prst="rect">
            <a:avLst/>
          </a:prstGeom>
          <a:noFill/>
          <a:ln/>
        </p:spPr>
        <p:txBody>
          <a:bodyPr wrap="square" lIns="0" tIns="0" rIns="0" bIns="0" rtlCol="0" anchor="t"/>
          <a:lstStyle/>
          <a:p>
            <a:pPr indent="0" marL="0">
              <a:buNone/>
            </a:pPr>
            <a:r>
              <a:rPr lang="en-US" sz="1350" b="1" dirty="0">
                <a:solidFill>
                  <a:schemeClr val="tx2"/>
                </a:solidFill>
              </a:rPr>
              <a:t>Nail in the tread</a:t>
            </a:r>
            <a:endParaRPr lang="en-US" sz="1350" dirty="0"/>
          </a:p>
        </p:txBody>
      </p:sp>
      <p:sp>
        <p:nvSpPr>
          <p:cNvPr id="17" name="dmg-1-what"/>
          <p:cNvSpPr txBox="1"/>
          <p:nvPr/>
        </p:nvSpPr>
        <p:spPr>
          <a:xfrm>
            <a:off x="6675120" y="2834640"/>
            <a:ext cx="1280160" cy="502920"/>
          </a:xfrm>
          <a:prstGeom prst="rect">
            <a:avLst/>
          </a:prstGeom>
          <a:noFill/>
          <a:ln/>
        </p:spPr>
        <p:txBody>
          <a:bodyPr wrap="square" lIns="0" tIns="0" rIns="0" bIns="0" rtlCol="0" anchor="t"/>
          <a:lstStyle/>
          <a:p>
            <a:pPr indent="0" marL="0">
              <a:buNone/>
            </a:pPr>
            <a:r>
              <a:rPr lang="en-US" sz="1050" dirty="0">
                <a:solidFill>
                  <a:schemeClr val="accent4"/>
                </a:solidFill>
              </a:rPr>
              <a:t>A puncture, repairable if small</a:t>
            </a:r>
            <a:endParaRPr lang="en-US" sz="1050" dirty="0"/>
          </a:p>
        </p:txBody>
      </p:sp>
      <p:sp>
        <p:nvSpPr>
          <p:cNvPr id="18" name="dmg-1-caught"/>
          <p:cNvSpPr txBox="1"/>
          <p:nvPr/>
        </p:nvSpPr>
        <p:spPr>
          <a:xfrm>
            <a:off x="6675120" y="3310128"/>
            <a:ext cx="1280160" cy="438912"/>
          </a:xfrm>
          <a:prstGeom prst="rect">
            <a:avLst/>
          </a:prstGeom>
          <a:noFill/>
          <a:ln/>
        </p:spPr>
        <p:txBody>
          <a:bodyPr wrap="square" lIns="0" tIns="0" rIns="0" bIns="0" rtlCol="0" anchor="t"/>
          <a:lstStyle/>
          <a:p>
            <a:pPr indent="0" marL="0">
              <a:buNone/>
            </a:pPr>
            <a:r>
              <a:rPr lang="en-US" sz="1000" b="1" dirty="0">
                <a:solidFill>
                  <a:schemeClr val="accent1"/>
                </a:solidFill>
              </a:rPr>
              <a:t>Damage locator: foreign object</a:t>
            </a:r>
            <a:endParaRPr lang="en-US" sz="1000" dirty="0"/>
          </a:p>
        </p:txBody>
      </p:sp>
      <p:sp>
        <p:nvSpPr>
          <p:cNvPr id="19" name="dmg-2-card"/>
          <p:cNvSpPr/>
          <p:nvPr/>
        </p:nvSpPr>
        <p:spPr>
          <a:xfrm>
            <a:off x="8183880" y="1737360"/>
            <a:ext cx="3520440" cy="2057400"/>
          </a:xfrm>
          <a:prstGeom prst="rect">
            <a:avLst/>
          </a:prstGeom>
          <a:solidFill>
            <a:schemeClr val="bg1"/>
          </a:solidFill>
          <a:ln w="12700">
            <a:solidFill>
              <a:schemeClr val="bg2"/>
            </a:solidFill>
            <a:prstDash val="solid"/>
          </a:ln>
        </p:spPr>
      </p:sp>
      <p:pic>
        <p:nvPicPr>
          <p:cNvPr id="20" name="dmg-2-photo" descr="Chunk to the belt: Rubber torn out, steel showing">    </p:cNvPr>
          <p:cNvPicPr>
            <a:picLocks noChangeAspect="1"/>
          </p:cNvPicPr>
          <p:nvPr/>
        </p:nvPicPr>
        <p:blipFill>
          <a:blip r:embed="rId3"/>
          <a:stretch>
            <a:fillRect/>
          </a:stretch>
        </p:blipFill>
        <p:spPr>
          <a:xfrm>
            <a:off x="8183880" y="1737360"/>
            <a:ext cx="2057400" cy="2057400"/>
          </a:xfrm>
          <a:prstGeom prst="rect">
            <a:avLst/>
          </a:prstGeom>
        </p:spPr>
      </p:pic>
      <p:sp>
        <p:nvSpPr>
          <p:cNvPr id="21" name="dmg-2-chip"/>
          <p:cNvSpPr/>
          <p:nvPr/>
        </p:nvSpPr>
        <p:spPr>
          <a:xfrm>
            <a:off x="10378440" y="1901952"/>
            <a:ext cx="1005840" cy="310896"/>
          </a:xfrm>
          <a:prstGeom prst="roundRect">
            <a:avLst>
              <a:gd name="adj" fmla="val 50000"/>
            </a:avLst>
          </a:prstGeom>
          <a:solidFill>
            <a:schemeClr val="accent2"/>
          </a:solidFill>
          <a:ln w="12700">
            <a:solidFill>
              <a:schemeClr val="accent2"/>
            </a:solidFill>
            <a:prstDash val="solid"/>
          </a:ln>
        </p:spPr>
      </p:sp>
      <p:sp>
        <p:nvSpPr>
          <p:cNvPr id="22" name="dmg-2-chip-text"/>
          <p:cNvSpPr txBox="1"/>
          <p:nvPr/>
        </p:nvSpPr>
        <p:spPr>
          <a:xfrm>
            <a:off x="10378440" y="1901952"/>
            <a:ext cx="1005840" cy="310896"/>
          </a:xfrm>
          <a:prstGeom prst="rect">
            <a:avLst/>
          </a:prstGeom>
          <a:noFill/>
          <a:ln/>
        </p:spPr>
        <p:txBody>
          <a:bodyPr wrap="square" lIns="0" tIns="0" rIns="0" bIns="0" rtlCol="0" anchor="ctr"/>
          <a:lstStyle/>
          <a:p>
            <a:pPr algn="ctr" indent="0" marL="0">
              <a:buNone/>
            </a:pPr>
            <a:r>
              <a:rPr lang="en-US" sz="1200" b="1" i="1" dirty="0">
                <a:solidFill>
                  <a:schemeClr val="tx2"/>
                </a:solidFill>
                <a:latin typeface="+mj-lt" pitchFamily="34" charset="0"/>
                <a:ea typeface="+mj-lt" pitchFamily="34" charset="-122"/>
                <a:cs typeface="+mj-lt" pitchFamily="34" charset="-120"/>
              </a:rPr>
              <a:t>TREAD</a:t>
            </a:r>
            <a:endParaRPr lang="en-US" sz="1200" dirty="0"/>
          </a:p>
        </p:txBody>
      </p:sp>
      <p:sp>
        <p:nvSpPr>
          <p:cNvPr id="23" name="dmg-2-name"/>
          <p:cNvSpPr txBox="1"/>
          <p:nvPr/>
        </p:nvSpPr>
        <p:spPr>
          <a:xfrm>
            <a:off x="10378440" y="2286000"/>
            <a:ext cx="1261872" cy="566928"/>
          </a:xfrm>
          <a:prstGeom prst="rect">
            <a:avLst/>
          </a:prstGeom>
          <a:noFill/>
          <a:ln/>
        </p:spPr>
        <p:txBody>
          <a:bodyPr wrap="square" lIns="0" tIns="0" rIns="0" bIns="0" rtlCol="0" anchor="t"/>
          <a:lstStyle/>
          <a:p>
            <a:pPr indent="0" marL="0">
              <a:buNone/>
            </a:pPr>
            <a:r>
              <a:rPr lang="en-US" sz="1350" b="1" dirty="0">
                <a:solidFill>
                  <a:schemeClr val="tx2"/>
                </a:solidFill>
              </a:rPr>
              <a:t>Chunk to the belt</a:t>
            </a:r>
            <a:endParaRPr lang="en-US" sz="1350" dirty="0"/>
          </a:p>
        </p:txBody>
      </p:sp>
      <p:sp>
        <p:nvSpPr>
          <p:cNvPr id="24" name="dmg-2-what"/>
          <p:cNvSpPr txBox="1"/>
          <p:nvPr/>
        </p:nvSpPr>
        <p:spPr>
          <a:xfrm>
            <a:off x="10378440" y="2834640"/>
            <a:ext cx="1280160" cy="502920"/>
          </a:xfrm>
          <a:prstGeom prst="rect">
            <a:avLst/>
          </a:prstGeom>
          <a:noFill/>
          <a:ln/>
        </p:spPr>
        <p:txBody>
          <a:bodyPr wrap="square" lIns="0" tIns="0" rIns="0" bIns="0" rtlCol="0" anchor="t"/>
          <a:lstStyle/>
          <a:p>
            <a:pPr indent="0" marL="0">
              <a:buNone/>
            </a:pPr>
            <a:r>
              <a:rPr lang="en-US" sz="1050" dirty="0">
                <a:solidFill>
                  <a:schemeClr val="accent4"/>
                </a:solidFill>
              </a:rPr>
              <a:t>Rubber torn out, steel showing</a:t>
            </a:r>
            <a:endParaRPr lang="en-US" sz="1050" dirty="0"/>
          </a:p>
        </p:txBody>
      </p:sp>
      <p:sp>
        <p:nvSpPr>
          <p:cNvPr id="25" name="dmg-2-caught"/>
          <p:cNvSpPr txBox="1"/>
          <p:nvPr/>
        </p:nvSpPr>
        <p:spPr>
          <a:xfrm>
            <a:off x="10378440" y="3310128"/>
            <a:ext cx="1280160" cy="438912"/>
          </a:xfrm>
          <a:prstGeom prst="rect">
            <a:avLst/>
          </a:prstGeom>
          <a:noFill/>
          <a:ln/>
        </p:spPr>
        <p:txBody>
          <a:bodyPr wrap="square" lIns="0" tIns="0" rIns="0" bIns="0" rtlCol="0" anchor="t"/>
          <a:lstStyle/>
          <a:p>
            <a:pPr indent="0" marL="0">
              <a:buNone/>
            </a:pPr>
            <a:r>
              <a:rPr lang="en-US" sz="1000" b="1" dirty="0">
                <a:solidFill>
                  <a:schemeClr val="accent1"/>
                </a:solidFill>
              </a:rPr>
              <a:t>Damage locator: chunk</a:t>
            </a:r>
            <a:endParaRPr lang="en-US" sz="1000" dirty="0"/>
          </a:p>
        </p:txBody>
      </p:sp>
      <p:sp>
        <p:nvSpPr>
          <p:cNvPr id="26" name="dmg-3-card"/>
          <p:cNvSpPr/>
          <p:nvPr/>
        </p:nvSpPr>
        <p:spPr>
          <a:xfrm>
            <a:off x="777240" y="3950208"/>
            <a:ext cx="3520440" cy="2057400"/>
          </a:xfrm>
          <a:prstGeom prst="rect">
            <a:avLst/>
          </a:prstGeom>
          <a:solidFill>
            <a:schemeClr val="bg1"/>
          </a:solidFill>
          <a:ln w="12700">
            <a:solidFill>
              <a:schemeClr val="bg2"/>
            </a:solidFill>
            <a:prstDash val="solid"/>
          </a:ln>
        </p:spPr>
      </p:sp>
      <p:pic>
        <p:nvPicPr>
          <p:cNvPr id="27" name="dmg-3-photo" descr="Weather cracking: Age and ozone crack the sidewall">    </p:cNvPr>
          <p:cNvPicPr>
            <a:picLocks noChangeAspect="1"/>
          </p:cNvPicPr>
          <p:nvPr/>
        </p:nvPicPr>
        <p:blipFill>
          <a:blip r:embed="rId4"/>
          <a:stretch>
            <a:fillRect/>
          </a:stretch>
        </p:blipFill>
        <p:spPr>
          <a:xfrm>
            <a:off x="777240" y="3950208"/>
            <a:ext cx="2057400" cy="2057400"/>
          </a:xfrm>
          <a:prstGeom prst="rect">
            <a:avLst/>
          </a:prstGeom>
        </p:spPr>
      </p:pic>
      <p:sp>
        <p:nvSpPr>
          <p:cNvPr id="28" name="dmg-3-chip"/>
          <p:cNvSpPr/>
          <p:nvPr/>
        </p:nvSpPr>
        <p:spPr>
          <a:xfrm>
            <a:off x="2971800" y="4114800"/>
            <a:ext cx="1005840" cy="310896"/>
          </a:xfrm>
          <a:prstGeom prst="roundRect">
            <a:avLst>
              <a:gd name="adj" fmla="val 50000"/>
            </a:avLst>
          </a:prstGeom>
          <a:solidFill>
            <a:schemeClr val="tx2"/>
          </a:solidFill>
          <a:ln w="12700">
            <a:solidFill>
              <a:schemeClr val="tx2"/>
            </a:solidFill>
            <a:prstDash val="solid"/>
          </a:ln>
        </p:spPr>
      </p:sp>
      <p:sp>
        <p:nvSpPr>
          <p:cNvPr id="29" name="dmg-3-chip-text"/>
          <p:cNvSpPr txBox="1"/>
          <p:nvPr/>
        </p:nvSpPr>
        <p:spPr>
          <a:xfrm>
            <a:off x="2971800" y="4114800"/>
            <a:ext cx="1005840" cy="310896"/>
          </a:xfrm>
          <a:prstGeom prst="rect">
            <a:avLst/>
          </a:prstGeom>
          <a:noFill/>
          <a:ln/>
        </p:spPr>
        <p:txBody>
          <a:bodyPr wrap="square" lIns="0" tIns="0" rIns="0" bIns="0" rtlCol="0" anchor="ctr"/>
          <a:lstStyle/>
          <a:p>
            <a:pPr algn="ctr" indent="0" marL="0">
              <a:buNone/>
            </a:pPr>
            <a:r>
              <a:rPr lang="en-US" sz="1200" b="1" i="1" dirty="0">
                <a:solidFill>
                  <a:schemeClr val="accent2"/>
                </a:solidFill>
                <a:latin typeface="+mj-lt" pitchFamily="34" charset="0"/>
                <a:ea typeface="+mj-lt" pitchFamily="34" charset="-122"/>
                <a:cs typeface="+mj-lt" pitchFamily="34" charset="-120"/>
              </a:rPr>
              <a:t>CASING</a:t>
            </a:r>
            <a:endParaRPr lang="en-US" sz="1200" dirty="0"/>
          </a:p>
        </p:txBody>
      </p:sp>
      <p:sp>
        <p:nvSpPr>
          <p:cNvPr id="30" name="dmg-3-name"/>
          <p:cNvSpPr txBox="1"/>
          <p:nvPr/>
        </p:nvSpPr>
        <p:spPr>
          <a:xfrm>
            <a:off x="2971800" y="4498848"/>
            <a:ext cx="1261872" cy="566928"/>
          </a:xfrm>
          <a:prstGeom prst="rect">
            <a:avLst/>
          </a:prstGeom>
          <a:noFill/>
          <a:ln/>
        </p:spPr>
        <p:txBody>
          <a:bodyPr wrap="square" lIns="0" tIns="0" rIns="0" bIns="0" rtlCol="0" anchor="t"/>
          <a:lstStyle/>
          <a:p>
            <a:pPr indent="0" marL="0">
              <a:buNone/>
            </a:pPr>
            <a:r>
              <a:rPr lang="en-US" sz="1350" b="1" dirty="0">
                <a:solidFill>
                  <a:schemeClr val="tx2"/>
                </a:solidFill>
              </a:rPr>
              <a:t>Weather cracking</a:t>
            </a:r>
            <a:endParaRPr lang="en-US" sz="1350" dirty="0"/>
          </a:p>
        </p:txBody>
      </p:sp>
      <p:sp>
        <p:nvSpPr>
          <p:cNvPr id="31" name="dmg-3-what"/>
          <p:cNvSpPr txBox="1"/>
          <p:nvPr/>
        </p:nvSpPr>
        <p:spPr>
          <a:xfrm>
            <a:off x="2971800" y="5047488"/>
            <a:ext cx="1280160" cy="502920"/>
          </a:xfrm>
          <a:prstGeom prst="rect">
            <a:avLst/>
          </a:prstGeom>
          <a:noFill/>
          <a:ln/>
        </p:spPr>
        <p:txBody>
          <a:bodyPr wrap="square" lIns="0" tIns="0" rIns="0" bIns="0" rtlCol="0" anchor="t"/>
          <a:lstStyle/>
          <a:p>
            <a:pPr indent="0" marL="0">
              <a:buNone/>
            </a:pPr>
            <a:r>
              <a:rPr lang="en-US" sz="1050" dirty="0">
                <a:solidFill>
                  <a:schemeClr val="accent4"/>
                </a:solidFill>
              </a:rPr>
              <a:t>Age and ozone crack the sidewall</a:t>
            </a:r>
            <a:endParaRPr lang="en-US" sz="1050" dirty="0"/>
          </a:p>
        </p:txBody>
      </p:sp>
      <p:sp>
        <p:nvSpPr>
          <p:cNvPr id="32" name="dmg-3-caught"/>
          <p:cNvSpPr txBox="1"/>
          <p:nvPr/>
        </p:nvSpPr>
        <p:spPr>
          <a:xfrm>
            <a:off x="2971800" y="5522976"/>
            <a:ext cx="1280160" cy="438912"/>
          </a:xfrm>
          <a:prstGeom prst="rect">
            <a:avLst/>
          </a:prstGeom>
          <a:noFill/>
          <a:ln/>
        </p:spPr>
        <p:txBody>
          <a:bodyPr wrap="square" lIns="0" tIns="0" rIns="0" bIns="0" rtlCol="0" anchor="t"/>
          <a:lstStyle/>
          <a:p>
            <a:pPr indent="0" marL="0">
              <a:buNone/>
            </a:pPr>
            <a:r>
              <a:rPr lang="en-US" sz="1000" b="1" dirty="0">
                <a:solidFill>
                  <a:schemeClr val="accent1"/>
                </a:solidFill>
              </a:rPr>
              <a:t>Classifier: most D1 defects</a:t>
            </a:r>
            <a:endParaRPr lang="en-US" sz="1000" dirty="0"/>
          </a:p>
        </p:txBody>
      </p:sp>
      <p:sp>
        <p:nvSpPr>
          <p:cNvPr id="33" name="dmg-4-card"/>
          <p:cNvSpPr/>
          <p:nvPr/>
        </p:nvSpPr>
        <p:spPr>
          <a:xfrm>
            <a:off x="4480560" y="3950208"/>
            <a:ext cx="3520440" cy="2057400"/>
          </a:xfrm>
          <a:prstGeom prst="rect">
            <a:avLst/>
          </a:prstGeom>
          <a:solidFill>
            <a:schemeClr val="bg1"/>
          </a:solidFill>
          <a:ln w="12700">
            <a:solidFill>
              <a:schemeClr val="bg2"/>
            </a:solidFill>
            <a:prstDash val="solid"/>
          </a:ln>
        </p:spPr>
      </p:sp>
      <p:pic>
        <p:nvPicPr>
          <p:cNvPr id="34" name="dmg-4-photo" descr="Sidewall cut: Cuts where it flexes reach the ply">    </p:cNvPr>
          <p:cNvPicPr>
            <a:picLocks noChangeAspect="1"/>
          </p:cNvPicPr>
          <p:nvPr/>
        </p:nvPicPr>
        <p:blipFill>
          <a:blip r:embed="rId5"/>
          <a:stretch>
            <a:fillRect/>
          </a:stretch>
        </p:blipFill>
        <p:spPr>
          <a:xfrm>
            <a:off x="4480560" y="3950208"/>
            <a:ext cx="2057400" cy="2057400"/>
          </a:xfrm>
          <a:prstGeom prst="rect">
            <a:avLst/>
          </a:prstGeom>
        </p:spPr>
      </p:pic>
      <p:sp>
        <p:nvSpPr>
          <p:cNvPr id="35" name="dmg-4-chip"/>
          <p:cNvSpPr/>
          <p:nvPr/>
        </p:nvSpPr>
        <p:spPr>
          <a:xfrm>
            <a:off x="6675120" y="4114800"/>
            <a:ext cx="1005840" cy="310896"/>
          </a:xfrm>
          <a:prstGeom prst="roundRect">
            <a:avLst>
              <a:gd name="adj" fmla="val 50000"/>
            </a:avLst>
          </a:prstGeom>
          <a:solidFill>
            <a:schemeClr val="tx2"/>
          </a:solidFill>
          <a:ln w="12700">
            <a:solidFill>
              <a:schemeClr val="tx2"/>
            </a:solidFill>
            <a:prstDash val="solid"/>
          </a:ln>
        </p:spPr>
      </p:sp>
      <p:sp>
        <p:nvSpPr>
          <p:cNvPr id="36" name="dmg-4-chip-text"/>
          <p:cNvSpPr txBox="1"/>
          <p:nvPr/>
        </p:nvSpPr>
        <p:spPr>
          <a:xfrm>
            <a:off x="6675120" y="4114800"/>
            <a:ext cx="1005840" cy="310896"/>
          </a:xfrm>
          <a:prstGeom prst="rect">
            <a:avLst/>
          </a:prstGeom>
          <a:noFill/>
          <a:ln/>
        </p:spPr>
        <p:txBody>
          <a:bodyPr wrap="square" lIns="0" tIns="0" rIns="0" bIns="0" rtlCol="0" anchor="ctr"/>
          <a:lstStyle/>
          <a:p>
            <a:pPr algn="ctr" indent="0" marL="0">
              <a:buNone/>
            </a:pPr>
            <a:r>
              <a:rPr lang="en-US" sz="1200" b="1" i="1" dirty="0">
                <a:solidFill>
                  <a:schemeClr val="accent2"/>
                </a:solidFill>
                <a:latin typeface="+mj-lt" pitchFamily="34" charset="0"/>
                <a:ea typeface="+mj-lt" pitchFamily="34" charset="-122"/>
                <a:cs typeface="+mj-lt" pitchFamily="34" charset="-120"/>
              </a:rPr>
              <a:t>CASING</a:t>
            </a:r>
            <a:endParaRPr lang="en-US" sz="1200" dirty="0"/>
          </a:p>
        </p:txBody>
      </p:sp>
      <p:sp>
        <p:nvSpPr>
          <p:cNvPr id="37" name="dmg-4-name"/>
          <p:cNvSpPr txBox="1"/>
          <p:nvPr/>
        </p:nvSpPr>
        <p:spPr>
          <a:xfrm>
            <a:off x="6675120" y="4498848"/>
            <a:ext cx="1261872" cy="566928"/>
          </a:xfrm>
          <a:prstGeom prst="rect">
            <a:avLst/>
          </a:prstGeom>
          <a:noFill/>
          <a:ln/>
        </p:spPr>
        <p:txBody>
          <a:bodyPr wrap="square" lIns="0" tIns="0" rIns="0" bIns="0" rtlCol="0" anchor="t"/>
          <a:lstStyle/>
          <a:p>
            <a:pPr indent="0" marL="0">
              <a:buNone/>
            </a:pPr>
            <a:r>
              <a:rPr lang="en-US" sz="1350" b="1" dirty="0">
                <a:solidFill>
                  <a:schemeClr val="tx2"/>
                </a:solidFill>
              </a:rPr>
              <a:t>Sidewall cut</a:t>
            </a:r>
            <a:endParaRPr lang="en-US" sz="1350" dirty="0"/>
          </a:p>
        </p:txBody>
      </p:sp>
      <p:sp>
        <p:nvSpPr>
          <p:cNvPr id="38" name="dmg-4-what"/>
          <p:cNvSpPr txBox="1"/>
          <p:nvPr/>
        </p:nvSpPr>
        <p:spPr>
          <a:xfrm>
            <a:off x="6675120" y="5047488"/>
            <a:ext cx="1280160" cy="502920"/>
          </a:xfrm>
          <a:prstGeom prst="rect">
            <a:avLst/>
          </a:prstGeom>
          <a:noFill/>
          <a:ln/>
        </p:spPr>
        <p:txBody>
          <a:bodyPr wrap="square" lIns="0" tIns="0" rIns="0" bIns="0" rtlCol="0" anchor="t"/>
          <a:lstStyle/>
          <a:p>
            <a:pPr indent="0" marL="0">
              <a:buNone/>
            </a:pPr>
            <a:r>
              <a:rPr lang="en-US" sz="1050" dirty="0">
                <a:solidFill>
                  <a:schemeClr val="accent4"/>
                </a:solidFill>
              </a:rPr>
              <a:t>Cuts where it flexes reach the ply</a:t>
            </a:r>
            <a:endParaRPr lang="en-US" sz="1050" dirty="0"/>
          </a:p>
        </p:txBody>
      </p:sp>
      <p:sp>
        <p:nvSpPr>
          <p:cNvPr id="39" name="dmg-4-caught"/>
          <p:cNvSpPr txBox="1"/>
          <p:nvPr/>
        </p:nvSpPr>
        <p:spPr>
          <a:xfrm>
            <a:off x="6675120" y="5522976"/>
            <a:ext cx="1280160" cy="438912"/>
          </a:xfrm>
          <a:prstGeom prst="rect">
            <a:avLst/>
          </a:prstGeom>
          <a:noFill/>
          <a:ln/>
        </p:spPr>
        <p:txBody>
          <a:bodyPr wrap="square" lIns="0" tIns="0" rIns="0" bIns="0" rtlCol="0" anchor="t"/>
          <a:lstStyle/>
          <a:p>
            <a:pPr indent="0" marL="0">
              <a:buNone/>
            </a:pPr>
            <a:r>
              <a:rPr lang="en-US" sz="1000" b="1" dirty="0">
                <a:solidFill>
                  <a:schemeClr val="accent1"/>
                </a:solidFill>
              </a:rPr>
              <a:t>Damage locator: cut</a:t>
            </a:r>
            <a:endParaRPr lang="en-US" sz="1000" dirty="0"/>
          </a:p>
        </p:txBody>
      </p:sp>
      <p:sp>
        <p:nvSpPr>
          <p:cNvPr id="40" name="dmg-5-card"/>
          <p:cNvSpPr/>
          <p:nvPr/>
        </p:nvSpPr>
        <p:spPr>
          <a:xfrm>
            <a:off x="8183880" y="3950208"/>
            <a:ext cx="3520440" cy="2057400"/>
          </a:xfrm>
          <a:prstGeom prst="rect">
            <a:avLst/>
          </a:prstGeom>
          <a:solidFill>
            <a:schemeClr val="bg1"/>
          </a:solidFill>
          <a:ln w="12700">
            <a:solidFill>
              <a:schemeClr val="bg2"/>
            </a:solidFill>
            <a:prstDash val="solid"/>
          </a:ln>
        </p:spPr>
      </p:sp>
      <p:pic>
        <p:nvPicPr>
          <p:cNvPr id="41" name="dmg-5-photo" descr="Bulge: Broken ply cords under the rubber">    </p:cNvPr>
          <p:cNvPicPr>
            <a:picLocks noChangeAspect="1"/>
          </p:cNvPicPr>
          <p:nvPr/>
        </p:nvPicPr>
        <p:blipFill>
          <a:blip r:embed="rId6"/>
          <a:stretch>
            <a:fillRect/>
          </a:stretch>
        </p:blipFill>
        <p:spPr>
          <a:xfrm>
            <a:off x="8183880" y="3950208"/>
            <a:ext cx="2057400" cy="2057400"/>
          </a:xfrm>
          <a:prstGeom prst="rect">
            <a:avLst/>
          </a:prstGeom>
        </p:spPr>
      </p:pic>
      <p:sp>
        <p:nvSpPr>
          <p:cNvPr id="42" name="dmg-5-chip"/>
          <p:cNvSpPr/>
          <p:nvPr/>
        </p:nvSpPr>
        <p:spPr>
          <a:xfrm>
            <a:off x="10378440" y="4114800"/>
            <a:ext cx="1005840" cy="310896"/>
          </a:xfrm>
          <a:prstGeom prst="roundRect">
            <a:avLst>
              <a:gd name="adj" fmla="val 50000"/>
            </a:avLst>
          </a:prstGeom>
          <a:solidFill>
            <a:schemeClr val="tx2"/>
          </a:solidFill>
          <a:ln w="12700">
            <a:solidFill>
              <a:schemeClr val="tx2"/>
            </a:solidFill>
            <a:prstDash val="solid"/>
          </a:ln>
        </p:spPr>
      </p:sp>
      <p:sp>
        <p:nvSpPr>
          <p:cNvPr id="43" name="dmg-5-chip-text"/>
          <p:cNvSpPr txBox="1"/>
          <p:nvPr/>
        </p:nvSpPr>
        <p:spPr>
          <a:xfrm>
            <a:off x="10378440" y="4114800"/>
            <a:ext cx="1005840" cy="310896"/>
          </a:xfrm>
          <a:prstGeom prst="rect">
            <a:avLst/>
          </a:prstGeom>
          <a:noFill/>
          <a:ln/>
        </p:spPr>
        <p:txBody>
          <a:bodyPr wrap="square" lIns="0" tIns="0" rIns="0" bIns="0" rtlCol="0" anchor="ctr"/>
          <a:lstStyle/>
          <a:p>
            <a:pPr algn="ctr" indent="0" marL="0">
              <a:buNone/>
            </a:pPr>
            <a:r>
              <a:rPr lang="en-US" sz="1200" b="1" i="1" dirty="0">
                <a:solidFill>
                  <a:schemeClr val="accent2"/>
                </a:solidFill>
                <a:latin typeface="+mj-lt" pitchFamily="34" charset="0"/>
                <a:ea typeface="+mj-lt" pitchFamily="34" charset="-122"/>
                <a:cs typeface="+mj-lt" pitchFamily="34" charset="-120"/>
              </a:rPr>
              <a:t>CASING</a:t>
            </a:r>
            <a:endParaRPr lang="en-US" sz="1200" dirty="0"/>
          </a:p>
        </p:txBody>
      </p:sp>
      <p:sp>
        <p:nvSpPr>
          <p:cNvPr id="44" name="dmg-5-name"/>
          <p:cNvSpPr txBox="1"/>
          <p:nvPr/>
        </p:nvSpPr>
        <p:spPr>
          <a:xfrm>
            <a:off x="10378440" y="4498848"/>
            <a:ext cx="1261872" cy="566928"/>
          </a:xfrm>
          <a:prstGeom prst="rect">
            <a:avLst/>
          </a:prstGeom>
          <a:noFill/>
          <a:ln/>
        </p:spPr>
        <p:txBody>
          <a:bodyPr wrap="square" lIns="0" tIns="0" rIns="0" bIns="0" rtlCol="0" anchor="t"/>
          <a:lstStyle/>
          <a:p>
            <a:pPr indent="0" marL="0">
              <a:buNone/>
            </a:pPr>
            <a:r>
              <a:rPr lang="en-US" sz="1350" b="1" dirty="0">
                <a:solidFill>
                  <a:schemeClr val="tx2"/>
                </a:solidFill>
              </a:rPr>
              <a:t>Bulge</a:t>
            </a:r>
            <a:endParaRPr lang="en-US" sz="1350" dirty="0"/>
          </a:p>
        </p:txBody>
      </p:sp>
      <p:sp>
        <p:nvSpPr>
          <p:cNvPr id="45" name="dmg-5-what"/>
          <p:cNvSpPr txBox="1"/>
          <p:nvPr/>
        </p:nvSpPr>
        <p:spPr>
          <a:xfrm>
            <a:off x="10378440" y="5047488"/>
            <a:ext cx="1280160" cy="502920"/>
          </a:xfrm>
          <a:prstGeom prst="rect">
            <a:avLst/>
          </a:prstGeom>
          <a:noFill/>
          <a:ln/>
        </p:spPr>
        <p:txBody>
          <a:bodyPr wrap="square" lIns="0" tIns="0" rIns="0" bIns="0" rtlCol="0" anchor="t"/>
          <a:lstStyle/>
          <a:p>
            <a:pPr indent="0" marL="0">
              <a:buNone/>
            </a:pPr>
            <a:r>
              <a:rPr lang="en-US" sz="1050" dirty="0">
                <a:solidFill>
                  <a:schemeClr val="accent4"/>
                </a:solidFill>
              </a:rPr>
              <a:t>Broken ply cords under the rubber</a:t>
            </a:r>
            <a:endParaRPr lang="en-US" sz="1050" dirty="0"/>
          </a:p>
        </p:txBody>
      </p:sp>
      <p:sp>
        <p:nvSpPr>
          <p:cNvPr id="46" name="dmg-5-caught"/>
          <p:cNvSpPr txBox="1"/>
          <p:nvPr/>
        </p:nvSpPr>
        <p:spPr>
          <a:xfrm>
            <a:off x="10378440" y="5522976"/>
            <a:ext cx="1280160" cy="438912"/>
          </a:xfrm>
          <a:prstGeom prst="rect">
            <a:avLst/>
          </a:prstGeom>
          <a:noFill/>
          <a:ln/>
        </p:spPr>
        <p:txBody>
          <a:bodyPr wrap="square" lIns="0" tIns="0" rIns="0" bIns="0" rtlCol="0" anchor="t"/>
          <a:lstStyle/>
          <a:p>
            <a:pPr indent="0" marL="0">
              <a:buNone/>
            </a:pPr>
            <a:r>
              <a:rPr lang="en-US" sz="1000" b="1" dirty="0">
                <a:solidFill>
                  <a:schemeClr val="accent1"/>
                </a:solidFill>
              </a:rPr>
              <a:t>Damage locator: bulge</a:t>
            </a:r>
            <a:endParaRPr lang="en-US" sz="1000" dirty="0"/>
          </a:p>
        </p:txBody>
      </p:sp>
      <p:sp>
        <p:nvSpPr>
          <p:cNvPr id="47" name="damage-credit"/>
          <p:cNvSpPr txBox="1"/>
          <p:nvPr/>
        </p:nvSpPr>
        <p:spPr>
          <a:xfrm>
            <a:off x="777240" y="6089904"/>
            <a:ext cx="8595360" cy="256032"/>
          </a:xfrm>
          <a:prstGeom prst="rect">
            <a:avLst/>
          </a:prstGeom>
          <a:noFill/>
          <a:ln/>
        </p:spPr>
        <p:txBody>
          <a:bodyPr wrap="square" lIns="0" tIns="0" rIns="0" bIns="0" rtlCol="0" anchor="ctr"/>
          <a:lstStyle/>
          <a:p>
            <a:pPr indent="0" marL="0">
              <a:buNone/>
            </a:pPr>
            <a:r>
              <a:rPr lang="en-US" sz="1000" dirty="0">
                <a:solidFill>
                  <a:schemeClr val="accent4"/>
                </a:solidFill>
              </a:rPr>
              <a:t>Photos: TyreNet, Mendeley D1, Roboflow Universe tire_quality_dataset and TireWear_v2 (all CC BY 4.0). Boxes are the datasets' labels.</a:t>
            </a:r>
            <a:endParaRPr lang="en-US" sz="1000" dirty="0"/>
          </a:p>
        </p:txBody>
      </p:sp>
      <p:sp>
        <p:nvSpPr>
          <p:cNvPr id="25" name="Slide Number Placeholder 0"/>
          <p:cNvSpPr>
            <a:spLocks noGrp="1"/>
          </p:cNvSpPr>
          <p:nvPr>
            <p:ph type="sldNum" sz="quarter" idx="4294967295"/>
          </p:nvPr>
        </p:nvSpPr>
        <p:spPr>
          <a:xfrm>
            <a:off x="10972800" y="6400800"/>
            <a:ext cx="310896"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100">
                <a:solidFill>
                  <a:schemeClr val="accent4"/>
                </a:solidFill>
                <a:latin typeface="+mn-lt"/>
                <a:ea typeface="+mn-lt"/>
                <a:cs typeface="+mn-lt"/>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body" hasCustomPrompt="1"/>
          </p:nvPr>
        </p:nvSpPr>
        <p:spPr>
          <a:xfrm>
            <a:off x="777240" y="384048"/>
            <a:ext cx="10058400" cy="365760"/>
          </a:xfrm>
          <a:prstGeom prst="rect">
            <a:avLst/>
          </a:prstGeom>
          <a:noFill/>
          <a:ln/>
        </p:spPr>
        <p:txBody>
          <a:bodyPr wrap="square" lIns="0" tIns="0" rIns="0" bIns="0" rtlCol="0" anchor="ctr"/>
          <a:lstStyle/>
          <a:p>
            <a:pPr indent="0" marL="0">
              <a:buNone/>
            </a:pPr>
            <a:r>
              <a:rPr lang="en-US" sz="1400" b="1" dirty="0">
                <a:solidFill>
                  <a:schemeClr val="accent1"/>
                </a:solidFill>
              </a:rPr>
              <a:t>DATASETS</a:t>
            </a:r>
            <a:endParaRPr lang="en-US" sz="1400" dirty="0"/>
          </a:p>
        </p:txBody>
      </p:sp>
      <p:sp>
        <p:nvSpPr>
          <p:cNvPr id="3" name="Text 2"/>
          <p:cNvSpPr/>
          <p:nvPr>
            <p:ph idx="103" type="title" hasCustomPrompt="1"/>
          </p:nvPr>
        </p:nvSpPr>
        <p:spPr>
          <a:xfrm>
            <a:off x="777240" y="731520"/>
            <a:ext cx="11064240" cy="822960"/>
          </a:xfrm>
          <a:prstGeom prst="rect">
            <a:avLst/>
          </a:prstGeom>
          <a:noFill/>
          <a:ln/>
        </p:spPr>
        <p:txBody>
          <a:bodyPr wrap="square" lIns="0" tIns="0" rIns="0" bIns="0" rtlCol="0" anchor="ctr"/>
          <a:lstStyle/>
          <a:p>
            <a:pPr algn="l" indent="0" marL="0">
              <a:buNone/>
            </a:pPr>
            <a:r>
              <a:rPr lang="en-US" sz="3000" b="1" i="1" dirty="0">
                <a:solidFill>
                  <a:schemeClr val="tx2"/>
                </a:solidFill>
              </a:rPr>
              <a:t>3,665 tyre photos from three sources, split by tyre</a:t>
            </a:r>
            <a:endParaRPr lang="en-US" sz="3000" dirty="0"/>
          </a:p>
        </p:txBody>
      </p:sp>
      <p:sp>
        <p:nvSpPr>
          <p:cNvPr id="5" name="src-0-card"/>
          <p:cNvSpPr/>
          <p:nvPr/>
        </p:nvSpPr>
        <p:spPr>
          <a:xfrm>
            <a:off x="777240" y="1783080"/>
            <a:ext cx="3538728" cy="1600200"/>
          </a:xfrm>
          <a:prstGeom prst="rect">
            <a:avLst/>
          </a:prstGeom>
          <a:solidFill>
            <a:schemeClr val="bg1"/>
          </a:solidFill>
          <a:ln w="12700">
            <a:solidFill>
              <a:schemeClr val="bg2"/>
            </a:solidFill>
            <a:prstDash val="solid"/>
          </a:ln>
        </p:spPr>
      </p:sp>
      <p:sp>
        <p:nvSpPr>
          <p:cNvPr id="6" name="src-0-bar"/>
          <p:cNvSpPr/>
          <p:nvPr/>
        </p:nvSpPr>
        <p:spPr>
          <a:xfrm>
            <a:off x="777240" y="1783080"/>
            <a:ext cx="3538728" cy="82296"/>
          </a:xfrm>
          <a:prstGeom prst="rect">
            <a:avLst/>
          </a:prstGeom>
          <a:solidFill>
            <a:schemeClr val="accent2"/>
          </a:solidFill>
          <a:ln w="12700">
            <a:solidFill>
              <a:schemeClr val="accent2"/>
            </a:solidFill>
            <a:prstDash val="solid"/>
          </a:ln>
        </p:spPr>
      </p:sp>
      <p:sp>
        <p:nvSpPr>
          <p:cNvPr id="7" name="src-0-big"/>
          <p:cNvSpPr txBox="1"/>
          <p:nvPr/>
        </p:nvSpPr>
        <p:spPr>
          <a:xfrm>
            <a:off x="1051560" y="1984248"/>
            <a:ext cx="3108960" cy="621792"/>
          </a:xfrm>
          <a:prstGeom prst="rect">
            <a:avLst/>
          </a:prstGeom>
          <a:noFill/>
          <a:ln/>
        </p:spPr>
        <p:txBody>
          <a:bodyPr wrap="square" lIns="0" tIns="0" rIns="0" bIns="0" rtlCol="0" anchor="ctr"/>
          <a:lstStyle/>
          <a:p>
            <a:pPr indent="0" marL="0">
              <a:buNone/>
            </a:pPr>
            <a:r>
              <a:rPr lang="en-US" sz="3200" b="1" i="1" dirty="0">
                <a:solidFill>
                  <a:schemeClr val="tx2"/>
                </a:solidFill>
                <a:latin typeface="+mj-lt" pitchFamily="34" charset="0"/>
                <a:ea typeface="+mj-lt" pitchFamily="34" charset="-122"/>
                <a:cs typeface="+mj-lt" pitchFamily="34" charset="-120"/>
              </a:rPr>
              <a:t>1,828</a:t>
            </a:r>
            <a:endParaRPr lang="en-US" sz="3200" dirty="0"/>
          </a:p>
        </p:txBody>
      </p:sp>
      <p:sp>
        <p:nvSpPr>
          <p:cNvPr id="8" name="src-0-name"/>
          <p:cNvSpPr txBox="1"/>
          <p:nvPr/>
        </p:nvSpPr>
        <p:spPr>
          <a:xfrm>
            <a:off x="1051560" y="2651760"/>
            <a:ext cx="3108960" cy="310896"/>
          </a:xfrm>
          <a:prstGeom prst="rect">
            <a:avLst/>
          </a:prstGeom>
          <a:noFill/>
          <a:ln/>
        </p:spPr>
        <p:txBody>
          <a:bodyPr wrap="square" lIns="0" tIns="0" rIns="0" bIns="0" rtlCol="0" anchor="ctr"/>
          <a:lstStyle/>
          <a:p>
            <a:pPr indent="0" marL="0">
              <a:buNone/>
            </a:pPr>
            <a:r>
              <a:rPr lang="en-US" sz="1500" b="1" dirty="0">
                <a:solidFill>
                  <a:schemeClr val="tx2"/>
                </a:solidFill>
              </a:rPr>
              <a:t>Mendeley D1</a:t>
            </a:r>
            <a:endParaRPr lang="en-US" sz="1500" dirty="0"/>
          </a:p>
        </p:txBody>
      </p:sp>
      <p:sp>
        <p:nvSpPr>
          <p:cNvPr id="9" name="src-0-sub"/>
          <p:cNvSpPr txBox="1"/>
          <p:nvPr/>
        </p:nvSpPr>
        <p:spPr>
          <a:xfrm>
            <a:off x="1051560" y="2953512"/>
            <a:ext cx="3154680" cy="310896"/>
          </a:xfrm>
          <a:prstGeom prst="rect">
            <a:avLst/>
          </a:prstGeom>
          <a:noFill/>
          <a:ln/>
        </p:spPr>
        <p:txBody>
          <a:bodyPr wrap="square" lIns="0" tIns="0" rIns="0" bIns="0" rtlCol="0" anchor="ctr"/>
          <a:lstStyle/>
          <a:p>
            <a:pPr indent="0" marL="0">
              <a:buNone/>
            </a:pPr>
            <a:r>
              <a:rPr lang="en-US" sz="1250" dirty="0">
                <a:solidFill>
                  <a:schemeClr val="accent4"/>
                </a:solidFill>
              </a:rPr>
              <a:t>1,000 defective · 828 good</a:t>
            </a:r>
            <a:endParaRPr lang="en-US" sz="1250" dirty="0"/>
          </a:p>
        </p:txBody>
      </p:sp>
      <p:sp>
        <p:nvSpPr>
          <p:cNvPr id="10" name="src-1-card"/>
          <p:cNvSpPr/>
          <p:nvPr/>
        </p:nvSpPr>
        <p:spPr>
          <a:xfrm>
            <a:off x="4498848" y="1783080"/>
            <a:ext cx="3538728" cy="1600200"/>
          </a:xfrm>
          <a:prstGeom prst="rect">
            <a:avLst/>
          </a:prstGeom>
          <a:solidFill>
            <a:schemeClr val="bg1"/>
          </a:solidFill>
          <a:ln w="12700">
            <a:solidFill>
              <a:schemeClr val="bg2"/>
            </a:solidFill>
            <a:prstDash val="solid"/>
          </a:ln>
        </p:spPr>
      </p:sp>
      <p:sp>
        <p:nvSpPr>
          <p:cNvPr id="11" name="src-1-bar"/>
          <p:cNvSpPr/>
          <p:nvPr/>
        </p:nvSpPr>
        <p:spPr>
          <a:xfrm>
            <a:off x="4498848" y="1783080"/>
            <a:ext cx="3538728" cy="82296"/>
          </a:xfrm>
          <a:prstGeom prst="rect">
            <a:avLst/>
          </a:prstGeom>
          <a:solidFill>
            <a:schemeClr val="accent2"/>
          </a:solidFill>
          <a:ln w="12700">
            <a:solidFill>
              <a:schemeClr val="accent2"/>
            </a:solidFill>
            <a:prstDash val="solid"/>
          </a:ln>
        </p:spPr>
      </p:sp>
      <p:sp>
        <p:nvSpPr>
          <p:cNvPr id="12" name="src-1-big"/>
          <p:cNvSpPr txBox="1"/>
          <p:nvPr/>
        </p:nvSpPr>
        <p:spPr>
          <a:xfrm>
            <a:off x="4773168" y="1984248"/>
            <a:ext cx="3108960" cy="621792"/>
          </a:xfrm>
          <a:prstGeom prst="rect">
            <a:avLst/>
          </a:prstGeom>
          <a:noFill/>
          <a:ln/>
        </p:spPr>
        <p:txBody>
          <a:bodyPr wrap="square" lIns="0" tIns="0" rIns="0" bIns="0" rtlCol="0" anchor="ctr"/>
          <a:lstStyle/>
          <a:p>
            <a:pPr indent="0" marL="0">
              <a:buNone/>
            </a:pPr>
            <a:r>
              <a:rPr lang="en-US" sz="3200" b="1" i="1" dirty="0">
                <a:solidFill>
                  <a:schemeClr val="tx2"/>
                </a:solidFill>
                <a:latin typeface="+mj-lt" pitchFamily="34" charset="0"/>
                <a:ea typeface="+mj-lt" pitchFamily="34" charset="-122"/>
                <a:cs typeface="+mj-lt" pitchFamily="34" charset="-120"/>
              </a:rPr>
              <a:t>1,693</a:t>
            </a:r>
            <a:endParaRPr lang="en-US" sz="3200" dirty="0"/>
          </a:p>
        </p:txBody>
      </p:sp>
      <p:sp>
        <p:nvSpPr>
          <p:cNvPr id="13" name="src-1-name"/>
          <p:cNvSpPr txBox="1"/>
          <p:nvPr/>
        </p:nvSpPr>
        <p:spPr>
          <a:xfrm>
            <a:off x="4773168" y="2651760"/>
            <a:ext cx="3108960" cy="310896"/>
          </a:xfrm>
          <a:prstGeom prst="rect">
            <a:avLst/>
          </a:prstGeom>
          <a:noFill/>
          <a:ln/>
        </p:spPr>
        <p:txBody>
          <a:bodyPr wrap="square" lIns="0" tIns="0" rIns="0" bIns="0" rtlCol="0" anchor="ctr"/>
          <a:lstStyle/>
          <a:p>
            <a:pPr indent="0" marL="0">
              <a:buNone/>
            </a:pPr>
            <a:r>
              <a:rPr lang="en-US" sz="1500" b="1" dirty="0">
                <a:solidFill>
                  <a:schemeClr val="tx2"/>
                </a:solidFill>
              </a:rPr>
              <a:t>TyreNet (new)</a:t>
            </a:r>
            <a:endParaRPr lang="en-US" sz="1500" dirty="0"/>
          </a:p>
        </p:txBody>
      </p:sp>
      <p:sp>
        <p:nvSpPr>
          <p:cNvPr id="14" name="src-1-sub"/>
          <p:cNvSpPr txBox="1"/>
          <p:nvPr/>
        </p:nvSpPr>
        <p:spPr>
          <a:xfrm>
            <a:off x="4773168" y="2953512"/>
            <a:ext cx="3154680" cy="310896"/>
          </a:xfrm>
          <a:prstGeom prst="rect">
            <a:avLst/>
          </a:prstGeom>
          <a:noFill/>
          <a:ln/>
        </p:spPr>
        <p:txBody>
          <a:bodyPr wrap="square" lIns="0" tIns="0" rIns="0" bIns="0" rtlCol="0" anchor="ctr"/>
          <a:lstStyle/>
          <a:p>
            <a:pPr indent="0" marL="0">
              <a:buNone/>
            </a:pPr>
            <a:r>
              <a:rPr lang="en-US" sz="1250" dirty="0">
                <a:solidFill>
                  <a:schemeClr val="accent4"/>
                </a:solidFill>
              </a:rPr>
              <a:t>863 defective · 830 good; 8 sites</a:t>
            </a:r>
            <a:endParaRPr lang="en-US" sz="1250" dirty="0"/>
          </a:p>
        </p:txBody>
      </p:sp>
      <p:sp>
        <p:nvSpPr>
          <p:cNvPr id="15" name="src-2-card"/>
          <p:cNvSpPr/>
          <p:nvPr/>
        </p:nvSpPr>
        <p:spPr>
          <a:xfrm>
            <a:off x="8220456" y="1783080"/>
            <a:ext cx="3538728" cy="1600200"/>
          </a:xfrm>
          <a:prstGeom prst="rect">
            <a:avLst/>
          </a:prstGeom>
          <a:solidFill>
            <a:schemeClr val="bg1"/>
          </a:solidFill>
          <a:ln w="12700">
            <a:solidFill>
              <a:schemeClr val="bg2"/>
            </a:solidFill>
            <a:prstDash val="solid"/>
          </a:ln>
        </p:spPr>
      </p:sp>
      <p:sp>
        <p:nvSpPr>
          <p:cNvPr id="16" name="src-2-bar"/>
          <p:cNvSpPr/>
          <p:nvPr/>
        </p:nvSpPr>
        <p:spPr>
          <a:xfrm>
            <a:off x="8220456" y="1783080"/>
            <a:ext cx="3538728" cy="82296"/>
          </a:xfrm>
          <a:prstGeom prst="rect">
            <a:avLst/>
          </a:prstGeom>
          <a:solidFill>
            <a:schemeClr val="accent2"/>
          </a:solidFill>
          <a:ln w="12700">
            <a:solidFill>
              <a:schemeClr val="accent2"/>
            </a:solidFill>
            <a:prstDash val="solid"/>
          </a:ln>
        </p:spPr>
      </p:sp>
      <p:sp>
        <p:nvSpPr>
          <p:cNvPr id="17" name="src-2-big"/>
          <p:cNvSpPr txBox="1"/>
          <p:nvPr/>
        </p:nvSpPr>
        <p:spPr>
          <a:xfrm>
            <a:off x="8494776" y="1984248"/>
            <a:ext cx="3108960" cy="621792"/>
          </a:xfrm>
          <a:prstGeom prst="rect">
            <a:avLst/>
          </a:prstGeom>
          <a:noFill/>
          <a:ln/>
        </p:spPr>
        <p:txBody>
          <a:bodyPr wrap="square" lIns="0" tIns="0" rIns="0" bIns="0" rtlCol="0" anchor="ctr"/>
          <a:lstStyle/>
          <a:p>
            <a:pPr indent="0" marL="0">
              <a:buNone/>
            </a:pPr>
            <a:r>
              <a:rPr lang="en-US" sz="3200" b="1" i="1" dirty="0">
                <a:solidFill>
                  <a:schemeClr val="tx2"/>
                </a:solidFill>
                <a:latin typeface="+mj-lt" pitchFamily="34" charset="0"/>
                <a:ea typeface="+mj-lt" pitchFamily="34" charset="-122"/>
                <a:cs typeface="+mj-lt" pitchFamily="34" charset="-120"/>
              </a:rPr>
              <a:t>144</a:t>
            </a:r>
            <a:endParaRPr lang="en-US" sz="3200" dirty="0"/>
          </a:p>
        </p:txBody>
      </p:sp>
      <p:sp>
        <p:nvSpPr>
          <p:cNvPr id="18" name="src-2-name"/>
          <p:cNvSpPr txBox="1"/>
          <p:nvPr/>
        </p:nvSpPr>
        <p:spPr>
          <a:xfrm>
            <a:off x="8494776" y="2651760"/>
            <a:ext cx="3108960" cy="310896"/>
          </a:xfrm>
          <a:prstGeom prst="rect">
            <a:avLst/>
          </a:prstGeom>
          <a:noFill/>
          <a:ln/>
        </p:spPr>
        <p:txBody>
          <a:bodyPr wrap="square" lIns="0" tIns="0" rIns="0" bIns="0" rtlCol="0" anchor="ctr"/>
          <a:lstStyle/>
          <a:p>
            <a:pPr indent="0" marL="0">
              <a:buNone/>
            </a:pPr>
            <a:r>
              <a:rPr lang="en-US" sz="1500" b="1" dirty="0">
                <a:solidFill>
                  <a:schemeClr val="tx2"/>
                </a:solidFill>
              </a:rPr>
              <a:t>MSU, Harvard</a:t>
            </a:r>
            <a:endParaRPr lang="en-US" sz="1500" dirty="0"/>
          </a:p>
        </p:txBody>
      </p:sp>
      <p:sp>
        <p:nvSpPr>
          <p:cNvPr id="19" name="src-2-sub"/>
          <p:cNvSpPr txBox="1"/>
          <p:nvPr/>
        </p:nvSpPr>
        <p:spPr>
          <a:xfrm>
            <a:off x="8494776" y="2953512"/>
            <a:ext cx="3154680" cy="310896"/>
          </a:xfrm>
          <a:prstGeom prst="rect">
            <a:avLst/>
          </a:prstGeom>
          <a:noFill/>
          <a:ln/>
        </p:spPr>
        <p:txBody>
          <a:bodyPr wrap="square" lIns="0" tIns="0" rIns="0" bIns="0" rtlCol="0" anchor="ctr"/>
          <a:lstStyle/>
          <a:p>
            <a:pPr indent="0" marL="0">
              <a:buNone/>
            </a:pPr>
            <a:r>
              <a:rPr lang="en-US" sz="1250" dirty="0">
                <a:solidFill>
                  <a:schemeClr val="accent4"/>
                </a:solidFill>
              </a:rPr>
              <a:t>new photos left of 1,028</a:t>
            </a:r>
            <a:endParaRPr lang="en-US" sz="1250" dirty="0"/>
          </a:p>
        </p:txBody>
      </p:sp>
      <p:sp>
        <p:nvSpPr>
          <p:cNvPr id="20" name="msu-band"/>
          <p:cNvSpPr/>
          <p:nvPr/>
        </p:nvSpPr>
        <p:spPr>
          <a:xfrm>
            <a:off x="777240" y="3566160"/>
            <a:ext cx="11045952" cy="822960"/>
          </a:xfrm>
          <a:prstGeom prst="rect">
            <a:avLst/>
          </a:prstGeom>
          <a:solidFill>
            <a:schemeClr val="tx2"/>
          </a:solidFill>
          <a:ln w="12700">
            <a:solidFill>
              <a:schemeClr val="tx2"/>
            </a:solidFill>
            <a:prstDash val="solid"/>
          </a:ln>
        </p:spPr>
      </p:sp>
      <p:sp>
        <p:nvSpPr>
          <p:cNvPr id="21" name="msu-text"/>
          <p:cNvSpPr txBox="1"/>
          <p:nvPr/>
        </p:nvSpPr>
        <p:spPr>
          <a:xfrm>
            <a:off x="1097280" y="3566160"/>
            <a:ext cx="10497312" cy="822960"/>
          </a:xfrm>
          <a:prstGeom prst="rect">
            <a:avLst/>
          </a:prstGeom>
          <a:noFill/>
          <a:ln/>
        </p:spPr>
        <p:txBody>
          <a:bodyPr wrap="square" lIns="0" tIns="0" rIns="0" bIns="0" rtlCol="0" anchor="ctr"/>
          <a:lstStyle/>
          <a:p>
            <a:pPr indent="0" marL="0">
              <a:buNone/>
            </a:pPr>
            <a:r>
              <a:rPr lang="en-US" sz="1700" b="1" dirty="0">
                <a:solidFill>
                  <a:schemeClr val="accent2"/>
                </a:solidFill>
              </a:rPr>
              <a:t>883 of MSU's 1,028 photos were exact copies of D1: the hash check stopped them leaking into test</a:t>
            </a:r>
            <a:endParaRPr lang="en-US" sz="1700" dirty="0"/>
          </a:p>
        </p:txBody>
      </p:sp>
      <p:sp>
        <p:nvSpPr>
          <p:cNvPr id="22" name="boxes-card"/>
          <p:cNvSpPr/>
          <p:nvPr/>
        </p:nvSpPr>
        <p:spPr>
          <a:xfrm>
            <a:off x="777240" y="4572000"/>
            <a:ext cx="5440680" cy="1600200"/>
          </a:xfrm>
          <a:prstGeom prst="rect">
            <a:avLst/>
          </a:prstGeom>
          <a:solidFill>
            <a:schemeClr val="bg1"/>
          </a:solidFill>
          <a:ln w="12700">
            <a:solidFill>
              <a:schemeClr val="bg2"/>
            </a:solidFill>
            <a:prstDash val="solid"/>
          </a:ln>
        </p:spPr>
      </p:sp>
      <p:sp>
        <p:nvSpPr>
          <p:cNvPr id="23" name="boxes-bar"/>
          <p:cNvSpPr/>
          <p:nvPr/>
        </p:nvSpPr>
        <p:spPr>
          <a:xfrm>
            <a:off x="777240" y="4572000"/>
            <a:ext cx="5440680" cy="82296"/>
          </a:xfrm>
          <a:prstGeom prst="rect">
            <a:avLst/>
          </a:prstGeom>
          <a:solidFill>
            <a:schemeClr val="accent2"/>
          </a:solidFill>
          <a:ln w="12700">
            <a:solidFill>
              <a:schemeClr val="accent2"/>
            </a:solidFill>
            <a:prstDash val="solid"/>
          </a:ln>
        </p:spPr>
      </p:sp>
      <p:sp>
        <p:nvSpPr>
          <p:cNvPr id="24" name="boxes-head"/>
          <p:cNvSpPr txBox="1"/>
          <p:nvPr/>
        </p:nvSpPr>
        <p:spPr>
          <a:xfrm>
            <a:off x="1051560" y="4754880"/>
            <a:ext cx="5029200" cy="411480"/>
          </a:xfrm>
          <a:prstGeom prst="rect">
            <a:avLst/>
          </a:prstGeom>
          <a:noFill/>
          <a:ln/>
        </p:spPr>
        <p:txBody>
          <a:bodyPr wrap="square" lIns="0" tIns="0" rIns="0" bIns="0" rtlCol="0" anchor="ctr"/>
          <a:lstStyle/>
          <a:p>
            <a:pPr indent="0" marL="0">
              <a:buNone/>
            </a:pPr>
            <a:r>
              <a:rPr lang="en-US" sz="1900" b="1" i="1" dirty="0">
                <a:solidFill>
                  <a:schemeClr val="tx2"/>
                </a:solidFill>
                <a:latin typeface="+mj-lt" pitchFamily="34" charset="0"/>
                <a:ea typeface="+mj-lt" pitchFamily="34" charset="-122"/>
                <a:cs typeface="+mj-lt" pitchFamily="34" charset="-120"/>
              </a:rPr>
              <a:t>715 photos · 932 damage boxes</a:t>
            </a:r>
            <a:endParaRPr lang="en-US" sz="1900" dirty="0"/>
          </a:p>
        </p:txBody>
      </p:sp>
      <p:sp>
        <p:nvSpPr>
          <p:cNvPr id="25" name="boxes-sub"/>
          <p:cNvSpPr txBox="1"/>
          <p:nvPr/>
        </p:nvSpPr>
        <p:spPr>
          <a:xfrm>
            <a:off x="1051560" y="5193792"/>
            <a:ext cx="5029200" cy="329184"/>
          </a:xfrm>
          <a:prstGeom prst="rect">
            <a:avLst/>
          </a:prstGeom>
          <a:noFill/>
          <a:ln/>
        </p:spPr>
        <p:txBody>
          <a:bodyPr wrap="square" lIns="0" tIns="0" rIns="0" bIns="0" rtlCol="0" anchor="ctr"/>
          <a:lstStyle/>
          <a:p>
            <a:pPr indent="0" marL="0">
              <a:buNone/>
            </a:pPr>
            <a:r>
              <a:rPr lang="en-US" sz="1200" dirty="0">
                <a:solidFill>
                  <a:schemeClr val="accent4"/>
                </a:solidFill>
              </a:rPr>
              <a:t>Roboflow Universe, CC BY 4.0; 77 copies of our eval photos removed</a:t>
            </a:r>
            <a:endParaRPr lang="en-US" sz="1200" dirty="0"/>
          </a:p>
        </p:txBody>
      </p:sp>
      <p:sp>
        <p:nvSpPr>
          <p:cNvPr id="26" name="cls-0"/>
          <p:cNvSpPr/>
          <p:nvPr/>
        </p:nvSpPr>
        <p:spPr>
          <a:xfrm>
            <a:off x="1051560" y="5623560"/>
            <a:ext cx="902513" cy="329184"/>
          </a:xfrm>
          <a:prstGeom prst="roundRect">
            <a:avLst>
              <a:gd name="adj" fmla="val 50000"/>
            </a:avLst>
          </a:prstGeom>
          <a:solidFill>
            <a:schemeClr val="accent3"/>
          </a:solidFill>
          <a:ln w="9525">
            <a:solidFill>
              <a:schemeClr val="accent1"/>
            </a:solidFill>
            <a:prstDash val="solid"/>
          </a:ln>
        </p:spPr>
      </p:sp>
      <p:sp>
        <p:nvSpPr>
          <p:cNvPr id="27" name="cls-0-text"/>
          <p:cNvSpPr txBox="1"/>
          <p:nvPr/>
        </p:nvSpPr>
        <p:spPr>
          <a:xfrm>
            <a:off x="1051560" y="5623560"/>
            <a:ext cx="902513" cy="329184"/>
          </a:xfrm>
          <a:prstGeom prst="rect">
            <a:avLst/>
          </a:prstGeom>
          <a:noFill/>
          <a:ln/>
        </p:spPr>
        <p:txBody>
          <a:bodyPr wrap="square" lIns="0" tIns="0" rIns="0" bIns="0" rtlCol="0" anchor="ctr"/>
          <a:lstStyle/>
          <a:p>
            <a:pPr algn="ctr" indent="0" marL="0">
              <a:buNone/>
            </a:pPr>
            <a:r>
              <a:rPr lang="en-US" sz="1100" dirty="0">
                <a:solidFill>
                  <a:schemeClr val="tx2"/>
                </a:solidFill>
              </a:rPr>
              <a:t>crack </a:t>
            </a:r>
            <a:pPr algn="ctr" indent="0" marL="0">
              <a:buNone/>
            </a:pPr>
            <a:r>
              <a:rPr lang="en-US" sz="1100" b="1" dirty="0">
                <a:solidFill>
                  <a:schemeClr val="tx2"/>
                </a:solidFill>
              </a:rPr>
              <a:t>489</a:t>
            </a:r>
            <a:endParaRPr lang="en-US" sz="1100" dirty="0"/>
          </a:p>
        </p:txBody>
      </p:sp>
      <p:sp>
        <p:nvSpPr>
          <p:cNvPr id="28" name="cls-1"/>
          <p:cNvSpPr/>
          <p:nvPr/>
        </p:nvSpPr>
        <p:spPr>
          <a:xfrm>
            <a:off x="2045513" y="5623560"/>
            <a:ext cx="1585570" cy="329184"/>
          </a:xfrm>
          <a:prstGeom prst="roundRect">
            <a:avLst>
              <a:gd name="adj" fmla="val 50000"/>
            </a:avLst>
          </a:prstGeom>
          <a:solidFill>
            <a:schemeClr val="accent3"/>
          </a:solidFill>
          <a:ln w="9525">
            <a:solidFill>
              <a:schemeClr val="accent1"/>
            </a:solidFill>
            <a:prstDash val="solid"/>
          </a:ln>
        </p:spPr>
      </p:sp>
      <p:sp>
        <p:nvSpPr>
          <p:cNvPr id="29" name="cls-1-text"/>
          <p:cNvSpPr txBox="1"/>
          <p:nvPr/>
        </p:nvSpPr>
        <p:spPr>
          <a:xfrm>
            <a:off x="2045513" y="5623560"/>
            <a:ext cx="1585570" cy="329184"/>
          </a:xfrm>
          <a:prstGeom prst="rect">
            <a:avLst/>
          </a:prstGeom>
          <a:noFill/>
          <a:ln/>
        </p:spPr>
        <p:txBody>
          <a:bodyPr wrap="square" lIns="0" tIns="0" rIns="0" bIns="0" rtlCol="0" anchor="ctr"/>
          <a:lstStyle/>
          <a:p>
            <a:pPr algn="ctr" indent="0" marL="0">
              <a:buNone/>
            </a:pPr>
            <a:r>
              <a:rPr lang="en-US" sz="1100" dirty="0">
                <a:solidFill>
                  <a:schemeClr val="tx2"/>
                </a:solidFill>
              </a:rPr>
              <a:t>foreign object </a:t>
            </a:r>
            <a:pPr algn="ctr" indent="0" marL="0">
              <a:buNone/>
            </a:pPr>
            <a:r>
              <a:rPr lang="en-US" sz="1100" b="1" dirty="0">
                <a:solidFill>
                  <a:schemeClr val="tx2"/>
                </a:solidFill>
              </a:rPr>
              <a:t>196</a:t>
            </a:r>
            <a:endParaRPr lang="en-US" sz="1100" dirty="0"/>
          </a:p>
        </p:txBody>
      </p:sp>
      <p:sp>
        <p:nvSpPr>
          <p:cNvPr id="30" name="cls-2"/>
          <p:cNvSpPr/>
          <p:nvPr/>
        </p:nvSpPr>
        <p:spPr>
          <a:xfrm>
            <a:off x="3722522" y="5623560"/>
            <a:ext cx="826618" cy="329184"/>
          </a:xfrm>
          <a:prstGeom prst="roundRect">
            <a:avLst>
              <a:gd name="adj" fmla="val 50000"/>
            </a:avLst>
          </a:prstGeom>
          <a:solidFill>
            <a:schemeClr val="accent3"/>
          </a:solidFill>
          <a:ln w="9525">
            <a:solidFill>
              <a:schemeClr val="accent1"/>
            </a:solidFill>
            <a:prstDash val="solid"/>
          </a:ln>
        </p:spPr>
      </p:sp>
      <p:sp>
        <p:nvSpPr>
          <p:cNvPr id="31" name="cls-2-text"/>
          <p:cNvSpPr txBox="1"/>
          <p:nvPr/>
        </p:nvSpPr>
        <p:spPr>
          <a:xfrm>
            <a:off x="3722522" y="5623560"/>
            <a:ext cx="826618" cy="329184"/>
          </a:xfrm>
          <a:prstGeom prst="rect">
            <a:avLst/>
          </a:prstGeom>
          <a:noFill/>
          <a:ln/>
        </p:spPr>
        <p:txBody>
          <a:bodyPr wrap="square" lIns="0" tIns="0" rIns="0" bIns="0" rtlCol="0" anchor="ctr"/>
          <a:lstStyle/>
          <a:p>
            <a:pPr algn="ctr" indent="0" marL="0">
              <a:buNone/>
            </a:pPr>
            <a:r>
              <a:rPr lang="en-US" sz="1100" dirty="0">
                <a:solidFill>
                  <a:schemeClr val="tx2"/>
                </a:solidFill>
              </a:rPr>
              <a:t>chunk </a:t>
            </a:r>
            <a:pPr algn="ctr" indent="0" marL="0">
              <a:buNone/>
            </a:pPr>
            <a:r>
              <a:rPr lang="en-US" sz="1100" b="1" dirty="0">
                <a:solidFill>
                  <a:schemeClr val="tx2"/>
                </a:solidFill>
              </a:rPr>
              <a:t>93</a:t>
            </a:r>
            <a:endParaRPr lang="en-US" sz="1100" dirty="0"/>
          </a:p>
        </p:txBody>
      </p:sp>
      <p:sp>
        <p:nvSpPr>
          <p:cNvPr id="32" name="cls-3"/>
          <p:cNvSpPr/>
          <p:nvPr/>
        </p:nvSpPr>
        <p:spPr>
          <a:xfrm>
            <a:off x="4640580" y="5623560"/>
            <a:ext cx="826618" cy="329184"/>
          </a:xfrm>
          <a:prstGeom prst="roundRect">
            <a:avLst>
              <a:gd name="adj" fmla="val 50000"/>
            </a:avLst>
          </a:prstGeom>
          <a:solidFill>
            <a:schemeClr val="accent3"/>
          </a:solidFill>
          <a:ln w="9525">
            <a:solidFill>
              <a:schemeClr val="accent1"/>
            </a:solidFill>
            <a:prstDash val="solid"/>
          </a:ln>
        </p:spPr>
      </p:sp>
      <p:sp>
        <p:nvSpPr>
          <p:cNvPr id="33" name="cls-3-text"/>
          <p:cNvSpPr txBox="1"/>
          <p:nvPr/>
        </p:nvSpPr>
        <p:spPr>
          <a:xfrm>
            <a:off x="4640580" y="5623560"/>
            <a:ext cx="826618" cy="329184"/>
          </a:xfrm>
          <a:prstGeom prst="rect">
            <a:avLst/>
          </a:prstGeom>
          <a:noFill/>
          <a:ln/>
        </p:spPr>
        <p:txBody>
          <a:bodyPr wrap="square" lIns="0" tIns="0" rIns="0" bIns="0" rtlCol="0" anchor="ctr"/>
          <a:lstStyle/>
          <a:p>
            <a:pPr algn="ctr" indent="0" marL="0">
              <a:buNone/>
            </a:pPr>
            <a:r>
              <a:rPr lang="en-US" sz="1100" dirty="0">
                <a:solidFill>
                  <a:schemeClr val="tx2"/>
                </a:solidFill>
              </a:rPr>
              <a:t>bulge </a:t>
            </a:r>
            <a:pPr algn="ctr" indent="0" marL="0">
              <a:buNone/>
            </a:pPr>
            <a:r>
              <a:rPr lang="en-US" sz="1100" b="1" dirty="0">
                <a:solidFill>
                  <a:schemeClr val="tx2"/>
                </a:solidFill>
              </a:rPr>
              <a:t>80</a:t>
            </a:r>
            <a:endParaRPr lang="en-US" sz="1100" dirty="0"/>
          </a:p>
        </p:txBody>
      </p:sp>
      <p:sp>
        <p:nvSpPr>
          <p:cNvPr id="34" name="cls-4"/>
          <p:cNvSpPr/>
          <p:nvPr/>
        </p:nvSpPr>
        <p:spPr>
          <a:xfrm>
            <a:off x="5558638" y="5623560"/>
            <a:ext cx="674827" cy="329184"/>
          </a:xfrm>
          <a:prstGeom prst="roundRect">
            <a:avLst>
              <a:gd name="adj" fmla="val 50000"/>
            </a:avLst>
          </a:prstGeom>
          <a:solidFill>
            <a:schemeClr val="accent3"/>
          </a:solidFill>
          <a:ln w="9525">
            <a:solidFill>
              <a:schemeClr val="accent1"/>
            </a:solidFill>
            <a:prstDash val="solid"/>
          </a:ln>
        </p:spPr>
      </p:sp>
      <p:sp>
        <p:nvSpPr>
          <p:cNvPr id="35" name="cls-4-text"/>
          <p:cNvSpPr txBox="1"/>
          <p:nvPr/>
        </p:nvSpPr>
        <p:spPr>
          <a:xfrm>
            <a:off x="5558638" y="5623560"/>
            <a:ext cx="674827" cy="329184"/>
          </a:xfrm>
          <a:prstGeom prst="rect">
            <a:avLst/>
          </a:prstGeom>
          <a:noFill/>
          <a:ln/>
        </p:spPr>
        <p:txBody>
          <a:bodyPr wrap="square" lIns="0" tIns="0" rIns="0" bIns="0" rtlCol="0" anchor="ctr"/>
          <a:lstStyle/>
          <a:p>
            <a:pPr algn="ctr" indent="0" marL="0">
              <a:buNone/>
            </a:pPr>
            <a:r>
              <a:rPr lang="en-US" sz="1100" dirty="0">
                <a:solidFill>
                  <a:schemeClr val="tx2"/>
                </a:solidFill>
              </a:rPr>
              <a:t>cut </a:t>
            </a:r>
            <a:pPr algn="ctr" indent="0" marL="0">
              <a:buNone/>
            </a:pPr>
            <a:r>
              <a:rPr lang="en-US" sz="1100" b="1" dirty="0">
                <a:solidFill>
                  <a:schemeClr val="tx2"/>
                </a:solidFill>
              </a:rPr>
              <a:t>74</a:t>
            </a:r>
            <a:endParaRPr lang="en-US" sz="1100" dirty="0"/>
          </a:p>
        </p:txBody>
      </p:sp>
      <p:sp>
        <p:nvSpPr>
          <p:cNvPr id="36" name="split-card"/>
          <p:cNvSpPr/>
          <p:nvPr/>
        </p:nvSpPr>
        <p:spPr>
          <a:xfrm>
            <a:off x="6382512" y="4572000"/>
            <a:ext cx="5440680" cy="1600200"/>
          </a:xfrm>
          <a:prstGeom prst="rect">
            <a:avLst/>
          </a:prstGeom>
          <a:solidFill>
            <a:schemeClr val="bg1"/>
          </a:solidFill>
          <a:ln w="12700">
            <a:solidFill>
              <a:schemeClr val="bg2"/>
            </a:solidFill>
            <a:prstDash val="solid"/>
          </a:ln>
        </p:spPr>
      </p:sp>
      <p:sp>
        <p:nvSpPr>
          <p:cNvPr id="37" name="split-bar"/>
          <p:cNvSpPr/>
          <p:nvPr/>
        </p:nvSpPr>
        <p:spPr>
          <a:xfrm>
            <a:off x="6382512" y="4572000"/>
            <a:ext cx="5440680" cy="82296"/>
          </a:xfrm>
          <a:prstGeom prst="rect">
            <a:avLst/>
          </a:prstGeom>
          <a:solidFill>
            <a:schemeClr val="accent2"/>
          </a:solidFill>
          <a:ln w="12700">
            <a:solidFill>
              <a:schemeClr val="accent2"/>
            </a:solidFill>
            <a:prstDash val="solid"/>
          </a:ln>
        </p:spPr>
      </p:sp>
      <p:sp>
        <p:nvSpPr>
          <p:cNvPr id="38" name="split-head"/>
          <p:cNvSpPr txBox="1"/>
          <p:nvPr/>
        </p:nvSpPr>
        <p:spPr>
          <a:xfrm>
            <a:off x="6656832" y="4754880"/>
            <a:ext cx="5029200" cy="411480"/>
          </a:xfrm>
          <a:prstGeom prst="rect">
            <a:avLst/>
          </a:prstGeom>
          <a:noFill/>
          <a:ln/>
        </p:spPr>
        <p:txBody>
          <a:bodyPr wrap="square" lIns="0" tIns="0" rIns="0" bIns="0" rtlCol="0" anchor="ctr"/>
          <a:lstStyle/>
          <a:p>
            <a:pPr indent="0" marL="0">
              <a:buNone/>
            </a:pPr>
            <a:r>
              <a:rPr lang="en-US" sz="1900" b="1" i="1" dirty="0">
                <a:solidFill>
                  <a:schemeClr val="tx2"/>
                </a:solidFill>
                <a:latin typeface="+mj-lt" pitchFamily="34" charset="0"/>
                <a:ea typeface="+mj-lt" pitchFamily="34" charset="-122"/>
                <a:cs typeface="+mj-lt" pitchFamily="34" charset="-120"/>
              </a:rPr>
              <a:t>Split by tyre, per source</a:t>
            </a:r>
            <a:endParaRPr lang="en-US" sz="1900" dirty="0"/>
          </a:p>
        </p:txBody>
      </p:sp>
      <p:sp>
        <p:nvSpPr>
          <p:cNvPr id="39" name="split-list"/>
          <p:cNvSpPr txBox="1"/>
          <p:nvPr/>
        </p:nvSpPr>
        <p:spPr>
          <a:xfrm>
            <a:off x="6656832" y="5230368"/>
            <a:ext cx="5029200" cy="868680"/>
          </a:xfrm>
          <a:prstGeom prst="rect">
            <a:avLst/>
          </a:prstGeom>
          <a:noFill/>
          <a:ln/>
        </p:spPr>
        <p:txBody>
          <a:bodyPr wrap="square" lIns="508" tIns="508" rIns="508" bIns="508" rtlCol="0" anchor="t"/>
          <a:lstStyle/>
          <a:p>
            <a:pPr marL="342900" indent="-342900">
              <a:spcAft>
                <a:spcPts val="1000"/>
              </a:spcAft>
              <a:buSzPct val="100000"/>
              <a:buChar char="■"/>
            </a:pPr>
            <a:r>
              <a:rPr lang="en-US" sz="1300" dirty="0">
                <a:solidFill>
                  <a:schemeClr val="tx1"/>
                </a:solidFill>
              </a:rPr>
              <a:t>70 / 15 / 15: train · calibration + policy · locked test</a:t>
            </a:r>
            <a:endParaRPr lang="en-US" sz="1300" dirty="0"/>
          </a:p>
          <a:p>
            <a:pPr marL="342900" indent="-342900">
              <a:spcAft>
                <a:spcPts val="1000"/>
              </a:spcAft>
              <a:buSzPct val="100000"/>
              <a:buChar char="■"/>
            </a:pPr>
            <a:r>
              <a:rPr lang="en-US" sz="1300" dirty="0">
                <a:solidFill>
                  <a:schemeClr val="tx1"/>
                </a:solidFill>
              </a:rPr>
              <a:t>Adding sources moved no D1 photo (tested)</a:t>
            </a:r>
            <a:endParaRPr lang="en-US" sz="1300" dirty="0"/>
          </a:p>
        </p:txBody>
      </p:sp>
      <p:sp>
        <p:nvSpPr>
          <p:cNvPr id="25" name="Slide Number Placeholder 0"/>
          <p:cNvSpPr>
            <a:spLocks noGrp="1"/>
          </p:cNvSpPr>
          <p:nvPr>
            <p:ph type="sldNum" sz="quarter" idx="4294967295"/>
          </p:nvPr>
        </p:nvSpPr>
        <p:spPr>
          <a:xfrm>
            <a:off x="10972800" y="6400800"/>
            <a:ext cx="310896"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100">
                <a:solidFill>
                  <a:schemeClr val="accent4"/>
                </a:solidFill>
                <a:latin typeface="+mn-lt"/>
                <a:ea typeface="+mn-lt"/>
                <a:cs typeface="+mn-lt"/>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body" hasCustomPrompt="1"/>
          </p:nvPr>
        </p:nvSpPr>
        <p:spPr>
          <a:xfrm>
            <a:off x="777240" y="384048"/>
            <a:ext cx="10058400" cy="365760"/>
          </a:xfrm>
          <a:prstGeom prst="rect">
            <a:avLst/>
          </a:prstGeom>
          <a:noFill/>
          <a:ln/>
        </p:spPr>
        <p:txBody>
          <a:bodyPr wrap="square" lIns="0" tIns="0" rIns="0" bIns="0" rtlCol="0" anchor="ctr"/>
          <a:lstStyle/>
          <a:p>
            <a:pPr indent="0" marL="0">
              <a:buNone/>
            </a:pPr>
            <a:r>
              <a:rPr lang="en-US" sz="1400" b="1" dirty="0">
                <a:solidFill>
                  <a:schemeClr val="accent1"/>
                </a:solidFill>
              </a:rPr>
              <a:t>ARCHITECTURE AND TOOLS</a:t>
            </a:r>
            <a:endParaRPr lang="en-US" sz="1400" dirty="0"/>
          </a:p>
        </p:txBody>
      </p:sp>
      <p:sp>
        <p:nvSpPr>
          <p:cNvPr id="3" name="Text 2"/>
          <p:cNvSpPr/>
          <p:nvPr>
            <p:ph idx="103" type="title" hasCustomPrompt="1"/>
          </p:nvPr>
        </p:nvSpPr>
        <p:spPr>
          <a:xfrm>
            <a:off x="777240" y="731520"/>
            <a:ext cx="11064240" cy="822960"/>
          </a:xfrm>
          <a:prstGeom prst="rect">
            <a:avLst/>
          </a:prstGeom>
          <a:noFill/>
          <a:ln/>
        </p:spPr>
        <p:txBody>
          <a:bodyPr wrap="square" lIns="0" tIns="0" rIns="0" bIns="0" rtlCol="0" anchor="ctr"/>
          <a:lstStyle/>
          <a:p>
            <a:pPr algn="l" indent="0" marL="0">
              <a:buNone/>
            </a:pPr>
            <a:r>
              <a:rPr lang="en-US" sz="3000" b="1" i="1" dirty="0">
                <a:solidFill>
                  <a:schemeClr val="tx2"/>
                </a:solidFill>
              </a:rPr>
              <a:t>Six stages, one traced loop</a:t>
            </a:r>
            <a:endParaRPr lang="en-US" sz="3000" dirty="0"/>
          </a:p>
        </p:txBody>
      </p:sp>
      <p:sp>
        <p:nvSpPr>
          <p:cNvPr id="5" name="step-0-card"/>
          <p:cNvSpPr/>
          <p:nvPr/>
        </p:nvSpPr>
        <p:spPr>
          <a:xfrm>
            <a:off x="777240" y="2011680"/>
            <a:ext cx="1627632" cy="2468880"/>
          </a:xfrm>
          <a:prstGeom prst="rect">
            <a:avLst/>
          </a:prstGeom>
          <a:solidFill>
            <a:schemeClr val="bg1"/>
          </a:solidFill>
          <a:ln w="12700">
            <a:solidFill>
              <a:schemeClr val="bg2"/>
            </a:solidFill>
            <a:prstDash val="solid"/>
          </a:ln>
        </p:spPr>
      </p:sp>
      <p:sp>
        <p:nvSpPr>
          <p:cNvPr id="6" name="step-0-bar"/>
          <p:cNvSpPr/>
          <p:nvPr/>
        </p:nvSpPr>
        <p:spPr>
          <a:xfrm>
            <a:off x="777240" y="2011680"/>
            <a:ext cx="1627632" cy="82296"/>
          </a:xfrm>
          <a:prstGeom prst="rect">
            <a:avLst/>
          </a:prstGeom>
          <a:solidFill>
            <a:schemeClr val="accent2"/>
          </a:solidFill>
          <a:ln w="12700">
            <a:solidFill>
              <a:schemeClr val="accent2"/>
            </a:solidFill>
            <a:prstDash val="solid"/>
          </a:ln>
        </p:spPr>
      </p:sp>
      <p:sp>
        <p:nvSpPr>
          <p:cNvPr id="7" name="step-0-dot"/>
          <p:cNvSpPr/>
          <p:nvPr/>
        </p:nvSpPr>
        <p:spPr>
          <a:xfrm>
            <a:off x="1344168" y="2240280"/>
            <a:ext cx="493776" cy="493776"/>
          </a:xfrm>
          <a:prstGeom prst="ellipse">
            <a:avLst/>
          </a:prstGeom>
          <a:solidFill>
            <a:schemeClr val="tx2"/>
          </a:solidFill>
          <a:ln w="12700">
            <a:solidFill>
              <a:schemeClr val="tx2"/>
            </a:solidFill>
            <a:prstDash val="solid"/>
          </a:ln>
        </p:spPr>
      </p:sp>
      <p:sp>
        <p:nvSpPr>
          <p:cNvPr id="8" name="step-0-num"/>
          <p:cNvSpPr txBox="1"/>
          <p:nvPr/>
        </p:nvSpPr>
        <p:spPr>
          <a:xfrm>
            <a:off x="1344168" y="2240280"/>
            <a:ext cx="493776" cy="493776"/>
          </a:xfrm>
          <a:prstGeom prst="rect">
            <a:avLst/>
          </a:prstGeom>
          <a:noFill/>
          <a:ln/>
        </p:spPr>
        <p:txBody>
          <a:bodyPr wrap="square" lIns="0" tIns="0" rIns="0" bIns="0" rtlCol="0" anchor="ctr"/>
          <a:lstStyle/>
          <a:p>
            <a:pPr algn="ctr" indent="0" marL="0">
              <a:buNone/>
            </a:pPr>
            <a:r>
              <a:rPr lang="en-US" sz="1800" b="1" i="1" dirty="0">
                <a:solidFill>
                  <a:schemeClr val="accent2"/>
                </a:solidFill>
                <a:latin typeface="+mj-lt" pitchFamily="34" charset="0"/>
                <a:ea typeface="+mj-lt" pitchFamily="34" charset="-122"/>
                <a:cs typeface="+mj-lt" pitchFamily="34" charset="-120"/>
              </a:rPr>
              <a:t>1</a:t>
            </a:r>
            <a:endParaRPr lang="en-US" sz="1800" dirty="0"/>
          </a:p>
        </p:txBody>
      </p:sp>
      <p:sp>
        <p:nvSpPr>
          <p:cNvPr id="9" name="step-0-name"/>
          <p:cNvSpPr txBox="1"/>
          <p:nvPr/>
        </p:nvSpPr>
        <p:spPr>
          <a:xfrm>
            <a:off x="822960" y="2926080"/>
            <a:ext cx="1536192" cy="502920"/>
          </a:xfrm>
          <a:prstGeom prst="rect">
            <a:avLst/>
          </a:prstGeom>
          <a:noFill/>
          <a:ln/>
        </p:spPr>
        <p:txBody>
          <a:bodyPr wrap="square" lIns="0" tIns="0" rIns="0" bIns="0" rtlCol="0" anchor="ctr"/>
          <a:lstStyle/>
          <a:p>
            <a:pPr algn="ctr" indent="0" marL="0">
              <a:buNone/>
            </a:pPr>
            <a:r>
              <a:rPr lang="en-US" sz="1800" b="1" i="1" dirty="0">
                <a:solidFill>
                  <a:schemeClr val="tx2"/>
                </a:solidFill>
                <a:latin typeface="+mj-lt" pitchFamily="34" charset="0"/>
                <a:ea typeface="+mj-lt" pitchFamily="34" charset="-122"/>
                <a:cs typeface="+mj-lt" pitchFamily="34" charset="-120"/>
              </a:rPr>
              <a:t>Version</a:t>
            </a:r>
            <a:endParaRPr lang="en-US" sz="1800" dirty="0"/>
          </a:p>
        </p:txBody>
      </p:sp>
      <p:sp>
        <p:nvSpPr>
          <p:cNvPr id="10" name="step-0-tool"/>
          <p:cNvSpPr txBox="1"/>
          <p:nvPr/>
        </p:nvSpPr>
        <p:spPr>
          <a:xfrm>
            <a:off x="868680" y="3520440"/>
            <a:ext cx="1444752" cy="822960"/>
          </a:xfrm>
          <a:prstGeom prst="rect">
            <a:avLst/>
          </a:prstGeom>
          <a:noFill/>
          <a:ln/>
        </p:spPr>
        <p:txBody>
          <a:bodyPr wrap="square" lIns="0" tIns="0" rIns="0" bIns="0" rtlCol="0" anchor="t"/>
          <a:lstStyle/>
          <a:p>
            <a:pPr algn="ctr" indent="0" marL="0">
              <a:buNone/>
            </a:pPr>
            <a:r>
              <a:rPr lang="en-US" sz="1400" dirty="0">
                <a:solidFill>
                  <a:schemeClr val="accent4"/>
                </a:solidFill>
              </a:rPr>
              <a:t>DVC: 3 sources, 3,665 photos</a:t>
            </a:r>
            <a:endParaRPr lang="en-US" sz="1400" dirty="0"/>
          </a:p>
        </p:txBody>
      </p:sp>
      <p:sp>
        <p:nvSpPr>
          <p:cNvPr id="11" name="step-0-chevron"/>
          <p:cNvSpPr txBox="1"/>
          <p:nvPr/>
        </p:nvSpPr>
        <p:spPr>
          <a:xfrm>
            <a:off x="2386584" y="3017520"/>
            <a:ext cx="219456" cy="457200"/>
          </a:xfrm>
          <a:prstGeom prst="rect">
            <a:avLst/>
          </a:prstGeom>
          <a:noFill/>
          <a:ln/>
        </p:spPr>
        <p:txBody>
          <a:bodyPr wrap="square" lIns="0" tIns="0" rIns="0" bIns="0" rtlCol="0" anchor="ctr"/>
          <a:lstStyle/>
          <a:p>
            <a:pPr algn="ctr" indent="0" marL="0">
              <a:buNone/>
            </a:pPr>
            <a:r>
              <a:rPr lang="en-US" sz="2800" b="1" dirty="0">
                <a:solidFill>
                  <a:schemeClr val="accent1"/>
                </a:solidFill>
              </a:rPr>
              <a:t>›</a:t>
            </a:r>
            <a:endParaRPr lang="en-US" sz="2800" dirty="0"/>
          </a:p>
        </p:txBody>
      </p:sp>
      <p:sp>
        <p:nvSpPr>
          <p:cNvPr id="12" name="step-1-card"/>
          <p:cNvSpPr/>
          <p:nvPr/>
        </p:nvSpPr>
        <p:spPr>
          <a:xfrm>
            <a:off x="2587752" y="2011680"/>
            <a:ext cx="1627632" cy="2468880"/>
          </a:xfrm>
          <a:prstGeom prst="rect">
            <a:avLst/>
          </a:prstGeom>
          <a:solidFill>
            <a:schemeClr val="bg1"/>
          </a:solidFill>
          <a:ln w="12700">
            <a:solidFill>
              <a:schemeClr val="bg2"/>
            </a:solidFill>
            <a:prstDash val="solid"/>
          </a:ln>
        </p:spPr>
      </p:sp>
      <p:sp>
        <p:nvSpPr>
          <p:cNvPr id="13" name="step-1-bar"/>
          <p:cNvSpPr/>
          <p:nvPr/>
        </p:nvSpPr>
        <p:spPr>
          <a:xfrm>
            <a:off x="2587752" y="2011680"/>
            <a:ext cx="1627632" cy="82296"/>
          </a:xfrm>
          <a:prstGeom prst="rect">
            <a:avLst/>
          </a:prstGeom>
          <a:solidFill>
            <a:schemeClr val="accent2"/>
          </a:solidFill>
          <a:ln w="12700">
            <a:solidFill>
              <a:schemeClr val="accent2"/>
            </a:solidFill>
            <a:prstDash val="solid"/>
          </a:ln>
        </p:spPr>
      </p:sp>
      <p:sp>
        <p:nvSpPr>
          <p:cNvPr id="14" name="step-1-dot"/>
          <p:cNvSpPr/>
          <p:nvPr/>
        </p:nvSpPr>
        <p:spPr>
          <a:xfrm>
            <a:off x="3154680" y="2240280"/>
            <a:ext cx="493776" cy="493776"/>
          </a:xfrm>
          <a:prstGeom prst="ellipse">
            <a:avLst/>
          </a:prstGeom>
          <a:solidFill>
            <a:schemeClr val="tx2"/>
          </a:solidFill>
          <a:ln w="12700">
            <a:solidFill>
              <a:schemeClr val="tx2"/>
            </a:solidFill>
            <a:prstDash val="solid"/>
          </a:ln>
        </p:spPr>
      </p:sp>
      <p:sp>
        <p:nvSpPr>
          <p:cNvPr id="15" name="step-1-num"/>
          <p:cNvSpPr txBox="1"/>
          <p:nvPr/>
        </p:nvSpPr>
        <p:spPr>
          <a:xfrm>
            <a:off x="3154680" y="2240280"/>
            <a:ext cx="493776" cy="493776"/>
          </a:xfrm>
          <a:prstGeom prst="rect">
            <a:avLst/>
          </a:prstGeom>
          <a:noFill/>
          <a:ln/>
        </p:spPr>
        <p:txBody>
          <a:bodyPr wrap="square" lIns="0" tIns="0" rIns="0" bIns="0" rtlCol="0" anchor="ctr"/>
          <a:lstStyle/>
          <a:p>
            <a:pPr algn="ctr" indent="0" marL="0">
              <a:buNone/>
            </a:pPr>
            <a:r>
              <a:rPr lang="en-US" sz="1800" b="1" i="1" dirty="0">
                <a:solidFill>
                  <a:schemeClr val="accent2"/>
                </a:solidFill>
                <a:latin typeface="+mj-lt" pitchFamily="34" charset="0"/>
                <a:ea typeface="+mj-lt" pitchFamily="34" charset="-122"/>
                <a:cs typeface="+mj-lt" pitchFamily="34" charset="-120"/>
              </a:rPr>
              <a:t>2</a:t>
            </a:r>
            <a:endParaRPr lang="en-US" sz="1800" dirty="0"/>
          </a:p>
        </p:txBody>
      </p:sp>
      <p:sp>
        <p:nvSpPr>
          <p:cNvPr id="16" name="step-1-name"/>
          <p:cNvSpPr txBox="1"/>
          <p:nvPr/>
        </p:nvSpPr>
        <p:spPr>
          <a:xfrm>
            <a:off x="2633472" y="2926080"/>
            <a:ext cx="1536192" cy="502920"/>
          </a:xfrm>
          <a:prstGeom prst="rect">
            <a:avLst/>
          </a:prstGeom>
          <a:noFill/>
          <a:ln/>
        </p:spPr>
        <p:txBody>
          <a:bodyPr wrap="square" lIns="0" tIns="0" rIns="0" bIns="0" rtlCol="0" anchor="ctr"/>
          <a:lstStyle/>
          <a:p>
            <a:pPr algn="ctr" indent="0" marL="0">
              <a:buNone/>
            </a:pPr>
            <a:r>
              <a:rPr lang="en-US" sz="1800" b="1" i="1" dirty="0">
                <a:solidFill>
                  <a:schemeClr val="tx2"/>
                </a:solidFill>
                <a:latin typeface="+mj-lt" pitchFamily="34" charset="0"/>
                <a:ea typeface="+mj-lt" pitchFamily="34" charset="-122"/>
                <a:cs typeface="+mj-lt" pitchFamily="34" charset="-120"/>
              </a:rPr>
              <a:t>Train</a:t>
            </a:r>
            <a:endParaRPr lang="en-US" sz="1800" dirty="0"/>
          </a:p>
        </p:txBody>
      </p:sp>
      <p:sp>
        <p:nvSpPr>
          <p:cNvPr id="17" name="step-1-tool"/>
          <p:cNvSpPr txBox="1"/>
          <p:nvPr/>
        </p:nvSpPr>
        <p:spPr>
          <a:xfrm>
            <a:off x="2679192" y="3520440"/>
            <a:ext cx="1444752" cy="822960"/>
          </a:xfrm>
          <a:prstGeom prst="rect">
            <a:avLst/>
          </a:prstGeom>
          <a:noFill/>
          <a:ln/>
        </p:spPr>
        <p:txBody>
          <a:bodyPr wrap="square" lIns="0" tIns="0" rIns="0" bIns="0" rtlCol="0" anchor="t"/>
          <a:lstStyle/>
          <a:p>
            <a:pPr algn="ctr" indent="0" marL="0">
              <a:buNone/>
            </a:pPr>
            <a:r>
              <a:rPr lang="en-US" sz="1400" dirty="0">
                <a:solidFill>
                  <a:schemeClr val="accent4"/>
                </a:solidFill>
              </a:rPr>
              <a:t>ConvNeXt / YOLO26, MLflow</a:t>
            </a:r>
            <a:endParaRPr lang="en-US" sz="1400" dirty="0"/>
          </a:p>
        </p:txBody>
      </p:sp>
      <p:sp>
        <p:nvSpPr>
          <p:cNvPr id="18" name="step-1-chevron"/>
          <p:cNvSpPr txBox="1"/>
          <p:nvPr/>
        </p:nvSpPr>
        <p:spPr>
          <a:xfrm>
            <a:off x="4197096" y="3017520"/>
            <a:ext cx="219456" cy="457200"/>
          </a:xfrm>
          <a:prstGeom prst="rect">
            <a:avLst/>
          </a:prstGeom>
          <a:noFill/>
          <a:ln/>
        </p:spPr>
        <p:txBody>
          <a:bodyPr wrap="square" lIns="0" tIns="0" rIns="0" bIns="0" rtlCol="0" anchor="ctr"/>
          <a:lstStyle/>
          <a:p>
            <a:pPr algn="ctr" indent="0" marL="0">
              <a:buNone/>
            </a:pPr>
            <a:r>
              <a:rPr lang="en-US" sz="2800" b="1" dirty="0">
                <a:solidFill>
                  <a:schemeClr val="accent1"/>
                </a:solidFill>
              </a:rPr>
              <a:t>›</a:t>
            </a:r>
            <a:endParaRPr lang="en-US" sz="2800" dirty="0"/>
          </a:p>
        </p:txBody>
      </p:sp>
      <p:sp>
        <p:nvSpPr>
          <p:cNvPr id="19" name="step-2-card"/>
          <p:cNvSpPr/>
          <p:nvPr/>
        </p:nvSpPr>
        <p:spPr>
          <a:xfrm>
            <a:off x="4398264" y="2011680"/>
            <a:ext cx="1627632" cy="2468880"/>
          </a:xfrm>
          <a:prstGeom prst="rect">
            <a:avLst/>
          </a:prstGeom>
          <a:solidFill>
            <a:schemeClr val="bg1"/>
          </a:solidFill>
          <a:ln w="12700">
            <a:solidFill>
              <a:schemeClr val="bg2"/>
            </a:solidFill>
            <a:prstDash val="solid"/>
          </a:ln>
        </p:spPr>
      </p:sp>
      <p:sp>
        <p:nvSpPr>
          <p:cNvPr id="20" name="step-2-bar"/>
          <p:cNvSpPr/>
          <p:nvPr/>
        </p:nvSpPr>
        <p:spPr>
          <a:xfrm>
            <a:off x="4398264" y="2011680"/>
            <a:ext cx="1627632" cy="82296"/>
          </a:xfrm>
          <a:prstGeom prst="rect">
            <a:avLst/>
          </a:prstGeom>
          <a:solidFill>
            <a:schemeClr val="accent2"/>
          </a:solidFill>
          <a:ln w="12700">
            <a:solidFill>
              <a:schemeClr val="accent2"/>
            </a:solidFill>
            <a:prstDash val="solid"/>
          </a:ln>
        </p:spPr>
      </p:sp>
      <p:sp>
        <p:nvSpPr>
          <p:cNvPr id="21" name="step-2-dot"/>
          <p:cNvSpPr/>
          <p:nvPr/>
        </p:nvSpPr>
        <p:spPr>
          <a:xfrm>
            <a:off x="4965192" y="2240280"/>
            <a:ext cx="493776" cy="493776"/>
          </a:xfrm>
          <a:prstGeom prst="ellipse">
            <a:avLst/>
          </a:prstGeom>
          <a:solidFill>
            <a:schemeClr val="tx2"/>
          </a:solidFill>
          <a:ln w="12700">
            <a:solidFill>
              <a:schemeClr val="tx2"/>
            </a:solidFill>
            <a:prstDash val="solid"/>
          </a:ln>
        </p:spPr>
      </p:sp>
      <p:sp>
        <p:nvSpPr>
          <p:cNvPr id="22" name="step-2-num"/>
          <p:cNvSpPr txBox="1"/>
          <p:nvPr/>
        </p:nvSpPr>
        <p:spPr>
          <a:xfrm>
            <a:off x="4965192" y="2240280"/>
            <a:ext cx="493776" cy="493776"/>
          </a:xfrm>
          <a:prstGeom prst="rect">
            <a:avLst/>
          </a:prstGeom>
          <a:noFill/>
          <a:ln/>
        </p:spPr>
        <p:txBody>
          <a:bodyPr wrap="square" lIns="0" tIns="0" rIns="0" bIns="0" rtlCol="0" anchor="ctr"/>
          <a:lstStyle/>
          <a:p>
            <a:pPr algn="ctr" indent="0" marL="0">
              <a:buNone/>
            </a:pPr>
            <a:r>
              <a:rPr lang="en-US" sz="1800" b="1" i="1" dirty="0">
                <a:solidFill>
                  <a:schemeClr val="accent2"/>
                </a:solidFill>
                <a:latin typeface="+mj-lt" pitchFamily="34" charset="0"/>
                <a:ea typeface="+mj-lt" pitchFamily="34" charset="-122"/>
                <a:cs typeface="+mj-lt" pitchFamily="34" charset="-120"/>
              </a:rPr>
              <a:t>3</a:t>
            </a:r>
            <a:endParaRPr lang="en-US" sz="1800" dirty="0"/>
          </a:p>
        </p:txBody>
      </p:sp>
      <p:sp>
        <p:nvSpPr>
          <p:cNvPr id="23" name="step-2-name"/>
          <p:cNvSpPr txBox="1"/>
          <p:nvPr/>
        </p:nvSpPr>
        <p:spPr>
          <a:xfrm>
            <a:off x="4443984" y="2926080"/>
            <a:ext cx="1536192" cy="502920"/>
          </a:xfrm>
          <a:prstGeom prst="rect">
            <a:avLst/>
          </a:prstGeom>
          <a:noFill/>
          <a:ln/>
        </p:spPr>
        <p:txBody>
          <a:bodyPr wrap="square" lIns="0" tIns="0" rIns="0" bIns="0" rtlCol="0" anchor="ctr"/>
          <a:lstStyle/>
          <a:p>
            <a:pPr algn="ctr" indent="0" marL="0">
              <a:buNone/>
            </a:pPr>
            <a:r>
              <a:rPr lang="en-US" sz="1800" b="1" i="1" dirty="0">
                <a:solidFill>
                  <a:schemeClr val="tx2"/>
                </a:solidFill>
                <a:latin typeface="+mj-lt" pitchFamily="34" charset="0"/>
                <a:ea typeface="+mj-lt" pitchFamily="34" charset="-122"/>
                <a:cs typeface="+mj-lt" pitchFamily="34" charset="-120"/>
              </a:rPr>
              <a:t>Release</a:t>
            </a:r>
            <a:endParaRPr lang="en-US" sz="1800" dirty="0"/>
          </a:p>
        </p:txBody>
      </p:sp>
      <p:sp>
        <p:nvSpPr>
          <p:cNvPr id="24" name="step-2-tool"/>
          <p:cNvSpPr txBox="1"/>
          <p:nvPr/>
        </p:nvSpPr>
        <p:spPr>
          <a:xfrm>
            <a:off x="4489704" y="3520440"/>
            <a:ext cx="1444752" cy="822960"/>
          </a:xfrm>
          <a:prstGeom prst="rect">
            <a:avLst/>
          </a:prstGeom>
          <a:noFill/>
          <a:ln/>
        </p:spPr>
        <p:txBody>
          <a:bodyPr wrap="square" lIns="0" tIns="0" rIns="0" bIns="0" rtlCol="0" anchor="t"/>
          <a:lstStyle/>
          <a:p>
            <a:pPr algn="ctr" indent="0" marL="0">
              <a:buNone/>
            </a:pPr>
            <a:r>
              <a:rPr lang="en-US" sz="1400" dirty="0">
                <a:solidFill>
                  <a:schemeClr val="accent4"/>
                </a:solidFill>
              </a:rPr>
              <a:t>gates, ONNX parity</a:t>
            </a:r>
            <a:endParaRPr lang="en-US" sz="1400" dirty="0"/>
          </a:p>
        </p:txBody>
      </p:sp>
      <p:sp>
        <p:nvSpPr>
          <p:cNvPr id="25" name="step-2-chevron"/>
          <p:cNvSpPr txBox="1"/>
          <p:nvPr/>
        </p:nvSpPr>
        <p:spPr>
          <a:xfrm>
            <a:off x="6007608" y="3017520"/>
            <a:ext cx="219456" cy="457200"/>
          </a:xfrm>
          <a:prstGeom prst="rect">
            <a:avLst/>
          </a:prstGeom>
          <a:noFill/>
          <a:ln/>
        </p:spPr>
        <p:txBody>
          <a:bodyPr wrap="square" lIns="0" tIns="0" rIns="0" bIns="0" rtlCol="0" anchor="ctr"/>
          <a:lstStyle/>
          <a:p>
            <a:pPr algn="ctr" indent="0" marL="0">
              <a:buNone/>
            </a:pPr>
            <a:r>
              <a:rPr lang="en-US" sz="2800" b="1" dirty="0">
                <a:solidFill>
                  <a:schemeClr val="accent1"/>
                </a:solidFill>
              </a:rPr>
              <a:t>›</a:t>
            </a:r>
            <a:endParaRPr lang="en-US" sz="2800" dirty="0"/>
          </a:p>
        </p:txBody>
      </p:sp>
      <p:sp>
        <p:nvSpPr>
          <p:cNvPr id="26" name="step-3-card"/>
          <p:cNvSpPr/>
          <p:nvPr/>
        </p:nvSpPr>
        <p:spPr>
          <a:xfrm>
            <a:off x="6208776" y="2011680"/>
            <a:ext cx="1627632" cy="2468880"/>
          </a:xfrm>
          <a:prstGeom prst="rect">
            <a:avLst/>
          </a:prstGeom>
          <a:solidFill>
            <a:schemeClr val="bg1"/>
          </a:solidFill>
          <a:ln w="12700">
            <a:solidFill>
              <a:schemeClr val="bg2"/>
            </a:solidFill>
            <a:prstDash val="solid"/>
          </a:ln>
        </p:spPr>
      </p:sp>
      <p:sp>
        <p:nvSpPr>
          <p:cNvPr id="27" name="step-3-bar"/>
          <p:cNvSpPr/>
          <p:nvPr/>
        </p:nvSpPr>
        <p:spPr>
          <a:xfrm>
            <a:off x="6208776" y="2011680"/>
            <a:ext cx="1627632" cy="82296"/>
          </a:xfrm>
          <a:prstGeom prst="rect">
            <a:avLst/>
          </a:prstGeom>
          <a:solidFill>
            <a:schemeClr val="accent2"/>
          </a:solidFill>
          <a:ln w="12700">
            <a:solidFill>
              <a:schemeClr val="accent2"/>
            </a:solidFill>
            <a:prstDash val="solid"/>
          </a:ln>
        </p:spPr>
      </p:sp>
      <p:sp>
        <p:nvSpPr>
          <p:cNvPr id="28" name="step-3-dot"/>
          <p:cNvSpPr/>
          <p:nvPr/>
        </p:nvSpPr>
        <p:spPr>
          <a:xfrm>
            <a:off x="6775704" y="2240280"/>
            <a:ext cx="493776" cy="493776"/>
          </a:xfrm>
          <a:prstGeom prst="ellipse">
            <a:avLst/>
          </a:prstGeom>
          <a:solidFill>
            <a:schemeClr val="tx2"/>
          </a:solidFill>
          <a:ln w="12700">
            <a:solidFill>
              <a:schemeClr val="tx2"/>
            </a:solidFill>
            <a:prstDash val="solid"/>
          </a:ln>
        </p:spPr>
      </p:sp>
      <p:sp>
        <p:nvSpPr>
          <p:cNvPr id="29" name="step-3-num"/>
          <p:cNvSpPr txBox="1"/>
          <p:nvPr/>
        </p:nvSpPr>
        <p:spPr>
          <a:xfrm>
            <a:off x="6775704" y="2240280"/>
            <a:ext cx="493776" cy="493776"/>
          </a:xfrm>
          <a:prstGeom prst="rect">
            <a:avLst/>
          </a:prstGeom>
          <a:noFill/>
          <a:ln/>
        </p:spPr>
        <p:txBody>
          <a:bodyPr wrap="square" lIns="0" tIns="0" rIns="0" bIns="0" rtlCol="0" anchor="ctr"/>
          <a:lstStyle/>
          <a:p>
            <a:pPr algn="ctr" indent="0" marL="0">
              <a:buNone/>
            </a:pPr>
            <a:r>
              <a:rPr lang="en-US" sz="1800" b="1" i="1" dirty="0">
                <a:solidFill>
                  <a:schemeClr val="accent2"/>
                </a:solidFill>
                <a:latin typeface="+mj-lt" pitchFamily="34" charset="0"/>
                <a:ea typeface="+mj-lt" pitchFamily="34" charset="-122"/>
                <a:cs typeface="+mj-lt" pitchFamily="34" charset="-120"/>
              </a:rPr>
              <a:t>4</a:t>
            </a:r>
            <a:endParaRPr lang="en-US" sz="1800" dirty="0"/>
          </a:p>
        </p:txBody>
      </p:sp>
      <p:sp>
        <p:nvSpPr>
          <p:cNvPr id="30" name="step-3-name"/>
          <p:cNvSpPr txBox="1"/>
          <p:nvPr/>
        </p:nvSpPr>
        <p:spPr>
          <a:xfrm>
            <a:off x="6254496" y="2926080"/>
            <a:ext cx="1536192" cy="502920"/>
          </a:xfrm>
          <a:prstGeom prst="rect">
            <a:avLst/>
          </a:prstGeom>
          <a:noFill/>
          <a:ln/>
        </p:spPr>
        <p:txBody>
          <a:bodyPr wrap="square" lIns="0" tIns="0" rIns="0" bIns="0" rtlCol="0" anchor="ctr"/>
          <a:lstStyle/>
          <a:p>
            <a:pPr algn="ctr" indent="0" marL="0">
              <a:buNone/>
            </a:pPr>
            <a:r>
              <a:rPr lang="en-US" sz="1800" b="1" i="1" dirty="0">
                <a:solidFill>
                  <a:schemeClr val="tx2"/>
                </a:solidFill>
                <a:latin typeface="+mj-lt" pitchFamily="34" charset="0"/>
                <a:ea typeface="+mj-lt" pitchFamily="34" charset="-122"/>
                <a:cs typeface="+mj-lt" pitchFamily="34" charset="-120"/>
              </a:rPr>
              <a:t>Serve</a:t>
            </a:r>
            <a:endParaRPr lang="en-US" sz="1800" dirty="0"/>
          </a:p>
        </p:txBody>
      </p:sp>
      <p:sp>
        <p:nvSpPr>
          <p:cNvPr id="31" name="step-3-tool"/>
          <p:cNvSpPr txBox="1"/>
          <p:nvPr/>
        </p:nvSpPr>
        <p:spPr>
          <a:xfrm>
            <a:off x="6300216" y="3520440"/>
            <a:ext cx="1444752" cy="822960"/>
          </a:xfrm>
          <a:prstGeom prst="rect">
            <a:avLst/>
          </a:prstGeom>
          <a:noFill/>
          <a:ln/>
        </p:spPr>
        <p:txBody>
          <a:bodyPr wrap="square" lIns="0" tIns="0" rIns="0" bIns="0" rtlCol="0" anchor="t"/>
          <a:lstStyle/>
          <a:p>
            <a:pPr algn="ctr" indent="0" marL="0">
              <a:buNone/>
            </a:pPr>
            <a:r>
              <a:rPr lang="en-US" sz="1400" dirty="0">
                <a:solidFill>
                  <a:schemeClr val="accent4"/>
                </a:solidFill>
              </a:rPr>
              <a:t>photo, video, RTSP live</a:t>
            </a:r>
            <a:endParaRPr lang="en-US" sz="1400" dirty="0"/>
          </a:p>
        </p:txBody>
      </p:sp>
      <p:sp>
        <p:nvSpPr>
          <p:cNvPr id="32" name="step-3-chevron"/>
          <p:cNvSpPr txBox="1"/>
          <p:nvPr/>
        </p:nvSpPr>
        <p:spPr>
          <a:xfrm>
            <a:off x="7818120" y="3017520"/>
            <a:ext cx="219456" cy="457200"/>
          </a:xfrm>
          <a:prstGeom prst="rect">
            <a:avLst/>
          </a:prstGeom>
          <a:noFill/>
          <a:ln/>
        </p:spPr>
        <p:txBody>
          <a:bodyPr wrap="square" lIns="0" tIns="0" rIns="0" bIns="0" rtlCol="0" anchor="ctr"/>
          <a:lstStyle/>
          <a:p>
            <a:pPr algn="ctr" indent="0" marL="0">
              <a:buNone/>
            </a:pPr>
            <a:r>
              <a:rPr lang="en-US" sz="2800" b="1" dirty="0">
                <a:solidFill>
                  <a:schemeClr val="accent1"/>
                </a:solidFill>
              </a:rPr>
              <a:t>›</a:t>
            </a:r>
            <a:endParaRPr lang="en-US" sz="2800" dirty="0"/>
          </a:p>
        </p:txBody>
      </p:sp>
      <p:sp>
        <p:nvSpPr>
          <p:cNvPr id="33" name="step-4-card"/>
          <p:cNvSpPr/>
          <p:nvPr/>
        </p:nvSpPr>
        <p:spPr>
          <a:xfrm>
            <a:off x="8019288" y="2011680"/>
            <a:ext cx="1627632" cy="2468880"/>
          </a:xfrm>
          <a:prstGeom prst="rect">
            <a:avLst/>
          </a:prstGeom>
          <a:solidFill>
            <a:schemeClr val="bg1"/>
          </a:solidFill>
          <a:ln w="12700">
            <a:solidFill>
              <a:schemeClr val="bg2"/>
            </a:solidFill>
            <a:prstDash val="solid"/>
          </a:ln>
        </p:spPr>
      </p:sp>
      <p:sp>
        <p:nvSpPr>
          <p:cNvPr id="34" name="step-4-bar"/>
          <p:cNvSpPr/>
          <p:nvPr/>
        </p:nvSpPr>
        <p:spPr>
          <a:xfrm>
            <a:off x="8019288" y="2011680"/>
            <a:ext cx="1627632" cy="82296"/>
          </a:xfrm>
          <a:prstGeom prst="rect">
            <a:avLst/>
          </a:prstGeom>
          <a:solidFill>
            <a:schemeClr val="accent2"/>
          </a:solidFill>
          <a:ln w="12700">
            <a:solidFill>
              <a:schemeClr val="accent2"/>
            </a:solidFill>
            <a:prstDash val="solid"/>
          </a:ln>
        </p:spPr>
      </p:sp>
      <p:sp>
        <p:nvSpPr>
          <p:cNvPr id="35" name="step-4-dot"/>
          <p:cNvSpPr/>
          <p:nvPr/>
        </p:nvSpPr>
        <p:spPr>
          <a:xfrm>
            <a:off x="8586216" y="2240280"/>
            <a:ext cx="493776" cy="493776"/>
          </a:xfrm>
          <a:prstGeom prst="ellipse">
            <a:avLst/>
          </a:prstGeom>
          <a:solidFill>
            <a:schemeClr val="tx2"/>
          </a:solidFill>
          <a:ln w="12700">
            <a:solidFill>
              <a:schemeClr val="tx2"/>
            </a:solidFill>
            <a:prstDash val="solid"/>
          </a:ln>
        </p:spPr>
      </p:sp>
      <p:sp>
        <p:nvSpPr>
          <p:cNvPr id="36" name="step-4-num"/>
          <p:cNvSpPr txBox="1"/>
          <p:nvPr/>
        </p:nvSpPr>
        <p:spPr>
          <a:xfrm>
            <a:off x="8586216" y="2240280"/>
            <a:ext cx="493776" cy="493776"/>
          </a:xfrm>
          <a:prstGeom prst="rect">
            <a:avLst/>
          </a:prstGeom>
          <a:noFill/>
          <a:ln/>
        </p:spPr>
        <p:txBody>
          <a:bodyPr wrap="square" lIns="0" tIns="0" rIns="0" bIns="0" rtlCol="0" anchor="ctr"/>
          <a:lstStyle/>
          <a:p>
            <a:pPr algn="ctr" indent="0" marL="0">
              <a:buNone/>
            </a:pPr>
            <a:r>
              <a:rPr lang="en-US" sz="1800" b="1" i="1" dirty="0">
                <a:solidFill>
                  <a:schemeClr val="accent2"/>
                </a:solidFill>
                <a:latin typeface="+mj-lt" pitchFamily="34" charset="0"/>
                <a:ea typeface="+mj-lt" pitchFamily="34" charset="-122"/>
                <a:cs typeface="+mj-lt" pitchFamily="34" charset="-120"/>
              </a:rPr>
              <a:t>5</a:t>
            </a:r>
            <a:endParaRPr lang="en-US" sz="1800" dirty="0"/>
          </a:p>
        </p:txBody>
      </p:sp>
      <p:sp>
        <p:nvSpPr>
          <p:cNvPr id="37" name="step-4-name"/>
          <p:cNvSpPr txBox="1"/>
          <p:nvPr/>
        </p:nvSpPr>
        <p:spPr>
          <a:xfrm>
            <a:off x="8065008" y="2926080"/>
            <a:ext cx="1536192" cy="502920"/>
          </a:xfrm>
          <a:prstGeom prst="rect">
            <a:avLst/>
          </a:prstGeom>
          <a:noFill/>
          <a:ln/>
        </p:spPr>
        <p:txBody>
          <a:bodyPr wrap="square" lIns="0" tIns="0" rIns="0" bIns="0" rtlCol="0" anchor="ctr"/>
          <a:lstStyle/>
          <a:p>
            <a:pPr algn="ctr" indent="0" marL="0">
              <a:buNone/>
            </a:pPr>
            <a:r>
              <a:rPr lang="en-US" sz="1800" b="1" i="1" dirty="0">
                <a:solidFill>
                  <a:schemeClr val="tx2"/>
                </a:solidFill>
                <a:latin typeface="+mj-lt" pitchFamily="34" charset="0"/>
                <a:ea typeface="+mj-lt" pitchFamily="34" charset="-122"/>
                <a:cs typeface="+mj-lt" pitchFamily="34" charset="-120"/>
              </a:rPr>
              <a:t>Ask</a:t>
            </a:r>
            <a:endParaRPr lang="en-US" sz="1800" dirty="0"/>
          </a:p>
        </p:txBody>
      </p:sp>
      <p:sp>
        <p:nvSpPr>
          <p:cNvPr id="38" name="step-4-tool"/>
          <p:cNvSpPr txBox="1"/>
          <p:nvPr/>
        </p:nvSpPr>
        <p:spPr>
          <a:xfrm>
            <a:off x="8110728" y="3520440"/>
            <a:ext cx="1444752" cy="822960"/>
          </a:xfrm>
          <a:prstGeom prst="rect">
            <a:avLst/>
          </a:prstGeom>
          <a:noFill/>
          <a:ln/>
        </p:spPr>
        <p:txBody>
          <a:bodyPr wrap="square" lIns="0" tIns="0" rIns="0" bIns="0" rtlCol="0" anchor="t"/>
          <a:lstStyle/>
          <a:p>
            <a:pPr algn="ctr" indent="0" marL="0">
              <a:buNone/>
            </a:pPr>
            <a:r>
              <a:rPr lang="en-US" sz="1400" dirty="0">
                <a:solidFill>
                  <a:schemeClr val="accent4"/>
                </a:solidFill>
              </a:rPr>
              <a:t>Bib: LangGraph + tools</a:t>
            </a:r>
            <a:endParaRPr lang="en-US" sz="1400" dirty="0"/>
          </a:p>
        </p:txBody>
      </p:sp>
      <p:sp>
        <p:nvSpPr>
          <p:cNvPr id="39" name="step-4-chevron"/>
          <p:cNvSpPr txBox="1"/>
          <p:nvPr/>
        </p:nvSpPr>
        <p:spPr>
          <a:xfrm>
            <a:off x="9628632" y="3017520"/>
            <a:ext cx="219456" cy="457200"/>
          </a:xfrm>
          <a:prstGeom prst="rect">
            <a:avLst/>
          </a:prstGeom>
          <a:noFill/>
          <a:ln/>
        </p:spPr>
        <p:txBody>
          <a:bodyPr wrap="square" lIns="0" tIns="0" rIns="0" bIns="0" rtlCol="0" anchor="ctr"/>
          <a:lstStyle/>
          <a:p>
            <a:pPr algn="ctr" indent="0" marL="0">
              <a:buNone/>
            </a:pPr>
            <a:r>
              <a:rPr lang="en-US" sz="2800" b="1" dirty="0">
                <a:solidFill>
                  <a:schemeClr val="accent1"/>
                </a:solidFill>
              </a:rPr>
              <a:t>›</a:t>
            </a:r>
            <a:endParaRPr lang="en-US" sz="2800" dirty="0"/>
          </a:p>
        </p:txBody>
      </p:sp>
      <p:sp>
        <p:nvSpPr>
          <p:cNvPr id="40" name="step-5-card"/>
          <p:cNvSpPr/>
          <p:nvPr/>
        </p:nvSpPr>
        <p:spPr>
          <a:xfrm>
            <a:off x="9829800" y="2011680"/>
            <a:ext cx="1627632" cy="2468880"/>
          </a:xfrm>
          <a:prstGeom prst="rect">
            <a:avLst/>
          </a:prstGeom>
          <a:solidFill>
            <a:schemeClr val="bg1"/>
          </a:solidFill>
          <a:ln w="12700">
            <a:solidFill>
              <a:schemeClr val="bg2"/>
            </a:solidFill>
            <a:prstDash val="solid"/>
          </a:ln>
        </p:spPr>
      </p:sp>
      <p:sp>
        <p:nvSpPr>
          <p:cNvPr id="41" name="step-5-bar"/>
          <p:cNvSpPr/>
          <p:nvPr/>
        </p:nvSpPr>
        <p:spPr>
          <a:xfrm>
            <a:off x="9829800" y="2011680"/>
            <a:ext cx="1627632" cy="82296"/>
          </a:xfrm>
          <a:prstGeom prst="rect">
            <a:avLst/>
          </a:prstGeom>
          <a:solidFill>
            <a:schemeClr val="accent2"/>
          </a:solidFill>
          <a:ln w="12700">
            <a:solidFill>
              <a:schemeClr val="accent2"/>
            </a:solidFill>
            <a:prstDash val="solid"/>
          </a:ln>
        </p:spPr>
      </p:sp>
      <p:sp>
        <p:nvSpPr>
          <p:cNvPr id="42" name="step-5-dot"/>
          <p:cNvSpPr/>
          <p:nvPr/>
        </p:nvSpPr>
        <p:spPr>
          <a:xfrm>
            <a:off x="10396728" y="2240280"/>
            <a:ext cx="493776" cy="493776"/>
          </a:xfrm>
          <a:prstGeom prst="ellipse">
            <a:avLst/>
          </a:prstGeom>
          <a:solidFill>
            <a:schemeClr val="tx2"/>
          </a:solidFill>
          <a:ln w="12700">
            <a:solidFill>
              <a:schemeClr val="tx2"/>
            </a:solidFill>
            <a:prstDash val="solid"/>
          </a:ln>
        </p:spPr>
      </p:sp>
      <p:sp>
        <p:nvSpPr>
          <p:cNvPr id="43" name="step-5-num"/>
          <p:cNvSpPr txBox="1"/>
          <p:nvPr/>
        </p:nvSpPr>
        <p:spPr>
          <a:xfrm>
            <a:off x="10396728" y="2240280"/>
            <a:ext cx="493776" cy="493776"/>
          </a:xfrm>
          <a:prstGeom prst="rect">
            <a:avLst/>
          </a:prstGeom>
          <a:noFill/>
          <a:ln/>
        </p:spPr>
        <p:txBody>
          <a:bodyPr wrap="square" lIns="0" tIns="0" rIns="0" bIns="0" rtlCol="0" anchor="ctr"/>
          <a:lstStyle/>
          <a:p>
            <a:pPr algn="ctr" indent="0" marL="0">
              <a:buNone/>
            </a:pPr>
            <a:r>
              <a:rPr lang="en-US" sz="1800" b="1" i="1" dirty="0">
                <a:solidFill>
                  <a:schemeClr val="accent2"/>
                </a:solidFill>
                <a:latin typeface="+mj-lt" pitchFamily="34" charset="0"/>
                <a:ea typeface="+mj-lt" pitchFamily="34" charset="-122"/>
                <a:cs typeface="+mj-lt" pitchFamily="34" charset="-120"/>
              </a:rPr>
              <a:t>6</a:t>
            </a:r>
            <a:endParaRPr lang="en-US" sz="1800" dirty="0"/>
          </a:p>
        </p:txBody>
      </p:sp>
      <p:sp>
        <p:nvSpPr>
          <p:cNvPr id="44" name="step-5-name"/>
          <p:cNvSpPr txBox="1"/>
          <p:nvPr/>
        </p:nvSpPr>
        <p:spPr>
          <a:xfrm>
            <a:off x="9875520" y="2926080"/>
            <a:ext cx="1536192" cy="502920"/>
          </a:xfrm>
          <a:prstGeom prst="rect">
            <a:avLst/>
          </a:prstGeom>
          <a:noFill/>
          <a:ln/>
        </p:spPr>
        <p:txBody>
          <a:bodyPr wrap="square" lIns="0" tIns="0" rIns="0" bIns="0" rtlCol="0" anchor="ctr"/>
          <a:lstStyle/>
          <a:p>
            <a:pPr algn="ctr" indent="0" marL="0">
              <a:buNone/>
            </a:pPr>
            <a:r>
              <a:rPr lang="en-US" sz="1800" b="1" i="1" dirty="0">
                <a:solidFill>
                  <a:schemeClr val="tx2"/>
                </a:solidFill>
                <a:latin typeface="+mj-lt" pitchFamily="34" charset="0"/>
                <a:ea typeface="+mj-lt" pitchFamily="34" charset="-122"/>
                <a:cs typeface="+mj-lt" pitchFamily="34" charset="-120"/>
              </a:rPr>
              <a:t>Watch</a:t>
            </a:r>
            <a:endParaRPr lang="en-US" sz="1800" dirty="0"/>
          </a:p>
        </p:txBody>
      </p:sp>
      <p:sp>
        <p:nvSpPr>
          <p:cNvPr id="45" name="step-5-tool"/>
          <p:cNvSpPr txBox="1"/>
          <p:nvPr/>
        </p:nvSpPr>
        <p:spPr>
          <a:xfrm>
            <a:off x="9921240" y="3520440"/>
            <a:ext cx="1444752" cy="822960"/>
          </a:xfrm>
          <a:prstGeom prst="rect">
            <a:avLst/>
          </a:prstGeom>
          <a:noFill/>
          <a:ln/>
        </p:spPr>
        <p:txBody>
          <a:bodyPr wrap="square" lIns="0" tIns="0" rIns="0" bIns="0" rtlCol="0" anchor="t"/>
          <a:lstStyle/>
          <a:p>
            <a:pPr algn="ctr" indent="0" marL="0">
              <a:buNone/>
            </a:pPr>
            <a:r>
              <a:rPr lang="en-US" sz="1400" dirty="0">
                <a:solidFill>
                  <a:schemeClr val="accent4"/>
                </a:solidFill>
              </a:rPr>
              <a:t>drift, MLflow traces, audit</a:t>
            </a:r>
            <a:endParaRPr lang="en-US" sz="1400" dirty="0"/>
          </a:p>
        </p:txBody>
      </p:sp>
      <p:sp>
        <p:nvSpPr>
          <p:cNvPr id="46" name="arch-band"/>
          <p:cNvSpPr/>
          <p:nvPr/>
        </p:nvSpPr>
        <p:spPr>
          <a:xfrm>
            <a:off x="777240" y="5120640"/>
            <a:ext cx="10698480" cy="914400"/>
          </a:xfrm>
          <a:prstGeom prst="rect">
            <a:avLst/>
          </a:prstGeom>
          <a:solidFill>
            <a:schemeClr val="tx2"/>
          </a:solidFill>
          <a:ln w="12700">
            <a:solidFill>
              <a:schemeClr val="tx2"/>
            </a:solidFill>
            <a:prstDash val="solid"/>
          </a:ln>
        </p:spPr>
      </p:sp>
      <p:sp>
        <p:nvSpPr>
          <p:cNvPr id="47" name="arch-text"/>
          <p:cNvSpPr txBox="1"/>
          <p:nvPr/>
        </p:nvSpPr>
        <p:spPr>
          <a:xfrm>
            <a:off x="1097280" y="5120640"/>
            <a:ext cx="10149840" cy="914400"/>
          </a:xfrm>
          <a:prstGeom prst="rect">
            <a:avLst/>
          </a:prstGeom>
          <a:noFill/>
          <a:ln/>
        </p:spPr>
        <p:txBody>
          <a:bodyPr wrap="square" lIns="0" tIns="0" rIns="0" bIns="0" rtlCol="0" anchor="ctr"/>
          <a:lstStyle/>
          <a:p>
            <a:pPr indent="0" marL="0">
              <a:buNone/>
            </a:pPr>
            <a:r>
              <a:rPr lang="en-US" sz="2000" b="1" dirty="0">
                <a:solidFill>
                  <a:schemeClr val="accent2"/>
                </a:solidFill>
              </a:rPr>
              <a:t>Every result is pinned to the exact data, model and settings that produced it</a:t>
            </a:r>
            <a:endParaRPr lang="en-US" sz="2000" dirty="0"/>
          </a:p>
        </p:txBody>
      </p:sp>
      <p:sp>
        <p:nvSpPr>
          <p:cNvPr id="25" name="Slide Number Placeholder 0"/>
          <p:cNvSpPr>
            <a:spLocks noGrp="1"/>
          </p:cNvSpPr>
          <p:nvPr>
            <p:ph type="sldNum" sz="quarter" idx="4294967295"/>
          </p:nvPr>
        </p:nvSpPr>
        <p:spPr>
          <a:xfrm>
            <a:off x="10972800" y="6400800"/>
            <a:ext cx="310896"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100">
                <a:solidFill>
                  <a:schemeClr val="accent4"/>
                </a:solidFill>
                <a:latin typeface="+mn-lt"/>
                <a:ea typeface="+mn-lt"/>
                <a:cs typeface="+mn-lt"/>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body" hasCustomPrompt="1"/>
          </p:nvPr>
        </p:nvSpPr>
        <p:spPr>
          <a:xfrm>
            <a:off x="777240" y="384048"/>
            <a:ext cx="10058400" cy="365760"/>
          </a:xfrm>
          <a:prstGeom prst="rect">
            <a:avLst/>
          </a:prstGeom>
          <a:noFill/>
          <a:ln/>
        </p:spPr>
        <p:txBody>
          <a:bodyPr wrap="square" lIns="0" tIns="0" rIns="0" bIns="0" rtlCol="0" anchor="ctr"/>
          <a:lstStyle/>
          <a:p>
            <a:pPr indent="0" marL="0">
              <a:buNone/>
            </a:pPr>
            <a:r>
              <a:rPr lang="en-US" sz="1400" b="1" dirty="0">
                <a:solidFill>
                  <a:schemeClr val="accent1"/>
                </a:solidFill>
              </a:rPr>
              <a:t>DVC + MLFLOW</a:t>
            </a:r>
            <a:endParaRPr lang="en-US" sz="1400" dirty="0"/>
          </a:p>
        </p:txBody>
      </p:sp>
      <p:sp>
        <p:nvSpPr>
          <p:cNvPr id="3" name="Text 2"/>
          <p:cNvSpPr/>
          <p:nvPr>
            <p:ph idx="103" type="title" hasCustomPrompt="1"/>
          </p:nvPr>
        </p:nvSpPr>
        <p:spPr>
          <a:xfrm>
            <a:off x="777240" y="731520"/>
            <a:ext cx="11064240" cy="822960"/>
          </a:xfrm>
          <a:prstGeom prst="rect">
            <a:avLst/>
          </a:prstGeom>
          <a:noFill/>
          <a:ln/>
        </p:spPr>
        <p:txBody>
          <a:bodyPr wrap="square" lIns="0" tIns="0" rIns="0" bIns="0" rtlCol="0" anchor="ctr"/>
          <a:lstStyle/>
          <a:p>
            <a:pPr algn="l" indent="0" marL="0">
              <a:buNone/>
            </a:pPr>
            <a:r>
              <a:rPr lang="en-US" sz="3000" b="1" i="1" dirty="0">
                <a:solidFill>
                  <a:schemeClr val="tx2"/>
                </a:solidFill>
              </a:rPr>
              <a:t>DVC, MLflow and SQL each own one thing</a:t>
            </a:r>
            <a:endParaRPr lang="en-US" sz="3000" dirty="0"/>
          </a:p>
        </p:txBody>
      </p:sp>
      <p:pic>
        <p:nvPicPr>
          <p:cNvPr id="5" name="dvc-diagram" descr="DVC, MLflow and SQL swimlanes: train logs a run, package registers a version and imports into SQL, promote moves the champion alias">    </p:cNvPr>
          <p:cNvPicPr>
            <a:picLocks noChangeAspect="1"/>
          </p:cNvPicPr>
          <p:nvPr/>
        </p:nvPicPr>
        <p:blipFill>
          <a:blip r:embed="rId1"/>
          <a:stretch>
            <a:fillRect/>
          </a:stretch>
        </p:blipFill>
        <p:spPr>
          <a:xfrm>
            <a:off x="777240" y="1737360"/>
            <a:ext cx="11064240" cy="3904488"/>
          </a:xfrm>
          <a:prstGeom prst="rect">
            <a:avLst/>
          </a:prstGeom>
        </p:spPr>
      </p:pic>
      <p:sp>
        <p:nvSpPr>
          <p:cNvPr id="6" name="keys-band"/>
          <p:cNvSpPr/>
          <p:nvPr/>
        </p:nvSpPr>
        <p:spPr>
          <a:xfrm>
            <a:off x="777240" y="5760720"/>
            <a:ext cx="11064240" cy="548640"/>
          </a:xfrm>
          <a:prstGeom prst="rect">
            <a:avLst/>
          </a:prstGeom>
          <a:solidFill>
            <a:schemeClr val="tx2"/>
          </a:solidFill>
          <a:ln w="12700">
            <a:solidFill>
              <a:schemeClr val="tx2"/>
            </a:solidFill>
            <a:prstDash val="solid"/>
          </a:ln>
        </p:spPr>
      </p:sp>
      <p:sp>
        <p:nvSpPr>
          <p:cNvPr id="7" name="keys-text"/>
          <p:cNvSpPr txBox="1"/>
          <p:nvPr/>
        </p:nvSpPr>
        <p:spPr>
          <a:xfrm>
            <a:off x="1097280" y="5760720"/>
            <a:ext cx="10515600" cy="548640"/>
          </a:xfrm>
          <a:prstGeom prst="rect">
            <a:avLst/>
          </a:prstGeom>
          <a:noFill/>
          <a:ln/>
        </p:spPr>
        <p:txBody>
          <a:bodyPr wrap="square" lIns="0" tIns="0" rIns="0" bIns="0" rtlCol="0" anchor="ctr"/>
          <a:lstStyle/>
          <a:p>
            <a:pPr indent="0" marL="0">
              <a:buNone/>
            </a:pPr>
            <a:r>
              <a:rPr lang="en-US" sz="1700" b="1" dirty="0">
                <a:solidFill>
                  <a:schemeClr val="accent2"/>
                </a:solidFill>
              </a:rPr>
              <a:t>Join keys: split_sha · bundle_sha256 · run_id, so any served result traces back to its data</a:t>
            </a:r>
            <a:endParaRPr lang="en-US" sz="1700" dirty="0"/>
          </a:p>
        </p:txBody>
      </p:sp>
      <p:sp>
        <p:nvSpPr>
          <p:cNvPr id="25" name="Slide Number Placeholder 0"/>
          <p:cNvSpPr>
            <a:spLocks noGrp="1"/>
          </p:cNvSpPr>
          <p:nvPr>
            <p:ph type="sldNum" sz="quarter" idx="4294967295"/>
          </p:nvPr>
        </p:nvSpPr>
        <p:spPr>
          <a:xfrm>
            <a:off x="10972800" y="6400800"/>
            <a:ext cx="310896"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100">
                <a:solidFill>
                  <a:schemeClr val="accent4"/>
                </a:solidFill>
                <a:latin typeface="+mn-lt"/>
                <a:ea typeface="+mn-lt"/>
                <a:cs typeface="+mn-lt"/>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body" hasCustomPrompt="1"/>
          </p:nvPr>
        </p:nvSpPr>
        <p:spPr>
          <a:xfrm>
            <a:off x="777240" y="384048"/>
            <a:ext cx="10058400" cy="365760"/>
          </a:xfrm>
          <a:prstGeom prst="rect">
            <a:avLst/>
          </a:prstGeom>
          <a:noFill/>
          <a:ln/>
        </p:spPr>
        <p:txBody>
          <a:bodyPr wrap="square" lIns="0" tIns="0" rIns="0" bIns="0" rtlCol="0" anchor="ctr"/>
          <a:lstStyle/>
          <a:p>
            <a:pPr indent="0" marL="0">
              <a:buNone/>
            </a:pPr>
            <a:r>
              <a:rPr lang="en-US" sz="1400" b="1" dirty="0">
                <a:solidFill>
                  <a:schemeClr val="accent1"/>
                </a:solidFill>
              </a:rPr>
              <a:t>MODEL BENCHMARK</a:t>
            </a:r>
            <a:endParaRPr lang="en-US" sz="1400" dirty="0"/>
          </a:p>
        </p:txBody>
      </p:sp>
      <p:sp>
        <p:nvSpPr>
          <p:cNvPr id="3" name="Text 2"/>
          <p:cNvSpPr/>
          <p:nvPr>
            <p:ph idx="103" type="title" hasCustomPrompt="1"/>
          </p:nvPr>
        </p:nvSpPr>
        <p:spPr>
          <a:xfrm>
            <a:off x="777240" y="731520"/>
            <a:ext cx="11064240" cy="822960"/>
          </a:xfrm>
          <a:prstGeom prst="rect">
            <a:avLst/>
          </a:prstGeom>
          <a:noFill/>
          <a:ln/>
        </p:spPr>
        <p:txBody>
          <a:bodyPr wrap="square" lIns="0" tIns="0" rIns="0" bIns="0" rtlCol="0" anchor="ctr"/>
          <a:lstStyle/>
          <a:p>
            <a:pPr algn="l" indent="0" marL="0">
              <a:buNone/>
            </a:pPr>
            <a:r>
              <a:rPr lang="en-US" sz="3000" b="1" i="1" dirty="0">
                <a:solidFill>
                  <a:schemeClr val="tx2"/>
                </a:solidFill>
              </a:rPr>
              <a:t>Only ConvNeXt-Tiny met both gate targets</a:t>
            </a:r>
            <a:endParaRPr lang="en-US" sz="3000" dirty="0"/>
          </a:p>
        </p:txBody>
      </p:sp>
      <p:sp>
        <p:nvSpPr>
          <p:cNvPr id="5" name="bench-title"/>
          <p:cNvSpPr txBox="1"/>
          <p:nvPr/>
        </p:nvSpPr>
        <p:spPr>
          <a:xfrm>
            <a:off x="777240" y="1645920"/>
            <a:ext cx="6766560" cy="320040"/>
          </a:xfrm>
          <a:prstGeom prst="rect">
            <a:avLst/>
          </a:prstGeom>
          <a:noFill/>
          <a:ln/>
        </p:spPr>
        <p:txBody>
          <a:bodyPr wrap="square" lIns="0" tIns="0" rIns="0" bIns="0" rtlCol="0" anchor="ctr"/>
          <a:lstStyle/>
          <a:p>
            <a:pPr indent="0" marL="0">
              <a:buNone/>
            </a:pPr>
            <a:r>
              <a:rPr lang="en-US" sz="1300" b="1" dirty="0">
                <a:solidFill>
                  <a:schemeClr val="tx2"/>
                </a:solidFill>
              </a:rPr>
              <a:t>Gate cohort (development evidence), three sources</a:t>
            </a:r>
            <a:endParaRPr lang="en-US" sz="1300" dirty="0"/>
          </a:p>
        </p:txBody>
      </p:sp>
      <p:sp>
        <p:nvSpPr>
          <p:cNvPr id="6" name="grid-0.7"/>
          <p:cNvSpPr/>
          <p:nvPr/>
        </p:nvSpPr>
        <p:spPr>
          <a:xfrm>
            <a:off x="1325880" y="5486400"/>
            <a:ext cx="5440680" cy="0"/>
          </a:xfrm>
          <a:prstGeom prst="line">
            <a:avLst/>
          </a:prstGeom>
          <a:noFill/>
          <a:ln w="9525">
            <a:solidFill>
              <a:srgbClr val="E4E7EE"/>
            </a:solidFill>
            <a:prstDash val="solid"/>
          </a:ln>
        </p:spPr>
      </p:sp>
      <p:sp>
        <p:nvSpPr>
          <p:cNvPr id="7" name="axis-0.7"/>
          <p:cNvSpPr txBox="1"/>
          <p:nvPr/>
        </p:nvSpPr>
        <p:spPr>
          <a:xfrm>
            <a:off x="777240" y="5358384"/>
            <a:ext cx="457200" cy="256032"/>
          </a:xfrm>
          <a:prstGeom prst="rect">
            <a:avLst/>
          </a:prstGeom>
          <a:noFill/>
          <a:ln/>
        </p:spPr>
        <p:txBody>
          <a:bodyPr wrap="square" lIns="0" tIns="0" rIns="0" bIns="0" rtlCol="0" anchor="ctr"/>
          <a:lstStyle/>
          <a:p>
            <a:pPr algn="r" indent="0" marL="0">
              <a:buNone/>
            </a:pPr>
            <a:r>
              <a:rPr lang="en-US" sz="1100" dirty="0">
                <a:solidFill>
                  <a:schemeClr val="accent4"/>
                </a:solidFill>
              </a:rPr>
              <a:t>0.7</a:t>
            </a:r>
            <a:endParaRPr lang="en-US" sz="1100" dirty="0"/>
          </a:p>
        </p:txBody>
      </p:sp>
      <p:sp>
        <p:nvSpPr>
          <p:cNvPr id="8" name="grid-0.8"/>
          <p:cNvSpPr/>
          <p:nvPr/>
        </p:nvSpPr>
        <p:spPr>
          <a:xfrm>
            <a:off x="1325880" y="4343400"/>
            <a:ext cx="5440680" cy="0"/>
          </a:xfrm>
          <a:prstGeom prst="line">
            <a:avLst/>
          </a:prstGeom>
          <a:noFill/>
          <a:ln w="9525">
            <a:solidFill>
              <a:srgbClr val="E4E7EE"/>
            </a:solidFill>
            <a:prstDash val="solid"/>
          </a:ln>
        </p:spPr>
      </p:sp>
      <p:sp>
        <p:nvSpPr>
          <p:cNvPr id="9" name="axis-0.8"/>
          <p:cNvSpPr txBox="1"/>
          <p:nvPr/>
        </p:nvSpPr>
        <p:spPr>
          <a:xfrm>
            <a:off x="777240" y="4215384"/>
            <a:ext cx="457200" cy="256032"/>
          </a:xfrm>
          <a:prstGeom prst="rect">
            <a:avLst/>
          </a:prstGeom>
          <a:noFill/>
          <a:ln/>
        </p:spPr>
        <p:txBody>
          <a:bodyPr wrap="square" lIns="0" tIns="0" rIns="0" bIns="0" rtlCol="0" anchor="ctr"/>
          <a:lstStyle/>
          <a:p>
            <a:pPr algn="r" indent="0" marL="0">
              <a:buNone/>
            </a:pPr>
            <a:r>
              <a:rPr lang="en-US" sz="1100" dirty="0">
                <a:solidFill>
                  <a:schemeClr val="accent4"/>
                </a:solidFill>
              </a:rPr>
              <a:t>0.8</a:t>
            </a:r>
            <a:endParaRPr lang="en-US" sz="1100" dirty="0"/>
          </a:p>
        </p:txBody>
      </p:sp>
      <p:sp>
        <p:nvSpPr>
          <p:cNvPr id="10" name="grid-0.9"/>
          <p:cNvSpPr/>
          <p:nvPr/>
        </p:nvSpPr>
        <p:spPr>
          <a:xfrm>
            <a:off x="1325880" y="3200400"/>
            <a:ext cx="5440680" cy="0"/>
          </a:xfrm>
          <a:prstGeom prst="line">
            <a:avLst/>
          </a:prstGeom>
          <a:noFill/>
          <a:ln w="9525">
            <a:solidFill>
              <a:srgbClr val="E4E7EE"/>
            </a:solidFill>
            <a:prstDash val="solid"/>
          </a:ln>
        </p:spPr>
      </p:sp>
      <p:sp>
        <p:nvSpPr>
          <p:cNvPr id="11" name="axis-0.9"/>
          <p:cNvSpPr txBox="1"/>
          <p:nvPr/>
        </p:nvSpPr>
        <p:spPr>
          <a:xfrm>
            <a:off x="777240" y="3072384"/>
            <a:ext cx="457200" cy="256032"/>
          </a:xfrm>
          <a:prstGeom prst="rect">
            <a:avLst/>
          </a:prstGeom>
          <a:noFill/>
          <a:ln/>
        </p:spPr>
        <p:txBody>
          <a:bodyPr wrap="square" lIns="0" tIns="0" rIns="0" bIns="0" rtlCol="0" anchor="ctr"/>
          <a:lstStyle/>
          <a:p>
            <a:pPr algn="r" indent="0" marL="0">
              <a:buNone/>
            </a:pPr>
            <a:r>
              <a:rPr lang="en-US" sz="1100" dirty="0">
                <a:solidFill>
                  <a:schemeClr val="accent4"/>
                </a:solidFill>
              </a:rPr>
              <a:t>0.9</a:t>
            </a:r>
            <a:endParaRPr lang="en-US" sz="1100" dirty="0"/>
          </a:p>
        </p:txBody>
      </p:sp>
      <p:sp>
        <p:nvSpPr>
          <p:cNvPr id="12" name="grid-1"/>
          <p:cNvSpPr/>
          <p:nvPr/>
        </p:nvSpPr>
        <p:spPr>
          <a:xfrm>
            <a:off x="1325880" y="2057400"/>
            <a:ext cx="5440680" cy="0"/>
          </a:xfrm>
          <a:prstGeom prst="line">
            <a:avLst/>
          </a:prstGeom>
          <a:noFill/>
          <a:ln w="9525">
            <a:solidFill>
              <a:srgbClr val="E4E7EE"/>
            </a:solidFill>
            <a:prstDash val="solid"/>
          </a:ln>
        </p:spPr>
      </p:sp>
      <p:sp>
        <p:nvSpPr>
          <p:cNvPr id="13" name="axis-1"/>
          <p:cNvSpPr txBox="1"/>
          <p:nvPr/>
        </p:nvSpPr>
        <p:spPr>
          <a:xfrm>
            <a:off x="777240" y="1929384"/>
            <a:ext cx="457200" cy="256032"/>
          </a:xfrm>
          <a:prstGeom prst="rect">
            <a:avLst/>
          </a:prstGeom>
          <a:noFill/>
          <a:ln/>
        </p:spPr>
        <p:txBody>
          <a:bodyPr wrap="square" lIns="0" tIns="0" rIns="0" bIns="0" rtlCol="0" anchor="ctr"/>
          <a:lstStyle/>
          <a:p>
            <a:pPr algn="r" indent="0" marL="0">
              <a:buNone/>
            </a:pPr>
            <a:r>
              <a:rPr lang="en-US" sz="1100" dirty="0">
                <a:solidFill>
                  <a:schemeClr val="accent4"/>
                </a:solidFill>
              </a:rPr>
              <a:t>1.0</a:t>
            </a:r>
            <a:endParaRPr lang="en-US" sz="1100" dirty="0"/>
          </a:p>
        </p:txBody>
      </p:sp>
      <p:sp>
        <p:nvSpPr>
          <p:cNvPr id="14" name="target-0.95"/>
          <p:cNvSpPr/>
          <p:nvPr/>
        </p:nvSpPr>
        <p:spPr>
          <a:xfrm>
            <a:off x="1325880" y="2628900"/>
            <a:ext cx="5440680" cy="0"/>
          </a:xfrm>
          <a:prstGeom prst="line">
            <a:avLst/>
          </a:prstGeom>
          <a:noFill/>
          <a:ln w="15875">
            <a:solidFill>
              <a:srgbClr val="C62839"/>
            </a:solidFill>
            <a:prstDash val="dash"/>
          </a:ln>
        </p:spPr>
      </p:sp>
      <p:sp>
        <p:nvSpPr>
          <p:cNvPr id="15" name="target-0.95-label"/>
          <p:cNvSpPr txBox="1"/>
          <p:nvPr/>
        </p:nvSpPr>
        <p:spPr>
          <a:xfrm>
            <a:off x="6821424" y="2510028"/>
            <a:ext cx="1097280" cy="237744"/>
          </a:xfrm>
          <a:prstGeom prst="rect">
            <a:avLst/>
          </a:prstGeom>
          <a:noFill/>
          <a:ln/>
        </p:spPr>
        <p:txBody>
          <a:bodyPr wrap="square" lIns="0" tIns="0" rIns="0" bIns="0" rtlCol="0" anchor="ctr"/>
          <a:lstStyle/>
          <a:p>
            <a:pPr algn="l" indent="0" marL="0">
              <a:buNone/>
            </a:pPr>
            <a:r>
              <a:rPr lang="en-US" sz="1000" b="1" dirty="0">
                <a:solidFill>
                  <a:srgbClr val="C62839"/>
                </a:solidFill>
              </a:rPr>
              <a:t>recall ≥ 0.95</a:t>
            </a:r>
            <a:endParaRPr lang="en-US" sz="1000" dirty="0"/>
          </a:p>
        </p:txBody>
      </p:sp>
      <p:sp>
        <p:nvSpPr>
          <p:cNvPr id="16" name="target-0.9"/>
          <p:cNvSpPr/>
          <p:nvPr/>
        </p:nvSpPr>
        <p:spPr>
          <a:xfrm>
            <a:off x="1325880" y="3200400"/>
            <a:ext cx="5440680" cy="0"/>
          </a:xfrm>
          <a:prstGeom prst="line">
            <a:avLst/>
          </a:prstGeom>
          <a:noFill/>
          <a:ln w="15875">
            <a:solidFill>
              <a:srgbClr val="C62839"/>
            </a:solidFill>
            <a:prstDash val="dash"/>
          </a:ln>
        </p:spPr>
      </p:sp>
      <p:sp>
        <p:nvSpPr>
          <p:cNvPr id="17" name="target-0.9-label"/>
          <p:cNvSpPr txBox="1"/>
          <p:nvPr/>
        </p:nvSpPr>
        <p:spPr>
          <a:xfrm>
            <a:off x="6821424" y="3081528"/>
            <a:ext cx="1097280" cy="237744"/>
          </a:xfrm>
          <a:prstGeom prst="rect">
            <a:avLst/>
          </a:prstGeom>
          <a:noFill/>
          <a:ln/>
        </p:spPr>
        <p:txBody>
          <a:bodyPr wrap="square" lIns="0" tIns="0" rIns="0" bIns="0" rtlCol="0" anchor="ctr"/>
          <a:lstStyle/>
          <a:p>
            <a:pPr algn="l" indent="0" marL="0">
              <a:buNone/>
            </a:pPr>
            <a:r>
              <a:rPr lang="en-US" sz="1000" b="1" dirty="0">
                <a:solidFill>
                  <a:srgbClr val="C62839"/>
                </a:solidFill>
              </a:rPr>
              <a:t>specificity ≥ 0.90</a:t>
            </a:r>
            <a:endParaRPr lang="en-US" sz="1000" dirty="0"/>
          </a:p>
        </p:txBody>
      </p:sp>
      <p:sp>
        <p:nvSpPr>
          <p:cNvPr id="18" name="bar-0-0"/>
          <p:cNvSpPr/>
          <p:nvPr/>
        </p:nvSpPr>
        <p:spPr>
          <a:xfrm>
            <a:off x="1546860" y="2583180"/>
            <a:ext cx="420624" cy="2903220"/>
          </a:xfrm>
          <a:prstGeom prst="rect">
            <a:avLst/>
          </a:prstGeom>
          <a:solidFill>
            <a:schemeClr val="accent1"/>
          </a:solidFill>
          <a:ln w="12700">
            <a:solidFill>
              <a:schemeClr val="accent1"/>
            </a:solidFill>
            <a:prstDash val="solid"/>
          </a:ln>
        </p:spPr>
      </p:sp>
      <p:sp>
        <p:nvSpPr>
          <p:cNvPr id="19" name="bar-0-0-v"/>
          <p:cNvSpPr txBox="1"/>
          <p:nvPr/>
        </p:nvSpPr>
        <p:spPr>
          <a:xfrm>
            <a:off x="1482852" y="2336292"/>
            <a:ext cx="548640" cy="228600"/>
          </a:xfrm>
          <a:prstGeom prst="rect">
            <a:avLst/>
          </a:prstGeom>
          <a:noFill/>
          <a:ln/>
        </p:spPr>
        <p:txBody>
          <a:bodyPr wrap="square" lIns="0" tIns="0" rIns="0" bIns="0" rtlCol="0" anchor="ctr"/>
          <a:lstStyle/>
          <a:p>
            <a:pPr algn="ctr" indent="0" marL="0">
              <a:buNone/>
            </a:pPr>
            <a:r>
              <a:rPr lang="en-US" sz="900" b="1" dirty="0">
                <a:solidFill>
                  <a:schemeClr val="tx1"/>
                </a:solidFill>
              </a:rPr>
              <a:t>0.954</a:t>
            </a:r>
            <a:endParaRPr lang="en-US" sz="900" dirty="0"/>
          </a:p>
        </p:txBody>
      </p:sp>
      <p:sp>
        <p:nvSpPr>
          <p:cNvPr id="20" name="bar-0-1"/>
          <p:cNvSpPr/>
          <p:nvPr/>
        </p:nvSpPr>
        <p:spPr>
          <a:xfrm>
            <a:off x="2022348" y="2400300"/>
            <a:ext cx="420624" cy="3086100"/>
          </a:xfrm>
          <a:prstGeom prst="rect">
            <a:avLst/>
          </a:prstGeom>
          <a:solidFill>
            <a:schemeClr val="tx2"/>
          </a:solidFill>
          <a:ln w="12700">
            <a:solidFill>
              <a:schemeClr val="tx2"/>
            </a:solidFill>
            <a:prstDash val="solid"/>
          </a:ln>
        </p:spPr>
      </p:sp>
      <p:sp>
        <p:nvSpPr>
          <p:cNvPr id="21" name="bar-0-1-v"/>
          <p:cNvSpPr txBox="1"/>
          <p:nvPr/>
        </p:nvSpPr>
        <p:spPr>
          <a:xfrm>
            <a:off x="1958340" y="2153412"/>
            <a:ext cx="548640" cy="228600"/>
          </a:xfrm>
          <a:prstGeom prst="rect">
            <a:avLst/>
          </a:prstGeom>
          <a:noFill/>
          <a:ln/>
        </p:spPr>
        <p:txBody>
          <a:bodyPr wrap="square" lIns="0" tIns="0" rIns="0" bIns="0" rtlCol="0" anchor="ctr"/>
          <a:lstStyle/>
          <a:p>
            <a:pPr algn="ctr" indent="0" marL="0">
              <a:buNone/>
            </a:pPr>
            <a:r>
              <a:rPr lang="en-US" sz="900" b="1" dirty="0">
                <a:solidFill>
                  <a:schemeClr val="tx1"/>
                </a:solidFill>
              </a:rPr>
              <a:t>0.970</a:t>
            </a:r>
            <a:endParaRPr lang="en-US" sz="900" dirty="0"/>
          </a:p>
        </p:txBody>
      </p:sp>
      <p:sp>
        <p:nvSpPr>
          <p:cNvPr id="22" name="bar-0-2"/>
          <p:cNvSpPr/>
          <p:nvPr/>
        </p:nvSpPr>
        <p:spPr>
          <a:xfrm>
            <a:off x="2497836" y="2583180"/>
            <a:ext cx="420624" cy="2903220"/>
          </a:xfrm>
          <a:prstGeom prst="rect">
            <a:avLst/>
          </a:prstGeom>
          <a:solidFill>
            <a:schemeClr val="accent2"/>
          </a:solidFill>
          <a:ln w="12700">
            <a:solidFill>
              <a:schemeClr val="accent2"/>
            </a:solidFill>
            <a:prstDash val="solid"/>
          </a:ln>
        </p:spPr>
      </p:sp>
      <p:sp>
        <p:nvSpPr>
          <p:cNvPr id="23" name="bar-0-2-v"/>
          <p:cNvSpPr txBox="1"/>
          <p:nvPr/>
        </p:nvSpPr>
        <p:spPr>
          <a:xfrm>
            <a:off x="2433828" y="2336292"/>
            <a:ext cx="548640" cy="228600"/>
          </a:xfrm>
          <a:prstGeom prst="rect">
            <a:avLst/>
          </a:prstGeom>
          <a:noFill/>
          <a:ln/>
        </p:spPr>
        <p:txBody>
          <a:bodyPr wrap="square" lIns="0" tIns="0" rIns="0" bIns="0" rtlCol="0" anchor="ctr"/>
          <a:lstStyle/>
          <a:p>
            <a:pPr algn="ctr" indent="0" marL="0">
              <a:buNone/>
            </a:pPr>
            <a:r>
              <a:rPr lang="en-US" sz="900" b="1" dirty="0">
                <a:solidFill>
                  <a:schemeClr val="tx1"/>
                </a:solidFill>
              </a:rPr>
              <a:t>0.954</a:t>
            </a:r>
            <a:endParaRPr lang="en-US" sz="900" dirty="0"/>
          </a:p>
        </p:txBody>
      </p:sp>
      <p:sp>
        <p:nvSpPr>
          <p:cNvPr id="24" name="cat-0"/>
          <p:cNvSpPr txBox="1"/>
          <p:nvPr/>
        </p:nvSpPr>
        <p:spPr>
          <a:xfrm>
            <a:off x="1325880" y="5559552"/>
            <a:ext cx="1813560" cy="292608"/>
          </a:xfrm>
          <a:prstGeom prst="rect">
            <a:avLst/>
          </a:prstGeom>
          <a:noFill/>
          <a:ln/>
        </p:spPr>
        <p:txBody>
          <a:bodyPr wrap="square" lIns="0" tIns="0" rIns="0" bIns="0" rtlCol="0" anchor="ctr"/>
          <a:lstStyle/>
          <a:p>
            <a:pPr algn="ctr" indent="0" marL="0">
              <a:buNone/>
            </a:pPr>
            <a:r>
              <a:rPr lang="en-US" sz="1300" b="1" dirty="0">
                <a:solidFill>
                  <a:schemeClr val="tx2"/>
                </a:solidFill>
              </a:rPr>
              <a:t>ConvNeXt-Tiny</a:t>
            </a:r>
            <a:endParaRPr lang="en-US" sz="1300" dirty="0"/>
          </a:p>
        </p:txBody>
      </p:sp>
      <p:sp>
        <p:nvSpPr>
          <p:cNvPr id="25" name="bar-1-0"/>
          <p:cNvSpPr/>
          <p:nvPr/>
        </p:nvSpPr>
        <p:spPr>
          <a:xfrm>
            <a:off x="3360420" y="2674620"/>
            <a:ext cx="420624" cy="2811780"/>
          </a:xfrm>
          <a:prstGeom prst="rect">
            <a:avLst/>
          </a:prstGeom>
          <a:solidFill>
            <a:schemeClr val="accent1"/>
          </a:solidFill>
          <a:ln w="12700">
            <a:solidFill>
              <a:schemeClr val="accent1"/>
            </a:solidFill>
            <a:prstDash val="solid"/>
          </a:ln>
        </p:spPr>
      </p:sp>
      <p:sp>
        <p:nvSpPr>
          <p:cNvPr id="26" name="bar-1-0-v"/>
          <p:cNvSpPr txBox="1"/>
          <p:nvPr/>
        </p:nvSpPr>
        <p:spPr>
          <a:xfrm>
            <a:off x="3296412" y="2427732"/>
            <a:ext cx="548640" cy="228600"/>
          </a:xfrm>
          <a:prstGeom prst="rect">
            <a:avLst/>
          </a:prstGeom>
          <a:noFill/>
          <a:ln/>
        </p:spPr>
        <p:txBody>
          <a:bodyPr wrap="square" lIns="0" tIns="0" rIns="0" bIns="0" rtlCol="0" anchor="ctr"/>
          <a:lstStyle/>
          <a:p>
            <a:pPr algn="ctr" indent="0" marL="0">
              <a:buNone/>
            </a:pPr>
            <a:r>
              <a:rPr lang="en-US" sz="900" b="1" dirty="0">
                <a:solidFill>
                  <a:schemeClr val="tx1"/>
                </a:solidFill>
              </a:rPr>
              <a:t>0.946</a:t>
            </a:r>
            <a:endParaRPr lang="en-US" sz="900" dirty="0"/>
          </a:p>
        </p:txBody>
      </p:sp>
      <p:sp>
        <p:nvSpPr>
          <p:cNvPr id="27" name="bar-1-1"/>
          <p:cNvSpPr/>
          <p:nvPr/>
        </p:nvSpPr>
        <p:spPr>
          <a:xfrm>
            <a:off x="3835908" y="3040380"/>
            <a:ext cx="420624" cy="2446020"/>
          </a:xfrm>
          <a:prstGeom prst="rect">
            <a:avLst/>
          </a:prstGeom>
          <a:solidFill>
            <a:schemeClr val="tx2"/>
          </a:solidFill>
          <a:ln w="12700">
            <a:solidFill>
              <a:schemeClr val="tx2"/>
            </a:solidFill>
            <a:prstDash val="solid"/>
          </a:ln>
        </p:spPr>
      </p:sp>
      <p:sp>
        <p:nvSpPr>
          <p:cNvPr id="28" name="bar-1-1-v"/>
          <p:cNvSpPr txBox="1"/>
          <p:nvPr/>
        </p:nvSpPr>
        <p:spPr>
          <a:xfrm>
            <a:off x="3771900" y="2793492"/>
            <a:ext cx="548640" cy="228600"/>
          </a:xfrm>
          <a:prstGeom prst="rect">
            <a:avLst/>
          </a:prstGeom>
          <a:noFill/>
          <a:ln/>
        </p:spPr>
        <p:txBody>
          <a:bodyPr wrap="square" lIns="0" tIns="0" rIns="0" bIns="0" rtlCol="0" anchor="ctr"/>
          <a:lstStyle/>
          <a:p>
            <a:pPr algn="ctr" indent="0" marL="0">
              <a:buNone/>
            </a:pPr>
            <a:r>
              <a:rPr lang="en-US" sz="900" b="1" dirty="0">
                <a:solidFill>
                  <a:schemeClr val="tx1"/>
                </a:solidFill>
              </a:rPr>
              <a:t>0.914</a:t>
            </a:r>
            <a:endParaRPr lang="en-US" sz="900" dirty="0"/>
          </a:p>
        </p:txBody>
      </p:sp>
      <p:sp>
        <p:nvSpPr>
          <p:cNvPr id="29" name="bar-1-2"/>
          <p:cNvSpPr/>
          <p:nvPr/>
        </p:nvSpPr>
        <p:spPr>
          <a:xfrm>
            <a:off x="4311396" y="3040380"/>
            <a:ext cx="420624" cy="2446020"/>
          </a:xfrm>
          <a:prstGeom prst="rect">
            <a:avLst/>
          </a:prstGeom>
          <a:solidFill>
            <a:schemeClr val="accent2"/>
          </a:solidFill>
          <a:ln w="12700">
            <a:solidFill>
              <a:schemeClr val="accent2"/>
            </a:solidFill>
            <a:prstDash val="solid"/>
          </a:ln>
        </p:spPr>
      </p:sp>
      <p:sp>
        <p:nvSpPr>
          <p:cNvPr id="30" name="bar-1-2-v"/>
          <p:cNvSpPr txBox="1"/>
          <p:nvPr/>
        </p:nvSpPr>
        <p:spPr>
          <a:xfrm>
            <a:off x="4247388" y="2793492"/>
            <a:ext cx="548640" cy="228600"/>
          </a:xfrm>
          <a:prstGeom prst="rect">
            <a:avLst/>
          </a:prstGeom>
          <a:noFill/>
          <a:ln/>
        </p:spPr>
        <p:txBody>
          <a:bodyPr wrap="square" lIns="0" tIns="0" rIns="0" bIns="0" rtlCol="0" anchor="ctr"/>
          <a:lstStyle/>
          <a:p>
            <a:pPr algn="ctr" indent="0" marL="0">
              <a:buNone/>
            </a:pPr>
            <a:r>
              <a:rPr lang="en-US" sz="900" b="1" dirty="0">
                <a:solidFill>
                  <a:schemeClr val="tx1"/>
                </a:solidFill>
              </a:rPr>
              <a:t>0.914</a:t>
            </a:r>
            <a:endParaRPr lang="en-US" sz="900" dirty="0"/>
          </a:p>
        </p:txBody>
      </p:sp>
      <p:sp>
        <p:nvSpPr>
          <p:cNvPr id="31" name="cat-1"/>
          <p:cNvSpPr txBox="1"/>
          <p:nvPr/>
        </p:nvSpPr>
        <p:spPr>
          <a:xfrm>
            <a:off x="3139440" y="5559552"/>
            <a:ext cx="1813560" cy="292608"/>
          </a:xfrm>
          <a:prstGeom prst="rect">
            <a:avLst/>
          </a:prstGeom>
          <a:noFill/>
          <a:ln/>
        </p:spPr>
        <p:txBody>
          <a:bodyPr wrap="square" lIns="0" tIns="0" rIns="0" bIns="0" rtlCol="0" anchor="ctr"/>
          <a:lstStyle/>
          <a:p>
            <a:pPr algn="ctr" indent="0" marL="0">
              <a:buNone/>
            </a:pPr>
            <a:r>
              <a:rPr lang="en-US" sz="1300" dirty="0">
                <a:solidFill>
                  <a:schemeClr val="tx1"/>
                </a:solidFill>
              </a:rPr>
              <a:t>YOLO26s</a:t>
            </a:r>
            <a:endParaRPr lang="en-US" sz="1300" dirty="0"/>
          </a:p>
        </p:txBody>
      </p:sp>
      <p:sp>
        <p:nvSpPr>
          <p:cNvPr id="32" name="bar-2-0"/>
          <p:cNvSpPr/>
          <p:nvPr/>
        </p:nvSpPr>
        <p:spPr>
          <a:xfrm>
            <a:off x="5173980" y="2423160"/>
            <a:ext cx="420624" cy="3063240"/>
          </a:xfrm>
          <a:prstGeom prst="rect">
            <a:avLst/>
          </a:prstGeom>
          <a:solidFill>
            <a:schemeClr val="accent1"/>
          </a:solidFill>
          <a:ln w="12700">
            <a:solidFill>
              <a:schemeClr val="accent1"/>
            </a:solidFill>
            <a:prstDash val="solid"/>
          </a:ln>
        </p:spPr>
      </p:sp>
      <p:sp>
        <p:nvSpPr>
          <p:cNvPr id="33" name="bar-2-0-v"/>
          <p:cNvSpPr txBox="1"/>
          <p:nvPr/>
        </p:nvSpPr>
        <p:spPr>
          <a:xfrm>
            <a:off x="5109972" y="2176272"/>
            <a:ext cx="548640" cy="228600"/>
          </a:xfrm>
          <a:prstGeom prst="rect">
            <a:avLst/>
          </a:prstGeom>
          <a:noFill/>
          <a:ln/>
        </p:spPr>
        <p:txBody>
          <a:bodyPr wrap="square" lIns="0" tIns="0" rIns="0" bIns="0" rtlCol="0" anchor="ctr"/>
          <a:lstStyle/>
          <a:p>
            <a:pPr algn="ctr" indent="0" marL="0">
              <a:buNone/>
            </a:pPr>
            <a:r>
              <a:rPr lang="en-US" sz="900" b="1" dirty="0">
                <a:solidFill>
                  <a:schemeClr val="tx1"/>
                </a:solidFill>
              </a:rPr>
              <a:t>0.968</a:t>
            </a:r>
            <a:endParaRPr lang="en-US" sz="900" dirty="0"/>
          </a:p>
        </p:txBody>
      </p:sp>
      <p:sp>
        <p:nvSpPr>
          <p:cNvPr id="34" name="bar-2-1"/>
          <p:cNvSpPr/>
          <p:nvPr/>
        </p:nvSpPr>
        <p:spPr>
          <a:xfrm>
            <a:off x="5649468" y="4663440"/>
            <a:ext cx="420624" cy="822960"/>
          </a:xfrm>
          <a:prstGeom prst="rect">
            <a:avLst/>
          </a:prstGeom>
          <a:solidFill>
            <a:schemeClr val="tx2"/>
          </a:solidFill>
          <a:ln w="12700">
            <a:solidFill>
              <a:schemeClr val="tx2"/>
            </a:solidFill>
            <a:prstDash val="solid"/>
          </a:ln>
        </p:spPr>
      </p:sp>
      <p:sp>
        <p:nvSpPr>
          <p:cNvPr id="35" name="bar-2-1-v"/>
          <p:cNvSpPr txBox="1"/>
          <p:nvPr/>
        </p:nvSpPr>
        <p:spPr>
          <a:xfrm>
            <a:off x="5585460" y="4416552"/>
            <a:ext cx="548640" cy="228600"/>
          </a:xfrm>
          <a:prstGeom prst="rect">
            <a:avLst/>
          </a:prstGeom>
          <a:noFill/>
          <a:ln/>
        </p:spPr>
        <p:txBody>
          <a:bodyPr wrap="square" lIns="0" tIns="0" rIns="0" bIns="0" rtlCol="0" anchor="ctr"/>
          <a:lstStyle/>
          <a:p>
            <a:pPr algn="ctr" indent="0" marL="0">
              <a:buNone/>
            </a:pPr>
            <a:r>
              <a:rPr lang="en-US" sz="900" b="1" dirty="0">
                <a:solidFill>
                  <a:schemeClr val="tx1"/>
                </a:solidFill>
              </a:rPr>
              <a:t>0.772</a:t>
            </a:r>
            <a:endParaRPr lang="en-US" sz="900" dirty="0"/>
          </a:p>
        </p:txBody>
      </p:sp>
      <p:sp>
        <p:nvSpPr>
          <p:cNvPr id="36" name="bar-2-2"/>
          <p:cNvSpPr/>
          <p:nvPr/>
        </p:nvSpPr>
        <p:spPr>
          <a:xfrm>
            <a:off x="6124956" y="2468880"/>
            <a:ext cx="420624" cy="3017520"/>
          </a:xfrm>
          <a:prstGeom prst="rect">
            <a:avLst/>
          </a:prstGeom>
          <a:solidFill>
            <a:schemeClr val="accent2"/>
          </a:solidFill>
          <a:ln w="12700">
            <a:solidFill>
              <a:schemeClr val="accent2"/>
            </a:solidFill>
            <a:prstDash val="solid"/>
          </a:ln>
        </p:spPr>
      </p:sp>
      <p:sp>
        <p:nvSpPr>
          <p:cNvPr id="37" name="bar-2-2-v"/>
          <p:cNvSpPr txBox="1"/>
          <p:nvPr/>
        </p:nvSpPr>
        <p:spPr>
          <a:xfrm>
            <a:off x="6060948" y="2221992"/>
            <a:ext cx="548640" cy="228600"/>
          </a:xfrm>
          <a:prstGeom prst="rect">
            <a:avLst/>
          </a:prstGeom>
          <a:noFill/>
          <a:ln/>
        </p:spPr>
        <p:txBody>
          <a:bodyPr wrap="square" lIns="0" tIns="0" rIns="0" bIns="0" rtlCol="0" anchor="ctr"/>
          <a:lstStyle/>
          <a:p>
            <a:pPr algn="ctr" indent="0" marL="0">
              <a:buNone/>
            </a:pPr>
            <a:r>
              <a:rPr lang="en-US" sz="900" b="1" dirty="0">
                <a:solidFill>
                  <a:schemeClr val="tx1"/>
                </a:solidFill>
              </a:rPr>
              <a:t>0.964</a:t>
            </a:r>
            <a:endParaRPr lang="en-US" sz="900" dirty="0"/>
          </a:p>
        </p:txBody>
      </p:sp>
      <p:sp>
        <p:nvSpPr>
          <p:cNvPr id="38" name="cat-2"/>
          <p:cNvSpPr txBox="1"/>
          <p:nvPr/>
        </p:nvSpPr>
        <p:spPr>
          <a:xfrm>
            <a:off x="4953000" y="5559552"/>
            <a:ext cx="1813560" cy="292608"/>
          </a:xfrm>
          <a:prstGeom prst="rect">
            <a:avLst/>
          </a:prstGeom>
          <a:noFill/>
          <a:ln/>
        </p:spPr>
        <p:txBody>
          <a:bodyPr wrap="square" lIns="0" tIns="0" rIns="0" bIns="0" rtlCol="0" anchor="ctr"/>
          <a:lstStyle/>
          <a:p>
            <a:pPr algn="ctr" indent="0" marL="0">
              <a:buNone/>
            </a:pPr>
            <a:r>
              <a:rPr lang="en-US" sz="1300" dirty="0">
                <a:solidFill>
                  <a:schemeClr val="tx1"/>
                </a:solidFill>
              </a:rPr>
              <a:t>YOLO26n</a:t>
            </a:r>
            <a:endParaRPr lang="en-US" sz="1300" dirty="0"/>
          </a:p>
        </p:txBody>
      </p:sp>
      <p:sp>
        <p:nvSpPr>
          <p:cNvPr id="39" name="legend-0"/>
          <p:cNvSpPr/>
          <p:nvPr/>
        </p:nvSpPr>
        <p:spPr>
          <a:xfrm>
            <a:off x="1325880" y="6016752"/>
            <a:ext cx="201168" cy="164592"/>
          </a:xfrm>
          <a:prstGeom prst="rect">
            <a:avLst/>
          </a:prstGeom>
          <a:solidFill>
            <a:schemeClr val="accent1"/>
          </a:solidFill>
          <a:ln w="12700">
            <a:solidFill>
              <a:schemeClr val="accent1"/>
            </a:solidFill>
            <a:prstDash val="solid"/>
          </a:ln>
        </p:spPr>
      </p:sp>
      <p:sp>
        <p:nvSpPr>
          <p:cNvPr id="40" name="legend-0-t"/>
          <p:cNvSpPr txBox="1"/>
          <p:nvPr/>
        </p:nvSpPr>
        <p:spPr>
          <a:xfrm>
            <a:off x="1600200" y="5961888"/>
            <a:ext cx="1737360" cy="274320"/>
          </a:xfrm>
          <a:prstGeom prst="rect">
            <a:avLst/>
          </a:prstGeom>
          <a:noFill/>
          <a:ln/>
        </p:spPr>
        <p:txBody>
          <a:bodyPr wrap="square" lIns="0" tIns="0" rIns="0" bIns="0" rtlCol="0" anchor="ctr"/>
          <a:lstStyle/>
          <a:p>
            <a:pPr indent="0" marL="0">
              <a:buNone/>
            </a:pPr>
            <a:r>
              <a:rPr lang="en-US" sz="1100" dirty="0">
                <a:solidFill>
                  <a:schemeClr val="tx1"/>
                </a:solidFill>
              </a:rPr>
              <a:t>Defect recall</a:t>
            </a:r>
            <a:endParaRPr lang="en-US" sz="1100" dirty="0"/>
          </a:p>
        </p:txBody>
      </p:sp>
      <p:sp>
        <p:nvSpPr>
          <p:cNvPr id="41" name="legend-1"/>
          <p:cNvSpPr/>
          <p:nvPr/>
        </p:nvSpPr>
        <p:spPr>
          <a:xfrm>
            <a:off x="3383280" y="6016752"/>
            <a:ext cx="201168" cy="164592"/>
          </a:xfrm>
          <a:prstGeom prst="rect">
            <a:avLst/>
          </a:prstGeom>
          <a:solidFill>
            <a:schemeClr val="tx2"/>
          </a:solidFill>
          <a:ln w="12700">
            <a:solidFill>
              <a:schemeClr val="tx2"/>
            </a:solidFill>
            <a:prstDash val="solid"/>
          </a:ln>
        </p:spPr>
      </p:sp>
      <p:sp>
        <p:nvSpPr>
          <p:cNvPr id="42" name="legend-1-t"/>
          <p:cNvSpPr txBox="1"/>
          <p:nvPr/>
        </p:nvSpPr>
        <p:spPr>
          <a:xfrm>
            <a:off x="3657600" y="5961888"/>
            <a:ext cx="1737360" cy="274320"/>
          </a:xfrm>
          <a:prstGeom prst="rect">
            <a:avLst/>
          </a:prstGeom>
          <a:noFill/>
          <a:ln/>
        </p:spPr>
        <p:txBody>
          <a:bodyPr wrap="square" lIns="0" tIns="0" rIns="0" bIns="0" rtlCol="0" anchor="ctr"/>
          <a:lstStyle/>
          <a:p>
            <a:pPr indent="0" marL="0">
              <a:buNone/>
            </a:pPr>
            <a:r>
              <a:rPr lang="en-US" sz="1100" dirty="0">
                <a:solidFill>
                  <a:schemeClr val="tx1"/>
                </a:solidFill>
              </a:rPr>
              <a:t>Specificity</a:t>
            </a:r>
            <a:endParaRPr lang="en-US" sz="1100" dirty="0"/>
          </a:p>
        </p:txBody>
      </p:sp>
      <p:sp>
        <p:nvSpPr>
          <p:cNvPr id="43" name="legend-2"/>
          <p:cNvSpPr/>
          <p:nvPr/>
        </p:nvSpPr>
        <p:spPr>
          <a:xfrm>
            <a:off x="5440680" y="6016752"/>
            <a:ext cx="201168" cy="164592"/>
          </a:xfrm>
          <a:prstGeom prst="rect">
            <a:avLst/>
          </a:prstGeom>
          <a:solidFill>
            <a:schemeClr val="accent2"/>
          </a:solidFill>
          <a:ln w="12700">
            <a:solidFill>
              <a:schemeClr val="accent2"/>
            </a:solidFill>
            <a:prstDash val="solid"/>
          </a:ln>
        </p:spPr>
      </p:sp>
      <p:sp>
        <p:nvSpPr>
          <p:cNvPr id="44" name="legend-2-t"/>
          <p:cNvSpPr txBox="1"/>
          <p:nvPr/>
        </p:nvSpPr>
        <p:spPr>
          <a:xfrm>
            <a:off x="5715000" y="5961888"/>
            <a:ext cx="1737360" cy="274320"/>
          </a:xfrm>
          <a:prstGeom prst="rect">
            <a:avLst/>
          </a:prstGeom>
          <a:noFill/>
          <a:ln/>
        </p:spPr>
        <p:txBody>
          <a:bodyPr wrap="square" lIns="0" tIns="0" rIns="0" bIns="0" rtlCol="0" anchor="ctr"/>
          <a:lstStyle/>
          <a:p>
            <a:pPr indent="0" marL="0">
              <a:buNone/>
            </a:pPr>
            <a:r>
              <a:rPr lang="en-US" sz="1100" dirty="0">
                <a:solidFill>
                  <a:schemeClr val="tx1"/>
                </a:solidFill>
              </a:rPr>
              <a:t>Recall in low light</a:t>
            </a:r>
            <a:endParaRPr lang="en-US" sz="1100" dirty="0"/>
          </a:p>
        </p:txBody>
      </p:sp>
      <p:sp>
        <p:nvSpPr>
          <p:cNvPr id="45" name="winner-card"/>
          <p:cNvSpPr/>
          <p:nvPr/>
        </p:nvSpPr>
        <p:spPr>
          <a:xfrm>
            <a:off x="7955280" y="1783080"/>
            <a:ext cx="3886200" cy="2148840"/>
          </a:xfrm>
          <a:prstGeom prst="rect">
            <a:avLst/>
          </a:prstGeom>
          <a:solidFill>
            <a:schemeClr val="bg1"/>
          </a:solidFill>
          <a:ln w="12700">
            <a:solidFill>
              <a:schemeClr val="bg2"/>
            </a:solidFill>
            <a:prstDash val="solid"/>
          </a:ln>
        </p:spPr>
      </p:sp>
      <p:sp>
        <p:nvSpPr>
          <p:cNvPr id="46" name="winner-bar"/>
          <p:cNvSpPr/>
          <p:nvPr/>
        </p:nvSpPr>
        <p:spPr>
          <a:xfrm>
            <a:off x="7955280" y="1783080"/>
            <a:ext cx="3886200" cy="82296"/>
          </a:xfrm>
          <a:prstGeom prst="rect">
            <a:avLst/>
          </a:prstGeom>
          <a:solidFill>
            <a:schemeClr val="accent2"/>
          </a:solidFill>
          <a:ln w="12700">
            <a:solidFill>
              <a:schemeClr val="accent2"/>
            </a:solidFill>
            <a:prstDash val="solid"/>
          </a:ln>
        </p:spPr>
      </p:sp>
      <p:sp>
        <p:nvSpPr>
          <p:cNvPr id="47" name="winner-k"/>
          <p:cNvSpPr txBox="1"/>
          <p:nvPr/>
        </p:nvSpPr>
        <p:spPr>
          <a:xfrm>
            <a:off x="8229600" y="1993392"/>
            <a:ext cx="3383280" cy="320040"/>
          </a:xfrm>
          <a:prstGeom prst="rect">
            <a:avLst/>
          </a:prstGeom>
          <a:noFill/>
          <a:ln/>
        </p:spPr>
        <p:txBody>
          <a:bodyPr wrap="square" lIns="0" tIns="0" rIns="0" bIns="0" rtlCol="0" anchor="ctr"/>
          <a:lstStyle/>
          <a:p>
            <a:pPr indent="0" marL="0">
              <a:buNone/>
            </a:pPr>
            <a:r>
              <a:rPr lang="en-US" sz="1300" b="1" dirty="0">
                <a:solidFill>
                  <a:schemeClr val="accent1"/>
                </a:solidFill>
              </a:rPr>
              <a:t>Winner</a:t>
            </a:r>
            <a:endParaRPr lang="en-US" sz="1300" dirty="0"/>
          </a:p>
        </p:txBody>
      </p:sp>
      <p:sp>
        <p:nvSpPr>
          <p:cNvPr id="48" name="winner-name"/>
          <p:cNvSpPr txBox="1"/>
          <p:nvPr/>
        </p:nvSpPr>
        <p:spPr>
          <a:xfrm>
            <a:off x="8229600" y="2304288"/>
            <a:ext cx="3474720" cy="548640"/>
          </a:xfrm>
          <a:prstGeom prst="rect">
            <a:avLst/>
          </a:prstGeom>
          <a:noFill/>
          <a:ln/>
        </p:spPr>
        <p:txBody>
          <a:bodyPr wrap="square" lIns="0" tIns="0" rIns="0" bIns="0" rtlCol="0" anchor="ctr"/>
          <a:lstStyle/>
          <a:p>
            <a:pPr indent="0" marL="0">
              <a:buNone/>
            </a:pPr>
            <a:r>
              <a:rPr lang="en-US" sz="2600" b="1" i="1" dirty="0">
                <a:solidFill>
                  <a:schemeClr val="tx2"/>
                </a:solidFill>
                <a:latin typeface="+mj-lt" pitchFamily="34" charset="0"/>
                <a:ea typeface="+mj-lt" pitchFamily="34" charset="-122"/>
                <a:cs typeface="+mj-lt" pitchFamily="34" charset="-120"/>
              </a:rPr>
              <a:t>ConvNeXt-Tiny</a:t>
            </a:r>
            <a:endParaRPr lang="en-US" sz="2600" dirty="0"/>
          </a:p>
        </p:txBody>
      </p:sp>
      <p:sp>
        <p:nvSpPr>
          <p:cNvPr id="49" name="winner-sub"/>
          <p:cNvSpPr txBox="1"/>
          <p:nvPr/>
        </p:nvSpPr>
        <p:spPr>
          <a:xfrm>
            <a:off x="8229600" y="2880360"/>
            <a:ext cx="3429000" cy="822960"/>
          </a:xfrm>
          <a:prstGeom prst="rect">
            <a:avLst/>
          </a:prstGeom>
          <a:noFill/>
          <a:ln/>
        </p:spPr>
        <p:txBody>
          <a:bodyPr wrap="square" lIns="0" tIns="0" rIns="0" bIns="0" rtlCol="0" anchor="t"/>
          <a:lstStyle/>
          <a:p>
            <a:pPr indent="0" marL="0">
              <a:buNone/>
            </a:pPr>
            <a:r>
              <a:rPr lang="en-US" sz="1300" dirty="0">
                <a:solidFill>
                  <a:schemeClr val="accent4"/>
                </a:solidFill>
              </a:rPr>
              <a:t>ImageNet weights, pinned by SHA-256 · served through ONNX Runtime</a:t>
            </a:r>
            <a:endParaRPr lang="en-US" sz="1300" dirty="0"/>
          </a:p>
        </p:txBody>
      </p:sp>
      <p:sp>
        <p:nvSpPr>
          <p:cNvPr id="50" name="bench-notes"/>
          <p:cNvSpPr txBox="1"/>
          <p:nvPr/>
        </p:nvSpPr>
        <p:spPr>
          <a:xfrm>
            <a:off x="8001000" y="4160520"/>
            <a:ext cx="3840480" cy="2011680"/>
          </a:xfrm>
          <a:prstGeom prst="rect">
            <a:avLst/>
          </a:prstGeom>
          <a:noFill/>
          <a:ln/>
        </p:spPr>
        <p:txBody>
          <a:bodyPr wrap="square" lIns="508" tIns="508" rIns="508" bIns="508" rtlCol="0" anchor="t"/>
          <a:lstStyle/>
          <a:p>
            <a:pPr marL="342900" indent="-342900">
              <a:spcAft>
                <a:spcPts val="1000"/>
              </a:spcAft>
              <a:buSzPct val="100000"/>
              <a:buChar char="■"/>
            </a:pPr>
            <a:r>
              <a:rPr lang="en-US" sz="1600" dirty="0">
                <a:solidFill>
                  <a:schemeClr val="tx1"/>
                </a:solidFill>
              </a:rPr>
              <a:t>YOLO26s: recall 0.946 &lt; 0.95</a:t>
            </a:r>
            <a:endParaRPr lang="en-US" sz="1600" dirty="0"/>
          </a:p>
          <a:p>
            <a:pPr marL="342900" indent="-342900">
              <a:spcAft>
                <a:spcPts val="1000"/>
              </a:spcAft>
              <a:buSzPct val="100000"/>
              <a:buChar char="■"/>
            </a:pPr>
            <a:r>
              <a:rPr lang="en-US" sz="1600" dirty="0">
                <a:solidFill>
                  <a:schemeClr val="tx1"/>
                </a:solidFill>
              </a:rPr>
              <a:t>YOLO26n: specificity 0.772 &lt; 0.90</a:t>
            </a:r>
            <a:endParaRPr lang="en-US" sz="1600" dirty="0"/>
          </a:p>
          <a:p>
            <a:pPr marL="342900" indent="-342900">
              <a:spcAft>
                <a:spcPts val="1000"/>
              </a:spcAft>
              <a:buSzPct val="100000"/>
              <a:buChar char="■"/>
            </a:pPr>
            <a:r>
              <a:rPr lang="en-US" sz="1600" dirty="0">
                <a:solidFill>
                  <a:schemeClr val="tx1"/>
                </a:solidFill>
              </a:rPr>
              <a:t>Low light: 0.954 vs 0.76 before</a:t>
            </a:r>
            <a:endParaRPr lang="en-US" sz="1600" dirty="0"/>
          </a:p>
        </p:txBody>
      </p:sp>
      <p:sp>
        <p:nvSpPr>
          <p:cNvPr id="25" name="Slide Number Placeholder 0"/>
          <p:cNvSpPr>
            <a:spLocks noGrp="1"/>
          </p:cNvSpPr>
          <p:nvPr>
            <p:ph type="sldNum" sz="quarter" idx="4294967295"/>
          </p:nvPr>
        </p:nvSpPr>
        <p:spPr>
          <a:xfrm>
            <a:off x="10972800" y="6400800"/>
            <a:ext cx="310896"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100">
                <a:solidFill>
                  <a:schemeClr val="accent4"/>
                </a:solidFill>
                <a:latin typeface="+mn-lt"/>
                <a:ea typeface="+mn-lt"/>
                <a:cs typeface="+mn-lt"/>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body" hasCustomPrompt="1"/>
          </p:nvPr>
        </p:nvSpPr>
        <p:spPr>
          <a:xfrm>
            <a:off x="777240" y="384048"/>
            <a:ext cx="10058400" cy="365760"/>
          </a:xfrm>
          <a:prstGeom prst="rect">
            <a:avLst/>
          </a:prstGeom>
          <a:noFill/>
          <a:ln/>
        </p:spPr>
        <p:txBody>
          <a:bodyPr wrap="square" lIns="0" tIns="0" rIns="0" bIns="0" rtlCol="0" anchor="ctr"/>
          <a:lstStyle/>
          <a:p>
            <a:pPr indent="0" marL="0">
              <a:buNone/>
            </a:pPr>
            <a:r>
              <a:rPr lang="en-US" sz="1400" b="1" dirty="0">
                <a:solidFill>
                  <a:schemeClr val="accent1"/>
                </a:solidFill>
              </a:rPr>
              <a:t>MODEL RESULTS</a:t>
            </a:r>
            <a:endParaRPr lang="en-US" sz="1400" dirty="0"/>
          </a:p>
        </p:txBody>
      </p:sp>
      <p:sp>
        <p:nvSpPr>
          <p:cNvPr id="3" name="Text 2"/>
          <p:cNvSpPr/>
          <p:nvPr>
            <p:ph idx="103" type="title" hasCustomPrompt="1"/>
          </p:nvPr>
        </p:nvSpPr>
        <p:spPr>
          <a:xfrm>
            <a:off x="777240" y="731520"/>
            <a:ext cx="11064240" cy="822960"/>
          </a:xfrm>
          <a:prstGeom prst="rect">
            <a:avLst/>
          </a:prstGeom>
          <a:noFill/>
          <a:ln/>
        </p:spPr>
        <p:txBody>
          <a:bodyPr wrap="square" lIns="0" tIns="0" rIns="0" bIns="0" rtlCol="0" anchor="ctr"/>
          <a:lstStyle/>
          <a:p>
            <a:pPr algn="l" indent="0" marL="0">
              <a:buNone/>
            </a:pPr>
            <a:r>
              <a:rPr lang="en-US" sz="3000" b="1" i="1" dirty="0">
                <a:solidFill>
                  <a:schemeClr val="tx2"/>
                </a:solidFill>
              </a:rPr>
              <a:t>Robust in low light; honest about D1 recall</a:t>
            </a:r>
            <a:endParaRPr lang="en-US" sz="3000" dirty="0"/>
          </a:p>
        </p:txBody>
      </p:sp>
      <p:sp>
        <p:nvSpPr>
          <p:cNvPr id="5" name="res-0-card"/>
          <p:cNvSpPr/>
          <p:nvPr/>
        </p:nvSpPr>
        <p:spPr>
          <a:xfrm>
            <a:off x="777240" y="1828800"/>
            <a:ext cx="2532888" cy="1600200"/>
          </a:xfrm>
          <a:prstGeom prst="rect">
            <a:avLst/>
          </a:prstGeom>
          <a:solidFill>
            <a:schemeClr val="bg1"/>
          </a:solidFill>
          <a:ln w="12700">
            <a:solidFill>
              <a:schemeClr val="bg2"/>
            </a:solidFill>
            <a:prstDash val="solid"/>
          </a:ln>
        </p:spPr>
      </p:sp>
      <p:sp>
        <p:nvSpPr>
          <p:cNvPr id="6" name="res-0-bar"/>
          <p:cNvSpPr/>
          <p:nvPr/>
        </p:nvSpPr>
        <p:spPr>
          <a:xfrm>
            <a:off x="777240" y="1828800"/>
            <a:ext cx="2532888" cy="82296"/>
          </a:xfrm>
          <a:prstGeom prst="rect">
            <a:avLst/>
          </a:prstGeom>
          <a:solidFill>
            <a:schemeClr val="accent2"/>
          </a:solidFill>
          <a:ln w="12700">
            <a:solidFill>
              <a:schemeClr val="accent2"/>
            </a:solidFill>
            <a:prstDash val="solid"/>
          </a:ln>
        </p:spPr>
      </p:sp>
      <p:sp>
        <p:nvSpPr>
          <p:cNvPr id="7" name="res-0-big"/>
          <p:cNvSpPr txBox="1"/>
          <p:nvPr/>
        </p:nvSpPr>
        <p:spPr>
          <a:xfrm>
            <a:off x="1005840" y="2057400"/>
            <a:ext cx="2240280" cy="640080"/>
          </a:xfrm>
          <a:prstGeom prst="rect">
            <a:avLst/>
          </a:prstGeom>
          <a:noFill/>
          <a:ln/>
        </p:spPr>
        <p:txBody>
          <a:bodyPr wrap="square" lIns="0" tIns="0" rIns="0" bIns="0" rtlCol="0" anchor="ctr"/>
          <a:lstStyle/>
          <a:p>
            <a:pPr indent="0" marL="0">
              <a:buNone/>
            </a:pPr>
            <a:r>
              <a:rPr lang="en-US" sz="3000" b="1" i="1" dirty="0">
                <a:solidFill>
                  <a:schemeClr val="tx2"/>
                </a:solidFill>
                <a:latin typeface="+mj-lt" pitchFamily="34" charset="0"/>
                <a:ea typeface="+mj-lt" pitchFamily="34" charset="-122"/>
                <a:cs typeface="+mj-lt" pitchFamily="34" charset="-120"/>
              </a:rPr>
              <a:t>4 / 282</a:t>
            </a:r>
            <a:endParaRPr lang="en-US" sz="3000" dirty="0"/>
          </a:p>
        </p:txBody>
      </p:sp>
      <p:sp>
        <p:nvSpPr>
          <p:cNvPr id="8" name="res-0-label"/>
          <p:cNvSpPr txBox="1"/>
          <p:nvPr/>
        </p:nvSpPr>
        <p:spPr>
          <a:xfrm>
            <a:off x="1005840" y="2743200"/>
            <a:ext cx="2240280" cy="594360"/>
          </a:xfrm>
          <a:prstGeom prst="rect">
            <a:avLst/>
          </a:prstGeom>
          <a:noFill/>
          <a:ln/>
        </p:spPr>
        <p:txBody>
          <a:bodyPr wrap="square" lIns="0" tIns="0" rIns="0" bIns="0" rtlCol="0" anchor="t"/>
          <a:lstStyle/>
          <a:p>
            <a:pPr indent="0" marL="0">
              <a:buNone/>
            </a:pPr>
            <a:r>
              <a:rPr lang="en-US" sz="1300" dirty="0">
                <a:solidFill>
                  <a:schemeClr val="accent4"/>
                </a:solidFill>
              </a:rPr>
              <a:t>defective tyres</a:t>
            </a:r>
            <a:endParaRPr lang="en-US" sz="1300" dirty="0"/>
          </a:p>
          <a:p>
            <a:pPr indent="0" marL="0">
              <a:buNone/>
            </a:pPr>
            <a:r>
              <a:rPr lang="en-US" sz="1300" dirty="0">
                <a:solidFill>
                  <a:schemeClr val="accent4"/>
                </a:solidFill>
              </a:rPr>
              <a:t>auto-cleared (test)</a:t>
            </a:r>
            <a:endParaRPr lang="en-US" sz="1300" dirty="0"/>
          </a:p>
        </p:txBody>
      </p:sp>
      <p:sp>
        <p:nvSpPr>
          <p:cNvPr id="9" name="res-1-card"/>
          <p:cNvSpPr/>
          <p:nvPr/>
        </p:nvSpPr>
        <p:spPr>
          <a:xfrm>
            <a:off x="3493008" y="1828800"/>
            <a:ext cx="2532888" cy="1600200"/>
          </a:xfrm>
          <a:prstGeom prst="rect">
            <a:avLst/>
          </a:prstGeom>
          <a:solidFill>
            <a:schemeClr val="bg1"/>
          </a:solidFill>
          <a:ln w="12700">
            <a:solidFill>
              <a:schemeClr val="bg2"/>
            </a:solidFill>
            <a:prstDash val="solid"/>
          </a:ln>
        </p:spPr>
      </p:sp>
      <p:sp>
        <p:nvSpPr>
          <p:cNvPr id="10" name="res-1-bar"/>
          <p:cNvSpPr/>
          <p:nvPr/>
        </p:nvSpPr>
        <p:spPr>
          <a:xfrm>
            <a:off x="3493008" y="1828800"/>
            <a:ext cx="2532888" cy="82296"/>
          </a:xfrm>
          <a:prstGeom prst="rect">
            <a:avLst/>
          </a:prstGeom>
          <a:solidFill>
            <a:schemeClr val="accent2"/>
          </a:solidFill>
          <a:ln w="12700">
            <a:solidFill>
              <a:schemeClr val="accent2"/>
            </a:solidFill>
            <a:prstDash val="solid"/>
          </a:ln>
        </p:spPr>
      </p:sp>
      <p:sp>
        <p:nvSpPr>
          <p:cNvPr id="11" name="res-1-big"/>
          <p:cNvSpPr txBox="1"/>
          <p:nvPr/>
        </p:nvSpPr>
        <p:spPr>
          <a:xfrm>
            <a:off x="3721608" y="2057400"/>
            <a:ext cx="2240280" cy="640080"/>
          </a:xfrm>
          <a:prstGeom prst="rect">
            <a:avLst/>
          </a:prstGeom>
          <a:noFill/>
          <a:ln/>
        </p:spPr>
        <p:txBody>
          <a:bodyPr wrap="square" lIns="0" tIns="0" rIns="0" bIns="0" rtlCol="0" anchor="ctr"/>
          <a:lstStyle/>
          <a:p>
            <a:pPr indent="0" marL="0">
              <a:buNone/>
            </a:pPr>
            <a:r>
              <a:rPr lang="en-US" sz="3000" b="1" i="1" dirty="0">
                <a:solidFill>
                  <a:schemeClr val="tx2"/>
                </a:solidFill>
                <a:latin typeface="+mj-lt" pitchFamily="34" charset="0"/>
                <a:ea typeface="+mj-lt" pitchFamily="34" charset="-122"/>
                <a:cs typeface="+mj-lt" pitchFamily="34" charset="-120"/>
              </a:rPr>
              <a:t>0.971</a:t>
            </a:r>
            <a:endParaRPr lang="en-US" sz="3000" dirty="0"/>
          </a:p>
        </p:txBody>
      </p:sp>
      <p:sp>
        <p:nvSpPr>
          <p:cNvPr id="12" name="res-1-label"/>
          <p:cNvSpPr txBox="1"/>
          <p:nvPr/>
        </p:nvSpPr>
        <p:spPr>
          <a:xfrm>
            <a:off x="3721608" y="2743200"/>
            <a:ext cx="2240280" cy="594360"/>
          </a:xfrm>
          <a:prstGeom prst="rect">
            <a:avLst/>
          </a:prstGeom>
          <a:noFill/>
          <a:ln/>
        </p:spPr>
        <p:txBody>
          <a:bodyPr wrap="square" lIns="0" tIns="0" rIns="0" bIns="0" rtlCol="0" anchor="t"/>
          <a:lstStyle/>
          <a:p>
            <a:pPr indent="0" marL="0">
              <a:buNone/>
            </a:pPr>
            <a:r>
              <a:rPr lang="en-US" sz="1300" dirty="0">
                <a:solidFill>
                  <a:schemeClr val="accent4"/>
                </a:solidFill>
              </a:rPr>
              <a:t>test specificity</a:t>
            </a:r>
            <a:endParaRPr lang="en-US" sz="1300" dirty="0"/>
          </a:p>
          <a:p>
            <a:pPr indent="0" marL="0">
              <a:buNone/>
            </a:pPr>
            <a:r>
              <a:rPr lang="en-US" sz="1300" dirty="0">
                <a:solidFill>
                  <a:schemeClr val="accent4"/>
                </a:solidFill>
              </a:rPr>
              <a:t>clean tyres cleared</a:t>
            </a:r>
            <a:endParaRPr lang="en-US" sz="1300" dirty="0"/>
          </a:p>
        </p:txBody>
      </p:sp>
      <p:sp>
        <p:nvSpPr>
          <p:cNvPr id="13" name="res-2-card"/>
          <p:cNvSpPr/>
          <p:nvPr/>
        </p:nvSpPr>
        <p:spPr>
          <a:xfrm>
            <a:off x="6208776" y="1828800"/>
            <a:ext cx="2532888" cy="1600200"/>
          </a:xfrm>
          <a:prstGeom prst="rect">
            <a:avLst/>
          </a:prstGeom>
          <a:solidFill>
            <a:schemeClr val="bg1"/>
          </a:solidFill>
          <a:ln w="12700">
            <a:solidFill>
              <a:schemeClr val="bg2"/>
            </a:solidFill>
            <a:prstDash val="solid"/>
          </a:ln>
        </p:spPr>
      </p:sp>
      <p:sp>
        <p:nvSpPr>
          <p:cNvPr id="14" name="res-2-bar"/>
          <p:cNvSpPr/>
          <p:nvPr/>
        </p:nvSpPr>
        <p:spPr>
          <a:xfrm>
            <a:off x="6208776" y="1828800"/>
            <a:ext cx="2532888" cy="82296"/>
          </a:xfrm>
          <a:prstGeom prst="rect">
            <a:avLst/>
          </a:prstGeom>
          <a:solidFill>
            <a:schemeClr val="accent2"/>
          </a:solidFill>
          <a:ln w="12700">
            <a:solidFill>
              <a:schemeClr val="accent2"/>
            </a:solidFill>
            <a:prstDash val="solid"/>
          </a:ln>
        </p:spPr>
      </p:sp>
      <p:sp>
        <p:nvSpPr>
          <p:cNvPr id="15" name="res-2-big"/>
          <p:cNvSpPr txBox="1"/>
          <p:nvPr/>
        </p:nvSpPr>
        <p:spPr>
          <a:xfrm>
            <a:off x="6437376" y="2057400"/>
            <a:ext cx="2240280" cy="640080"/>
          </a:xfrm>
          <a:prstGeom prst="rect">
            <a:avLst/>
          </a:prstGeom>
          <a:noFill/>
          <a:ln/>
        </p:spPr>
        <p:txBody>
          <a:bodyPr wrap="square" lIns="0" tIns="0" rIns="0" bIns="0" rtlCol="0" anchor="ctr"/>
          <a:lstStyle/>
          <a:p>
            <a:pPr indent="0" marL="0">
              <a:buNone/>
            </a:pPr>
            <a:r>
              <a:rPr lang="en-US" sz="3000" b="1" i="1" dirty="0">
                <a:solidFill>
                  <a:schemeClr val="tx2"/>
                </a:solidFill>
                <a:latin typeface="+mj-lt" pitchFamily="34" charset="0"/>
                <a:ea typeface="+mj-lt" pitchFamily="34" charset="-122"/>
                <a:cs typeface="+mj-lt" pitchFamily="34" charset="-120"/>
              </a:rPr>
              <a:t>0.90</a:t>
            </a:r>
            <a:endParaRPr lang="en-US" sz="3000" dirty="0"/>
          </a:p>
        </p:txBody>
      </p:sp>
      <p:sp>
        <p:nvSpPr>
          <p:cNvPr id="16" name="res-2-label"/>
          <p:cNvSpPr txBox="1"/>
          <p:nvPr/>
        </p:nvSpPr>
        <p:spPr>
          <a:xfrm>
            <a:off x="6437376" y="2743200"/>
            <a:ext cx="2240280" cy="594360"/>
          </a:xfrm>
          <a:prstGeom prst="rect">
            <a:avLst/>
          </a:prstGeom>
          <a:noFill/>
          <a:ln/>
        </p:spPr>
        <p:txBody>
          <a:bodyPr wrap="square" lIns="0" tIns="0" rIns="0" bIns="0" rtlCol="0" anchor="t"/>
          <a:lstStyle/>
          <a:p>
            <a:pPr indent="0" marL="0">
              <a:buNone/>
            </a:pPr>
            <a:r>
              <a:rPr lang="en-US" sz="1300" dirty="0">
                <a:solidFill>
                  <a:schemeClr val="accent4"/>
                </a:solidFill>
              </a:rPr>
              <a:t>recall in low light</a:t>
            </a:r>
            <a:endParaRPr lang="en-US" sz="1300" dirty="0"/>
          </a:p>
          <a:p>
            <a:pPr indent="0" marL="0">
              <a:buNone/>
            </a:pPr>
            <a:r>
              <a:rPr lang="en-US" sz="1300" dirty="0">
                <a:solidFill>
                  <a:schemeClr val="accent4"/>
                </a:solidFill>
              </a:rPr>
              <a:t>was 0.76 (YOLO26s v2)</a:t>
            </a:r>
            <a:endParaRPr lang="en-US" sz="1300" dirty="0"/>
          </a:p>
        </p:txBody>
      </p:sp>
      <p:sp>
        <p:nvSpPr>
          <p:cNvPr id="17" name="res-3-card"/>
          <p:cNvSpPr/>
          <p:nvPr/>
        </p:nvSpPr>
        <p:spPr>
          <a:xfrm>
            <a:off x="8924544" y="1828800"/>
            <a:ext cx="2532888" cy="1600200"/>
          </a:xfrm>
          <a:prstGeom prst="rect">
            <a:avLst/>
          </a:prstGeom>
          <a:solidFill>
            <a:schemeClr val="bg1"/>
          </a:solidFill>
          <a:ln w="12700">
            <a:solidFill>
              <a:schemeClr val="bg2"/>
            </a:solidFill>
            <a:prstDash val="solid"/>
          </a:ln>
        </p:spPr>
      </p:sp>
      <p:sp>
        <p:nvSpPr>
          <p:cNvPr id="18" name="res-3-bar"/>
          <p:cNvSpPr/>
          <p:nvPr/>
        </p:nvSpPr>
        <p:spPr>
          <a:xfrm>
            <a:off x="8924544" y="1828800"/>
            <a:ext cx="2532888" cy="82296"/>
          </a:xfrm>
          <a:prstGeom prst="rect">
            <a:avLst/>
          </a:prstGeom>
          <a:solidFill>
            <a:schemeClr val="accent2"/>
          </a:solidFill>
          <a:ln w="12700">
            <a:solidFill>
              <a:schemeClr val="accent2"/>
            </a:solidFill>
            <a:prstDash val="solid"/>
          </a:ln>
        </p:spPr>
      </p:sp>
      <p:sp>
        <p:nvSpPr>
          <p:cNvPr id="19" name="res-3-big"/>
          <p:cNvSpPr txBox="1"/>
          <p:nvPr/>
        </p:nvSpPr>
        <p:spPr>
          <a:xfrm>
            <a:off x="9153144" y="2057400"/>
            <a:ext cx="2240280" cy="640080"/>
          </a:xfrm>
          <a:prstGeom prst="rect">
            <a:avLst/>
          </a:prstGeom>
          <a:noFill/>
          <a:ln/>
        </p:spPr>
        <p:txBody>
          <a:bodyPr wrap="square" lIns="0" tIns="0" rIns="0" bIns="0" rtlCol="0" anchor="ctr"/>
          <a:lstStyle/>
          <a:p>
            <a:pPr indent="0" marL="0">
              <a:buNone/>
            </a:pPr>
            <a:r>
              <a:rPr lang="en-US" sz="3000" b="1" i="1" dirty="0">
                <a:solidFill>
                  <a:schemeClr val="tx2"/>
                </a:solidFill>
                <a:latin typeface="+mj-lt" pitchFamily="34" charset="0"/>
                <a:ea typeface="+mj-lt" pitchFamily="34" charset="-122"/>
                <a:cs typeface="+mj-lt" pitchFamily="34" charset="-120"/>
              </a:rPr>
              <a:t>+31.8 pp</a:t>
            </a:r>
            <a:endParaRPr lang="en-US" sz="3000" dirty="0"/>
          </a:p>
        </p:txBody>
      </p:sp>
      <p:sp>
        <p:nvSpPr>
          <p:cNvPr id="20" name="res-3-label"/>
          <p:cNvSpPr txBox="1"/>
          <p:nvPr/>
        </p:nvSpPr>
        <p:spPr>
          <a:xfrm>
            <a:off x="9153144" y="2743200"/>
            <a:ext cx="2240280" cy="594360"/>
          </a:xfrm>
          <a:prstGeom prst="rect">
            <a:avLst/>
          </a:prstGeom>
          <a:noFill/>
          <a:ln/>
        </p:spPr>
        <p:txBody>
          <a:bodyPr wrap="square" lIns="0" tIns="0" rIns="0" bIns="0" rtlCol="0" anchor="t"/>
          <a:lstStyle/>
          <a:p>
            <a:pPr indent="0" marL="0">
              <a:buNone/>
            </a:pPr>
            <a:r>
              <a:rPr lang="en-US" sz="1300" dirty="0">
                <a:solidFill>
                  <a:schemeClr val="accent4"/>
                </a:solidFill>
              </a:rPr>
              <a:t>specificity vs old model</a:t>
            </a:r>
            <a:endParaRPr lang="en-US" sz="1300" dirty="0"/>
          </a:p>
          <a:p>
            <a:pPr indent="0" marL="0">
              <a:buNone/>
            </a:pPr>
            <a:r>
              <a:rPr lang="en-US" sz="1300" dirty="0">
                <a:solidFill>
                  <a:schemeClr val="accent4"/>
                </a:solidFill>
              </a:rPr>
              <a:t>multi-source gate cohort</a:t>
            </a:r>
            <a:endParaRPr lang="en-US" sz="1300" dirty="0"/>
          </a:p>
        </p:txBody>
      </p:sp>
      <p:sp>
        <p:nvSpPr>
          <p:cNvPr id="21" name="res-left"/>
          <p:cNvSpPr txBox="1"/>
          <p:nvPr/>
        </p:nvSpPr>
        <p:spPr>
          <a:xfrm>
            <a:off x="777240" y="3840480"/>
            <a:ext cx="5349240" cy="2103120"/>
          </a:xfrm>
          <a:prstGeom prst="rect">
            <a:avLst/>
          </a:prstGeom>
          <a:noFill/>
          <a:ln/>
        </p:spPr>
        <p:txBody>
          <a:bodyPr wrap="square" lIns="508" tIns="508" rIns="508" bIns="508" rtlCol="0" anchor="t"/>
          <a:lstStyle/>
          <a:p>
            <a:pPr marL="342900" indent="-342900">
              <a:spcAft>
                <a:spcPts val="1000"/>
              </a:spcAft>
              <a:buSzPct val="100000"/>
              <a:buChar char="■"/>
            </a:pPr>
            <a:r>
              <a:rPr lang="en-US" sz="1700" dirty="0">
                <a:solidFill>
                  <a:schemeClr val="tx1"/>
                </a:solidFill>
              </a:rPr>
              <a:t>Test recall 0.911 at the 0.84 threshold (D1 0.88, TyreNet 0.96)</a:t>
            </a:r>
            <a:endParaRPr lang="en-US" sz="1700" dirty="0"/>
          </a:p>
          <a:p>
            <a:pPr marL="342900" indent="-342900">
              <a:spcAft>
                <a:spcPts val="1000"/>
              </a:spcAft>
              <a:buSzPct val="100000"/>
              <a:buChar char="■"/>
            </a:pPr>
            <a:r>
              <a:rPr lang="en-US" sz="1700" dirty="0">
                <a:solidFill>
                  <a:schemeClr val="tx1"/>
                </a:solidFill>
              </a:rPr>
              <a:t>Promoted as v4, generation 4: warm-up error 8e-7</a:t>
            </a:r>
            <a:endParaRPr lang="en-US" sz="1700" dirty="0"/>
          </a:p>
        </p:txBody>
      </p:sp>
      <p:sp>
        <p:nvSpPr>
          <p:cNvPr id="22" name="res-right"/>
          <p:cNvSpPr txBox="1"/>
          <p:nvPr/>
        </p:nvSpPr>
        <p:spPr>
          <a:xfrm>
            <a:off x="6355080" y="3840480"/>
            <a:ext cx="5349240" cy="2103120"/>
          </a:xfrm>
          <a:prstGeom prst="rect">
            <a:avLst/>
          </a:prstGeom>
          <a:noFill/>
          <a:ln/>
        </p:spPr>
        <p:txBody>
          <a:bodyPr wrap="square" lIns="508" tIns="508" rIns="508" bIns="508" rtlCol="0" anchor="t"/>
          <a:lstStyle/>
          <a:p>
            <a:pPr marL="342900" indent="-342900">
              <a:spcAft>
                <a:spcPts val="1000"/>
              </a:spcAft>
              <a:buSzPct val="100000"/>
              <a:buChar char="■"/>
            </a:pPr>
            <a:r>
              <a:rPr lang="en-US" sz="1700" dirty="0">
                <a:solidFill>
                  <a:schemeClr val="tx1"/>
                </a:solidFill>
              </a:rPr>
              <a:t>Damage locator: test mAP50 0.39 &lt; 0.40, so display-only</a:t>
            </a:r>
            <a:endParaRPr lang="en-US" sz="1700" dirty="0"/>
          </a:p>
          <a:p>
            <a:pPr marL="342900" indent="-342900">
              <a:spcAft>
                <a:spcPts val="1000"/>
              </a:spcAft>
              <a:buSzPct val="100000"/>
              <a:buChar char="■"/>
            </a:pPr>
            <a:r>
              <a:rPr lang="en-US" sz="1700" dirty="0">
                <a:solidFill>
                  <a:schemeClr val="tx1"/>
                </a:solidFill>
              </a:rPr>
              <a:t>The fresh sidewall gash is still missed by both models</a:t>
            </a:r>
            <a:endParaRPr lang="en-US" sz="1700" dirty="0"/>
          </a:p>
        </p:txBody>
      </p:sp>
      <p:sp>
        <p:nvSpPr>
          <p:cNvPr id="25" name="Slide Number Placeholder 0"/>
          <p:cNvSpPr>
            <a:spLocks noGrp="1"/>
          </p:cNvSpPr>
          <p:nvPr>
            <p:ph type="sldNum" sz="quarter" idx="4294967295"/>
          </p:nvPr>
        </p:nvSpPr>
        <p:spPr>
          <a:xfrm>
            <a:off x="10972800" y="6400800"/>
            <a:ext cx="310896"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100">
                <a:solidFill>
                  <a:schemeClr val="accent4"/>
                </a:solidFill>
                <a:latin typeface="+mn-lt"/>
                <a:ea typeface="+mn-lt"/>
                <a:cs typeface="+mn-lt"/>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body" hasCustomPrompt="1"/>
          </p:nvPr>
        </p:nvSpPr>
        <p:spPr>
          <a:xfrm>
            <a:off x="777240" y="384048"/>
            <a:ext cx="10058400" cy="365760"/>
          </a:xfrm>
          <a:prstGeom prst="rect">
            <a:avLst/>
          </a:prstGeom>
          <a:noFill/>
          <a:ln/>
        </p:spPr>
        <p:txBody>
          <a:bodyPr wrap="square" lIns="0" tIns="0" rIns="0" bIns="0" rtlCol="0" anchor="ctr"/>
          <a:lstStyle/>
          <a:p>
            <a:pPr indent="0" marL="0">
              <a:buNone/>
            </a:pPr>
            <a:r>
              <a:rPr lang="en-US" sz="1400" b="1" dirty="0">
                <a:solidFill>
                  <a:schemeClr val="accent1"/>
                </a:solidFill>
              </a:rPr>
              <a:t>COMPUTER VISION PIPELINE</a:t>
            </a:r>
            <a:endParaRPr lang="en-US" sz="1400" dirty="0"/>
          </a:p>
        </p:txBody>
      </p:sp>
      <p:sp>
        <p:nvSpPr>
          <p:cNvPr id="3" name="Text 2"/>
          <p:cNvSpPr/>
          <p:nvPr>
            <p:ph idx="103" type="title" hasCustomPrompt="1"/>
          </p:nvPr>
        </p:nvSpPr>
        <p:spPr>
          <a:xfrm>
            <a:off x="777240" y="731520"/>
            <a:ext cx="11064240" cy="822960"/>
          </a:xfrm>
          <a:prstGeom prst="rect">
            <a:avLst/>
          </a:prstGeom>
          <a:noFill/>
          <a:ln/>
        </p:spPr>
        <p:txBody>
          <a:bodyPr wrap="square" lIns="0" tIns="0" rIns="0" bIns="0" rtlCol="0" anchor="ctr"/>
          <a:lstStyle/>
          <a:p>
            <a:pPr algn="l" indent="0" marL="0">
              <a:buNone/>
            </a:pPr>
            <a:r>
              <a:rPr lang="en-US" sz="3000" b="1" i="1" dirty="0">
                <a:solidFill>
                  <a:schemeClr val="tx2"/>
                </a:solidFill>
              </a:rPr>
              <a:t>Nine steps, every one visible</a:t>
            </a:r>
            <a:endParaRPr lang="en-US" sz="3000" dirty="0"/>
          </a:p>
        </p:txBody>
      </p:sp>
      <p:pic>
        <p:nvPicPr>
          <p:cNvPr id="5" name="stages-shot" descr="The nine pipeline steps of an inspection, with images and timings">    </p:cNvPr>
          <p:cNvPicPr>
            <a:picLocks noChangeAspect="1"/>
          </p:cNvPicPr>
          <p:nvPr/>
        </p:nvPicPr>
        <p:blipFill>
          <a:blip r:embed="rId1"/>
          <a:stretch>
            <a:fillRect/>
          </a:stretch>
        </p:blipFill>
        <p:spPr>
          <a:xfrm>
            <a:off x="777240" y="1691640"/>
            <a:ext cx="4535424" cy="4535424"/>
          </a:xfrm>
          <a:prstGeom prst="rect">
            <a:avLst/>
          </a:prstGeom>
        </p:spPr>
      </p:pic>
      <p:sp>
        <p:nvSpPr>
          <p:cNvPr id="6" name="cv-list"/>
          <p:cNvSpPr txBox="1"/>
          <p:nvPr/>
        </p:nvSpPr>
        <p:spPr>
          <a:xfrm>
            <a:off x="5715000" y="1828800"/>
            <a:ext cx="6126480" cy="4389120"/>
          </a:xfrm>
          <a:prstGeom prst="rect">
            <a:avLst/>
          </a:prstGeom>
          <a:noFill/>
          <a:ln/>
        </p:spPr>
        <p:txBody>
          <a:bodyPr wrap="square" lIns="508" tIns="508" rIns="508" bIns="508" rtlCol="0" anchor="t"/>
          <a:lstStyle/>
          <a:p>
            <a:pPr marL="342900" indent="-342900">
              <a:spcAft>
                <a:spcPts val="1000"/>
              </a:spcAft>
              <a:buSzPct val="100000"/>
              <a:buChar char="■"/>
            </a:pPr>
            <a:r>
              <a:rPr lang="en-US" sz="1800" dirty="0">
                <a:solidFill>
                  <a:schemeClr val="tx1"/>
                </a:solidFill>
              </a:rPr>
              <a:t>Ingest and canonical: the training path, metadata removed</a:t>
            </a:r>
            <a:endParaRPr lang="en-US" sz="1800" dirty="0"/>
          </a:p>
          <a:p>
            <a:pPr marL="342900" indent="-342900">
              <a:spcAft>
                <a:spcPts val="1000"/>
              </a:spcAft>
              <a:buSzPct val="100000"/>
              <a:buChar char="■"/>
            </a:pPr>
            <a:r>
              <a:rPr lang="en-US" sz="1800" dirty="0">
                <a:solidFill>
                  <a:schemeClr val="tx1"/>
                </a:solidFill>
              </a:rPr>
              <a:t>Depth (advisory): shape and framing, no units</a:t>
            </a:r>
            <a:endParaRPr lang="en-US" sz="1800" dirty="0"/>
          </a:p>
          <a:p>
            <a:pPr marL="342900" indent="-342900">
              <a:spcAft>
                <a:spcPts val="1000"/>
              </a:spcAft>
              <a:buSzPct val="100000"/>
              <a:buChar char="■"/>
            </a:pPr>
            <a:r>
              <a:rPr lang="en-US" sz="1800" dirty="0">
                <a:solidFill>
                  <a:schemeClr val="tx1"/>
                </a:solidFill>
              </a:rPr>
              <a:t>Letterbox, no crop; tensor planes; quality screen</a:t>
            </a:r>
            <a:endParaRPr lang="en-US" sz="1800" dirty="0"/>
          </a:p>
          <a:p>
            <a:pPr marL="342900" indent="-342900">
              <a:spcAft>
                <a:spcPts val="1000"/>
              </a:spcAft>
              <a:buSzPct val="100000"/>
              <a:buChar char="■"/>
            </a:pPr>
            <a:r>
              <a:rPr lang="en-US" sz="1800" dirty="0">
                <a:solidFill>
                  <a:schemeClr val="tx1"/>
                </a:solidFill>
              </a:rPr>
              <a:t>Classifier: calibrated p(defective)</a:t>
            </a:r>
            <a:endParaRPr lang="en-US" sz="1800" dirty="0"/>
          </a:p>
          <a:p>
            <a:pPr marL="342900" indent="-342900">
              <a:spcAft>
                <a:spcPts val="1000"/>
              </a:spcAft>
              <a:buSzPct val="100000"/>
              <a:buChar char="■"/>
            </a:pPr>
            <a:r>
              <a:rPr lang="en-US" sz="1800" dirty="0">
                <a:solidFill>
                  <a:schemeClr val="tx1"/>
                </a:solidFill>
              </a:rPr>
              <a:t>Heatmap: what drove the score, not a location</a:t>
            </a:r>
            <a:endParaRPr lang="en-US" sz="1800" dirty="0"/>
          </a:p>
          <a:p>
            <a:pPr marL="342900" indent="-342900">
              <a:spcAft>
                <a:spcPts val="1000"/>
              </a:spcAft>
              <a:buSzPct val="100000"/>
              <a:buChar char="■"/>
            </a:pPr>
            <a:r>
              <a:rPr lang="en-US" sz="1800" dirty="0">
                <a:solidFill>
                  <a:schemeClr val="tx1"/>
                </a:solidFill>
              </a:rPr>
              <a:t>Every step's timing recorded: 2 s end to end</a:t>
            </a:r>
            <a:endParaRPr lang="en-US" sz="1800" dirty="0"/>
          </a:p>
        </p:txBody>
      </p:sp>
      <p:sp>
        <p:nvSpPr>
          <p:cNvPr id="25" name="Slide Number Placeholder 0"/>
          <p:cNvSpPr>
            <a:spLocks noGrp="1"/>
          </p:cNvSpPr>
          <p:nvPr>
            <p:ph type="sldNum" sz="quarter" idx="4294967295"/>
          </p:nvPr>
        </p:nvSpPr>
        <p:spPr>
          <a:xfrm>
            <a:off x="10972800" y="6400800"/>
            <a:ext cx="310896"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100">
                <a:solidFill>
                  <a:schemeClr val="accent4"/>
                </a:solidFill>
                <a:latin typeface="+mn-lt"/>
                <a:ea typeface="+mn-lt"/>
                <a:cs typeface="+mn-lt"/>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body" hasCustomPrompt="1"/>
          </p:nvPr>
        </p:nvSpPr>
        <p:spPr>
          <a:xfrm>
            <a:off x="777240" y="384048"/>
            <a:ext cx="10058400" cy="365760"/>
          </a:xfrm>
          <a:prstGeom prst="rect">
            <a:avLst/>
          </a:prstGeom>
          <a:noFill/>
          <a:ln/>
        </p:spPr>
        <p:txBody>
          <a:bodyPr wrap="square" lIns="0" tIns="0" rIns="0" bIns="0" rtlCol="0" anchor="ctr"/>
          <a:lstStyle/>
          <a:p>
            <a:pPr indent="0" marL="0">
              <a:buNone/>
            </a:pPr>
            <a:r>
              <a:rPr lang="en-US" sz="1400" b="1" dirty="0">
                <a:solidFill>
                  <a:schemeClr val="accent1"/>
                </a:solidFill>
              </a:rPr>
              <a:t>LIVE LINE CAMERA</a:t>
            </a:r>
            <a:endParaRPr lang="en-US" sz="1400" dirty="0"/>
          </a:p>
        </p:txBody>
      </p:sp>
      <p:sp>
        <p:nvSpPr>
          <p:cNvPr id="3" name="Text 2"/>
          <p:cNvSpPr/>
          <p:nvPr>
            <p:ph idx="103" type="title" hasCustomPrompt="1"/>
          </p:nvPr>
        </p:nvSpPr>
        <p:spPr>
          <a:xfrm>
            <a:off x="777240" y="731520"/>
            <a:ext cx="11064240" cy="822960"/>
          </a:xfrm>
          <a:prstGeom prst="rect">
            <a:avLst/>
          </a:prstGeom>
          <a:noFill/>
          <a:ln/>
        </p:spPr>
        <p:txBody>
          <a:bodyPr wrap="square" lIns="0" tIns="0" rIns="0" bIns="0" rtlCol="0" anchor="ctr"/>
          <a:lstStyle/>
          <a:p>
            <a:pPr algn="l" indent="0" marL="0">
              <a:buNone/>
            </a:pPr>
            <a:r>
              <a:rPr lang="en-US" sz="3000" b="1" i="1" dirty="0">
                <a:solidFill>
                  <a:schemeClr val="tx2"/>
                </a:solidFill>
              </a:rPr>
              <a:t>Boxes and verdicts on the live stream</a:t>
            </a:r>
            <a:endParaRPr lang="en-US" sz="3000" dirty="0"/>
          </a:p>
        </p:txBody>
      </p:sp>
      <p:pic>
        <p:nvPicPr>
          <p:cNvPr id="5" name="live-damaged" descr="Live frame: inspection zone in red, damaged 0.99, four crack boxes">    </p:cNvPr>
          <p:cNvPicPr>
            <a:picLocks noChangeAspect="1"/>
          </p:cNvPicPr>
          <p:nvPr/>
        </p:nvPicPr>
        <p:blipFill>
          <a:blip r:embed="rId1"/>
          <a:stretch>
            <a:fillRect/>
          </a:stretch>
        </p:blipFill>
        <p:spPr>
          <a:xfrm>
            <a:off x="777240" y="1737360"/>
            <a:ext cx="5440680" cy="3063240"/>
          </a:xfrm>
          <a:prstGeom prst="rect">
            <a:avLst/>
          </a:prstGeom>
        </p:spPr>
      </p:pic>
      <p:pic>
        <p:nvPicPr>
          <p:cNvPr id="6" name="live-bulge" descr="Live frame: expert check, classifier 0.03, locator box: bulge 0.93 (experimental)">    </p:cNvPr>
          <p:cNvPicPr>
            <a:picLocks noChangeAspect="1"/>
          </p:cNvPicPr>
          <p:nvPr/>
        </p:nvPicPr>
        <p:blipFill>
          <a:blip r:embed="rId2"/>
          <a:stretch>
            <a:fillRect/>
          </a:stretch>
        </p:blipFill>
        <p:spPr>
          <a:xfrm>
            <a:off x="6382512" y="1737360"/>
            <a:ext cx="5440680" cy="3063240"/>
          </a:xfrm>
          <a:prstGeom prst="rect">
            <a:avLst/>
          </a:prstGeom>
        </p:spPr>
      </p:pic>
      <p:sp>
        <p:nvSpPr>
          <p:cNvPr id="7" name="live-f-0-bar"/>
          <p:cNvSpPr/>
          <p:nvPr/>
        </p:nvSpPr>
        <p:spPr>
          <a:xfrm>
            <a:off x="777240" y="5029200"/>
            <a:ext cx="73152" cy="1051560"/>
          </a:xfrm>
          <a:prstGeom prst="rect">
            <a:avLst/>
          </a:prstGeom>
          <a:solidFill>
            <a:schemeClr val="accent2"/>
          </a:solidFill>
          <a:ln w="12700">
            <a:solidFill>
              <a:schemeClr val="accent2"/>
            </a:solidFill>
            <a:prstDash val="solid"/>
          </a:ln>
        </p:spPr>
      </p:sp>
      <p:sp>
        <p:nvSpPr>
          <p:cNvPr id="8" name="live-f-0-big"/>
          <p:cNvSpPr txBox="1"/>
          <p:nvPr/>
        </p:nvSpPr>
        <p:spPr>
          <a:xfrm>
            <a:off x="1005840" y="4983480"/>
            <a:ext cx="2468880" cy="548640"/>
          </a:xfrm>
          <a:prstGeom prst="rect">
            <a:avLst/>
          </a:prstGeom>
          <a:noFill/>
          <a:ln/>
        </p:spPr>
        <p:txBody>
          <a:bodyPr wrap="square" lIns="0" tIns="0" rIns="0" bIns="0" rtlCol="0" anchor="ctr"/>
          <a:lstStyle/>
          <a:p>
            <a:pPr indent="0" marL="0">
              <a:buNone/>
            </a:pPr>
            <a:r>
              <a:rPr lang="en-US" sz="2400" b="1" i="1" dirty="0">
                <a:solidFill>
                  <a:schemeClr val="tx2"/>
                </a:solidFill>
                <a:latin typeface="+mj-lt" pitchFamily="34" charset="0"/>
                <a:ea typeface="+mj-lt" pitchFamily="34" charset="-122"/>
                <a:cs typeface="+mj-lt" pitchFamily="34" charset="-120"/>
              </a:rPr>
              <a:t>1 per tyre</a:t>
            </a:r>
            <a:endParaRPr lang="en-US" sz="2400" dirty="0"/>
          </a:p>
        </p:txBody>
      </p:sp>
      <p:sp>
        <p:nvSpPr>
          <p:cNvPr id="9" name="live-f-0-label"/>
          <p:cNvSpPr txBox="1"/>
          <p:nvPr/>
        </p:nvSpPr>
        <p:spPr>
          <a:xfrm>
            <a:off x="1005840" y="5550408"/>
            <a:ext cx="2514600" cy="457200"/>
          </a:xfrm>
          <a:prstGeom prst="rect">
            <a:avLst/>
          </a:prstGeom>
          <a:noFill/>
          <a:ln/>
        </p:spPr>
        <p:txBody>
          <a:bodyPr wrap="square" lIns="0" tIns="0" rIns="0" bIns="0" rtlCol="0" anchor="ctr"/>
          <a:lstStyle/>
          <a:p>
            <a:pPr indent="0" marL="0">
              <a:buNone/>
            </a:pPr>
            <a:r>
              <a:rPr lang="en-US" sz="1300" dirty="0">
                <a:solidFill>
                  <a:schemeClr val="accent4"/>
                </a:solidFill>
              </a:rPr>
              <a:t>inspection on the belt</a:t>
            </a:r>
            <a:endParaRPr lang="en-US" sz="1300" dirty="0"/>
          </a:p>
        </p:txBody>
      </p:sp>
      <p:sp>
        <p:nvSpPr>
          <p:cNvPr id="10" name="live-f-1-bar"/>
          <p:cNvSpPr/>
          <p:nvPr/>
        </p:nvSpPr>
        <p:spPr>
          <a:xfrm>
            <a:off x="3557016" y="5029200"/>
            <a:ext cx="73152" cy="1051560"/>
          </a:xfrm>
          <a:prstGeom prst="rect">
            <a:avLst/>
          </a:prstGeom>
          <a:solidFill>
            <a:schemeClr val="accent2"/>
          </a:solidFill>
          <a:ln w="12700">
            <a:solidFill>
              <a:schemeClr val="accent2"/>
            </a:solidFill>
            <a:prstDash val="solid"/>
          </a:ln>
        </p:spPr>
      </p:sp>
      <p:sp>
        <p:nvSpPr>
          <p:cNvPr id="11" name="live-f-1-big"/>
          <p:cNvSpPr txBox="1"/>
          <p:nvPr/>
        </p:nvSpPr>
        <p:spPr>
          <a:xfrm>
            <a:off x="3785616" y="4983480"/>
            <a:ext cx="2468880" cy="548640"/>
          </a:xfrm>
          <a:prstGeom prst="rect">
            <a:avLst/>
          </a:prstGeom>
          <a:noFill/>
          <a:ln/>
        </p:spPr>
        <p:txBody>
          <a:bodyPr wrap="square" lIns="0" tIns="0" rIns="0" bIns="0" rtlCol="0" anchor="ctr"/>
          <a:lstStyle/>
          <a:p>
            <a:pPr indent="0" marL="0">
              <a:buNone/>
            </a:pPr>
            <a:r>
              <a:rPr lang="en-US" sz="2400" b="1" i="1" dirty="0">
                <a:solidFill>
                  <a:schemeClr val="tx2"/>
                </a:solidFill>
                <a:latin typeface="+mj-lt" pitchFamily="34" charset="0"/>
                <a:ea typeface="+mj-lt" pitchFamily="34" charset="-122"/>
                <a:cs typeface="+mj-lt" pitchFamily="34" charset="-120"/>
              </a:rPr>
              <a:t>1.7 s</a:t>
            </a:r>
            <a:endParaRPr lang="en-US" sz="2400" dirty="0"/>
          </a:p>
        </p:txBody>
      </p:sp>
      <p:sp>
        <p:nvSpPr>
          <p:cNvPr id="12" name="live-f-1-label"/>
          <p:cNvSpPr txBox="1"/>
          <p:nvPr/>
        </p:nvSpPr>
        <p:spPr>
          <a:xfrm>
            <a:off x="3785616" y="5550408"/>
            <a:ext cx="2514600" cy="457200"/>
          </a:xfrm>
          <a:prstGeom prst="rect">
            <a:avLst/>
          </a:prstGeom>
          <a:noFill/>
          <a:ln/>
        </p:spPr>
        <p:txBody>
          <a:bodyPr wrap="square" lIns="0" tIns="0" rIns="0" bIns="0" rtlCol="0" anchor="ctr"/>
          <a:lstStyle/>
          <a:p>
            <a:pPr indent="0" marL="0">
              <a:buNone/>
            </a:pPr>
            <a:r>
              <a:rPr lang="en-US" sz="1300" dirty="0">
                <a:solidFill>
                  <a:schemeClr val="accent4"/>
                </a:solidFill>
              </a:rPr>
              <a:t>capture to verdict (median)</a:t>
            </a:r>
            <a:endParaRPr lang="en-US" sz="1300" dirty="0"/>
          </a:p>
        </p:txBody>
      </p:sp>
      <p:sp>
        <p:nvSpPr>
          <p:cNvPr id="13" name="live-f-2-bar"/>
          <p:cNvSpPr/>
          <p:nvPr/>
        </p:nvSpPr>
        <p:spPr>
          <a:xfrm>
            <a:off x="6336792" y="5029200"/>
            <a:ext cx="73152" cy="1051560"/>
          </a:xfrm>
          <a:prstGeom prst="rect">
            <a:avLst/>
          </a:prstGeom>
          <a:solidFill>
            <a:schemeClr val="accent2"/>
          </a:solidFill>
          <a:ln w="12700">
            <a:solidFill>
              <a:schemeClr val="accent2"/>
            </a:solidFill>
            <a:prstDash val="solid"/>
          </a:ln>
        </p:spPr>
      </p:sp>
      <p:sp>
        <p:nvSpPr>
          <p:cNvPr id="14" name="live-f-2-big"/>
          <p:cNvSpPr txBox="1"/>
          <p:nvPr/>
        </p:nvSpPr>
        <p:spPr>
          <a:xfrm>
            <a:off x="6565392" y="4983480"/>
            <a:ext cx="2468880" cy="548640"/>
          </a:xfrm>
          <a:prstGeom prst="rect">
            <a:avLst/>
          </a:prstGeom>
          <a:noFill/>
          <a:ln/>
        </p:spPr>
        <p:txBody>
          <a:bodyPr wrap="square" lIns="0" tIns="0" rIns="0" bIns="0" rtlCol="0" anchor="ctr"/>
          <a:lstStyle/>
          <a:p>
            <a:pPr indent="0" marL="0">
              <a:buNone/>
            </a:pPr>
            <a:r>
              <a:rPr lang="en-US" sz="2400" b="1" i="1" dirty="0">
                <a:solidFill>
                  <a:schemeClr val="tx2"/>
                </a:solidFill>
                <a:latin typeface="+mj-lt" pitchFamily="34" charset="0"/>
                <a:ea typeface="+mj-lt" pitchFamily="34" charset="-122"/>
                <a:cs typeface="+mj-lt" pitchFamily="34" charset="-120"/>
              </a:rPr>
              <a:t>5 fps</a:t>
            </a:r>
            <a:endParaRPr lang="en-US" sz="2400" dirty="0"/>
          </a:p>
        </p:txBody>
      </p:sp>
      <p:sp>
        <p:nvSpPr>
          <p:cNvPr id="15" name="live-f-2-label"/>
          <p:cNvSpPr txBox="1"/>
          <p:nvPr/>
        </p:nvSpPr>
        <p:spPr>
          <a:xfrm>
            <a:off x="6565392" y="5550408"/>
            <a:ext cx="2514600" cy="457200"/>
          </a:xfrm>
          <a:prstGeom prst="rect">
            <a:avLst/>
          </a:prstGeom>
          <a:noFill/>
          <a:ln/>
        </p:spPr>
        <p:txBody>
          <a:bodyPr wrap="square" lIns="0" tIns="0" rIns="0" bIns="0" rtlCol="0" anchor="ctr"/>
          <a:lstStyle/>
          <a:p>
            <a:pPr indent="0" marL="0">
              <a:buNone/>
            </a:pPr>
            <a:r>
              <a:rPr lang="en-US" sz="1300" dirty="0">
                <a:solidFill>
                  <a:schemeClr val="accent4"/>
                </a:solidFill>
              </a:rPr>
              <a:t>annotated live frames</a:t>
            </a:r>
            <a:endParaRPr lang="en-US" sz="1300" dirty="0"/>
          </a:p>
        </p:txBody>
      </p:sp>
      <p:sp>
        <p:nvSpPr>
          <p:cNvPr id="16" name="live-f-3-bar"/>
          <p:cNvSpPr/>
          <p:nvPr/>
        </p:nvSpPr>
        <p:spPr>
          <a:xfrm>
            <a:off x="9116568" y="5029200"/>
            <a:ext cx="73152" cy="1051560"/>
          </a:xfrm>
          <a:prstGeom prst="rect">
            <a:avLst/>
          </a:prstGeom>
          <a:solidFill>
            <a:schemeClr val="accent2"/>
          </a:solidFill>
          <a:ln w="12700">
            <a:solidFill>
              <a:schemeClr val="accent2"/>
            </a:solidFill>
            <a:prstDash val="solid"/>
          </a:ln>
        </p:spPr>
      </p:sp>
      <p:sp>
        <p:nvSpPr>
          <p:cNvPr id="17" name="live-f-3-big"/>
          <p:cNvSpPr txBox="1"/>
          <p:nvPr/>
        </p:nvSpPr>
        <p:spPr>
          <a:xfrm>
            <a:off x="9345168" y="4983480"/>
            <a:ext cx="2468880" cy="548640"/>
          </a:xfrm>
          <a:prstGeom prst="rect">
            <a:avLst/>
          </a:prstGeom>
          <a:noFill/>
          <a:ln/>
        </p:spPr>
        <p:txBody>
          <a:bodyPr wrap="square" lIns="0" tIns="0" rIns="0" bIns="0" rtlCol="0" anchor="ctr"/>
          <a:lstStyle/>
          <a:p>
            <a:pPr indent="0" marL="0">
              <a:buNone/>
            </a:pPr>
            <a:r>
              <a:rPr lang="en-US" sz="2400" b="1" i="1" dirty="0">
                <a:solidFill>
                  <a:schemeClr val="tx2"/>
                </a:solidFill>
                <a:latin typeface="+mj-lt" pitchFamily="34" charset="0"/>
                <a:ea typeface="+mj-lt" pitchFamily="34" charset="-122"/>
                <a:cs typeface="+mj-lt" pitchFamily="34" charset="-120"/>
              </a:rPr>
              <a:t>RTSP</a:t>
            </a:r>
            <a:endParaRPr lang="en-US" sz="2400" dirty="0"/>
          </a:p>
        </p:txBody>
      </p:sp>
      <p:sp>
        <p:nvSpPr>
          <p:cNvPr id="18" name="live-f-3-label"/>
          <p:cNvSpPr txBox="1"/>
          <p:nvPr/>
        </p:nvSpPr>
        <p:spPr>
          <a:xfrm>
            <a:off x="9345168" y="5550408"/>
            <a:ext cx="2514600" cy="457200"/>
          </a:xfrm>
          <a:prstGeom prst="rect">
            <a:avLst/>
          </a:prstGeom>
          <a:noFill/>
          <a:ln/>
        </p:spPr>
        <p:txBody>
          <a:bodyPr wrap="square" lIns="0" tIns="0" rIns="0" bIns="0" rtlCol="0" anchor="ctr"/>
          <a:lstStyle/>
          <a:p>
            <a:pPr indent="0" marL="0">
              <a:buNone/>
            </a:pPr>
            <a:r>
              <a:rPr lang="en-US" sz="1300" dirty="0">
                <a:solidFill>
                  <a:schemeClr val="accent4"/>
                </a:solidFill>
              </a:rPr>
              <a:t>connect from Bib or Cameras</a:t>
            </a:r>
            <a:endParaRPr lang="en-US" sz="1300" dirty="0"/>
          </a:p>
        </p:txBody>
      </p:sp>
      <p:sp>
        <p:nvSpPr>
          <p:cNvPr id="25" name="Slide Number Placeholder 0"/>
          <p:cNvSpPr>
            <a:spLocks noGrp="1"/>
          </p:cNvSpPr>
          <p:nvPr>
            <p:ph type="sldNum" sz="quarter" idx="4294967295"/>
          </p:nvPr>
        </p:nvSpPr>
        <p:spPr>
          <a:xfrm>
            <a:off x="10972800" y="6400800"/>
            <a:ext cx="310896"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100">
                <a:solidFill>
                  <a:schemeClr val="accent4"/>
                </a:solidFill>
                <a:latin typeface="+mn-lt"/>
                <a:ea typeface="+mn-lt"/>
                <a:cs typeface="+mn-lt"/>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body" hasCustomPrompt="1"/>
          </p:nvPr>
        </p:nvSpPr>
        <p:spPr>
          <a:xfrm>
            <a:off x="777240" y="384048"/>
            <a:ext cx="10058400" cy="365760"/>
          </a:xfrm>
          <a:prstGeom prst="rect">
            <a:avLst/>
          </a:prstGeom>
          <a:noFill/>
          <a:ln/>
        </p:spPr>
        <p:txBody>
          <a:bodyPr wrap="square" lIns="0" tIns="0" rIns="0" bIns="0" rtlCol="0" anchor="ctr"/>
          <a:lstStyle/>
          <a:p>
            <a:pPr indent="0" marL="0">
              <a:buNone/>
            </a:pPr>
            <a:r>
              <a:rPr lang="en-US" sz="1400" b="1" dirty="0">
                <a:solidFill>
                  <a:schemeClr val="accent1"/>
                </a:solidFill>
              </a:rPr>
              <a:t>SAFETY NETS</a:t>
            </a:r>
            <a:endParaRPr lang="en-US" sz="1400" dirty="0"/>
          </a:p>
        </p:txBody>
      </p:sp>
      <p:sp>
        <p:nvSpPr>
          <p:cNvPr id="3" name="Text 2"/>
          <p:cNvSpPr/>
          <p:nvPr>
            <p:ph idx="103" type="title" hasCustomPrompt="1"/>
          </p:nvPr>
        </p:nvSpPr>
        <p:spPr>
          <a:xfrm>
            <a:off x="777240" y="731520"/>
            <a:ext cx="11064240" cy="822960"/>
          </a:xfrm>
          <a:prstGeom prst="rect">
            <a:avLst/>
          </a:prstGeom>
          <a:noFill/>
          <a:ln/>
        </p:spPr>
        <p:txBody>
          <a:bodyPr wrap="square" lIns="0" tIns="0" rIns="0" bIns="0" rtlCol="0" anchor="ctr"/>
          <a:lstStyle/>
          <a:p>
            <a:pPr algn="l" indent="0" marL="0">
              <a:buNone/>
            </a:pPr>
            <a:r>
              <a:rPr lang="en-US" sz="3000" b="1" i="1" dirty="0">
                <a:solidFill>
                  <a:schemeClr val="tx2"/>
                </a:solidFill>
              </a:rPr>
              <a:t>Doubtful tyres always reach a person</a:t>
            </a:r>
            <a:endParaRPr lang="en-US" sz="3000" dirty="0"/>
          </a:p>
        </p:txBody>
      </p:sp>
      <p:pic>
        <p:nvPicPr>
          <p:cNvPr id="5" name="safety-diagram" descr="Photo to nine steps to five safety nets to four outcomes to the inspector">    </p:cNvPr>
          <p:cNvPicPr>
            <a:picLocks noChangeAspect="1"/>
          </p:cNvPicPr>
          <p:nvPr/>
        </p:nvPicPr>
        <p:blipFill>
          <a:blip r:embed="rId1"/>
          <a:stretch>
            <a:fillRect/>
          </a:stretch>
        </p:blipFill>
        <p:spPr>
          <a:xfrm>
            <a:off x="777240" y="1737360"/>
            <a:ext cx="6766560" cy="4270248"/>
          </a:xfrm>
          <a:prstGeom prst="rect">
            <a:avLst/>
          </a:prstGeom>
        </p:spPr>
      </p:pic>
      <p:sp>
        <p:nvSpPr>
          <p:cNvPr id="6" name="stat-second-card"/>
          <p:cNvSpPr/>
          <p:nvPr/>
        </p:nvSpPr>
        <p:spPr>
          <a:xfrm>
            <a:off x="7863840" y="1737360"/>
            <a:ext cx="3959352" cy="2011680"/>
          </a:xfrm>
          <a:prstGeom prst="rect">
            <a:avLst/>
          </a:prstGeom>
          <a:solidFill>
            <a:schemeClr val="bg1"/>
          </a:solidFill>
          <a:ln w="12700">
            <a:solidFill>
              <a:schemeClr val="bg2"/>
            </a:solidFill>
            <a:prstDash val="solid"/>
          </a:ln>
        </p:spPr>
      </p:sp>
      <p:sp>
        <p:nvSpPr>
          <p:cNvPr id="7" name="stat-second-bar"/>
          <p:cNvSpPr/>
          <p:nvPr/>
        </p:nvSpPr>
        <p:spPr>
          <a:xfrm>
            <a:off x="7863840" y="1737360"/>
            <a:ext cx="109728" cy="2011680"/>
          </a:xfrm>
          <a:prstGeom prst="rect">
            <a:avLst/>
          </a:prstGeom>
          <a:solidFill>
            <a:schemeClr val="accent2"/>
          </a:solidFill>
          <a:ln w="12700">
            <a:solidFill>
              <a:schemeClr val="accent2"/>
            </a:solidFill>
            <a:prstDash val="solid"/>
          </a:ln>
        </p:spPr>
      </p:sp>
      <p:sp>
        <p:nvSpPr>
          <p:cNvPr id="8" name="stat-second-big"/>
          <p:cNvSpPr txBox="1"/>
          <p:nvPr/>
        </p:nvSpPr>
        <p:spPr>
          <a:xfrm>
            <a:off x="8156448" y="1828800"/>
            <a:ext cx="3547872" cy="1106424"/>
          </a:xfrm>
          <a:prstGeom prst="rect">
            <a:avLst/>
          </a:prstGeom>
          <a:noFill/>
          <a:ln/>
        </p:spPr>
        <p:txBody>
          <a:bodyPr wrap="square" lIns="0" tIns="0" rIns="0" bIns="0" rtlCol="0" anchor="b"/>
          <a:lstStyle/>
          <a:p>
            <a:pPr indent="0" marL="0">
              <a:buNone/>
            </a:pPr>
            <a:r>
              <a:rPr lang="en-US" sz="3600" b="1" i="1" dirty="0">
                <a:solidFill>
                  <a:schemeClr val="tx2"/>
                </a:solidFill>
                <a:latin typeface="+mj-lt" pitchFamily="34" charset="0"/>
                <a:ea typeface="+mj-lt" pitchFamily="34" charset="-122"/>
                <a:cs typeface="+mj-lt" pitchFamily="34" charset="-120"/>
              </a:rPr>
              <a:t>3 → 1</a:t>
            </a:r>
            <a:endParaRPr lang="en-US" sz="3600" dirty="0"/>
          </a:p>
        </p:txBody>
      </p:sp>
      <p:sp>
        <p:nvSpPr>
          <p:cNvPr id="9" name="stat-second-label"/>
          <p:cNvSpPr txBox="1"/>
          <p:nvPr/>
        </p:nvSpPr>
        <p:spPr>
          <a:xfrm>
            <a:off x="8156448" y="2984602"/>
            <a:ext cx="3547872" cy="683971"/>
          </a:xfrm>
          <a:prstGeom prst="rect">
            <a:avLst/>
          </a:prstGeom>
          <a:noFill/>
          <a:ln/>
        </p:spPr>
        <p:txBody>
          <a:bodyPr wrap="square" lIns="0" tIns="0" rIns="0" bIns="0" rtlCol="0" anchor="t"/>
          <a:lstStyle/>
          <a:p>
            <a:pPr indent="0" marL="0">
              <a:buNone/>
            </a:pPr>
            <a:r>
              <a:rPr lang="en-US" sz="1500" dirty="0">
                <a:solidFill>
                  <a:schemeClr val="accent4"/>
                </a:solidFill>
              </a:rPr>
              <a:t>missed defects of 150 on the D1 test with the vision second opinion (YOLO26s v2)</a:t>
            </a:r>
            <a:endParaRPr lang="en-US" sz="1500" dirty="0"/>
          </a:p>
        </p:txBody>
      </p:sp>
      <p:sp>
        <p:nvSpPr>
          <p:cNvPr id="10" name="stat-subject-card"/>
          <p:cNvSpPr/>
          <p:nvPr/>
        </p:nvSpPr>
        <p:spPr>
          <a:xfrm>
            <a:off x="7863840" y="3995928"/>
            <a:ext cx="3959352" cy="2011680"/>
          </a:xfrm>
          <a:prstGeom prst="rect">
            <a:avLst/>
          </a:prstGeom>
          <a:solidFill>
            <a:schemeClr val="bg1"/>
          </a:solidFill>
          <a:ln w="12700">
            <a:solidFill>
              <a:schemeClr val="bg2"/>
            </a:solidFill>
            <a:prstDash val="solid"/>
          </a:ln>
        </p:spPr>
      </p:sp>
      <p:sp>
        <p:nvSpPr>
          <p:cNvPr id="11" name="stat-subject-bar"/>
          <p:cNvSpPr/>
          <p:nvPr/>
        </p:nvSpPr>
        <p:spPr>
          <a:xfrm>
            <a:off x="7863840" y="3995928"/>
            <a:ext cx="109728" cy="2011680"/>
          </a:xfrm>
          <a:prstGeom prst="rect">
            <a:avLst/>
          </a:prstGeom>
          <a:solidFill>
            <a:schemeClr val="accent2"/>
          </a:solidFill>
          <a:ln w="12700">
            <a:solidFill>
              <a:schemeClr val="accent2"/>
            </a:solidFill>
            <a:prstDash val="solid"/>
          </a:ln>
        </p:spPr>
      </p:sp>
      <p:sp>
        <p:nvSpPr>
          <p:cNvPr id="12" name="stat-subject-big"/>
          <p:cNvSpPr txBox="1"/>
          <p:nvPr/>
        </p:nvSpPr>
        <p:spPr>
          <a:xfrm>
            <a:off x="8156448" y="4087368"/>
            <a:ext cx="3547872" cy="1106424"/>
          </a:xfrm>
          <a:prstGeom prst="rect">
            <a:avLst/>
          </a:prstGeom>
          <a:noFill/>
          <a:ln/>
        </p:spPr>
        <p:txBody>
          <a:bodyPr wrap="square" lIns="0" tIns="0" rIns="0" bIns="0" rtlCol="0" anchor="b"/>
          <a:lstStyle/>
          <a:p>
            <a:pPr indent="0" marL="0">
              <a:buNone/>
            </a:pPr>
            <a:r>
              <a:rPr lang="en-US" sz="3600" b="1" i="1" dirty="0">
                <a:solidFill>
                  <a:schemeClr val="tx2"/>
                </a:solidFill>
                <a:latin typeface="+mj-lt" pitchFamily="34" charset="0"/>
                <a:ea typeface="+mj-lt" pitchFamily="34" charset="-122"/>
                <a:cs typeface="+mj-lt" pitchFamily="34" charset="-120"/>
              </a:rPr>
              <a:t>32 of 34</a:t>
            </a:r>
            <a:endParaRPr lang="en-US" sz="3600" dirty="0"/>
          </a:p>
        </p:txBody>
      </p:sp>
      <p:sp>
        <p:nvSpPr>
          <p:cNvPr id="13" name="stat-subject-label"/>
          <p:cNvSpPr txBox="1"/>
          <p:nvPr/>
        </p:nvSpPr>
        <p:spPr>
          <a:xfrm>
            <a:off x="8156448" y="5243170"/>
            <a:ext cx="3547872" cy="683971"/>
          </a:xfrm>
          <a:prstGeom prst="rect">
            <a:avLst/>
          </a:prstGeom>
          <a:noFill/>
          <a:ln/>
        </p:spPr>
        <p:txBody>
          <a:bodyPr wrap="square" lIns="0" tIns="0" rIns="0" bIns="0" rtlCol="0" anchor="t"/>
          <a:lstStyle/>
          <a:p>
            <a:pPr indent="0" marL="0">
              <a:buNone/>
            </a:pPr>
            <a:r>
              <a:rPr lang="en-US" sz="1500" dirty="0">
                <a:solidFill>
                  <a:schemeClr val="accent4"/>
                </a:solidFill>
              </a:rPr>
              <a:t>non-tyre images rejected; 0 of 552 real tyres</a:t>
            </a:r>
            <a:endParaRPr lang="en-US" sz="1500" dirty="0"/>
          </a:p>
        </p:txBody>
      </p:sp>
      <p:sp>
        <p:nvSpPr>
          <p:cNvPr id="25" name="Slide Number Placeholder 0"/>
          <p:cNvSpPr>
            <a:spLocks noGrp="1"/>
          </p:cNvSpPr>
          <p:nvPr>
            <p:ph type="sldNum" sz="quarter" idx="4294967295"/>
          </p:nvPr>
        </p:nvSpPr>
        <p:spPr>
          <a:xfrm>
            <a:off x="10972800" y="6400800"/>
            <a:ext cx="310896"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100">
                <a:solidFill>
                  <a:schemeClr val="accent4"/>
                </a:solidFill>
                <a:latin typeface="+mn-lt"/>
                <a:ea typeface="+mn-lt"/>
                <a:cs typeface="+mn-lt"/>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body" hasCustomPrompt="1"/>
          </p:nvPr>
        </p:nvSpPr>
        <p:spPr>
          <a:xfrm>
            <a:off x="777240" y="384048"/>
            <a:ext cx="10058400" cy="365760"/>
          </a:xfrm>
          <a:prstGeom prst="rect">
            <a:avLst/>
          </a:prstGeom>
          <a:noFill/>
          <a:ln/>
        </p:spPr>
        <p:txBody>
          <a:bodyPr wrap="square" lIns="0" tIns="0" rIns="0" bIns="0" rtlCol="0" anchor="ctr"/>
          <a:lstStyle/>
          <a:p>
            <a:pPr indent="0" marL="0">
              <a:buNone/>
            </a:pPr>
            <a:r>
              <a:rPr lang="en-US" sz="1400" b="1" dirty="0">
                <a:solidFill>
                  <a:schemeClr val="accent1"/>
                </a:solidFill>
              </a:rPr>
              <a:t>DASHBOARD ANALYSIS | BIB + LIVE CAMERAS</a:t>
            </a:r>
            <a:endParaRPr lang="en-US" sz="1400" dirty="0"/>
          </a:p>
        </p:txBody>
      </p:sp>
      <p:sp>
        <p:nvSpPr>
          <p:cNvPr id="3" name="Text 2"/>
          <p:cNvSpPr/>
          <p:nvPr>
            <p:ph idx="103" type="title" hasCustomPrompt="1"/>
          </p:nvPr>
        </p:nvSpPr>
        <p:spPr>
          <a:xfrm>
            <a:off x="777240" y="731520"/>
            <a:ext cx="11064240" cy="822960"/>
          </a:xfrm>
          <a:prstGeom prst="rect">
            <a:avLst/>
          </a:prstGeom>
          <a:noFill/>
          <a:ln/>
        </p:spPr>
        <p:txBody>
          <a:bodyPr wrap="square" lIns="0" tIns="0" rIns="0" bIns="0" rtlCol="0" anchor="ctr"/>
          <a:lstStyle/>
          <a:p>
            <a:pPr algn="l" indent="0" marL="0">
              <a:buNone/>
            </a:pPr>
            <a:r>
              <a:rPr lang="en-US" sz="3000" b="1" i="1" dirty="0">
                <a:solidFill>
                  <a:schemeClr val="tx2"/>
                </a:solidFill>
              </a:rPr>
              <a:t>Cameras live inside the chat</a:t>
            </a:r>
            <a:endParaRPr lang="en-US" sz="3000" dirty="0"/>
          </a:p>
        </p:txBody>
      </p:sp>
      <p:sp>
        <p:nvSpPr>
          <p:cNvPr id="5" name="live-card-frame"/>
          <p:cNvSpPr/>
          <p:nvPr/>
        </p:nvSpPr>
        <p:spPr>
          <a:xfrm>
            <a:off x="749808" y="1755648"/>
            <a:ext cx="5504688" cy="4562856"/>
          </a:xfrm>
          <a:prstGeom prst="rect">
            <a:avLst/>
          </a:prstGeom>
          <a:solidFill>
            <a:schemeClr val="bg1"/>
          </a:solidFill>
          <a:ln w="12700">
            <a:solidFill>
              <a:schemeClr val="bg2"/>
            </a:solidFill>
            <a:prstDash val="solid"/>
          </a:ln>
          <a:effectLst>
            <a:outerShdw sx="100000" sy="100000" kx="0" ky="0" algn="bl" rotWithShape="0" blurRad="101600" dist="25400" dir="5400000">
              <a:srgbClr val="00205B">
                <a:alpha val="18000"/>
              </a:srgbClr>
            </a:outerShdw>
          </a:effectLst>
        </p:spPr>
      </p:sp>
      <p:pic>
        <p:nvPicPr>
          <p:cNvPr id="6" name="live-card" descr="Line 3 conveyor in Bib's live camera panel: damaged 0.99 in the zone, chip repeating the verdict">    </p:cNvPr>
          <p:cNvPicPr>
            <a:picLocks noChangeAspect="1"/>
          </p:cNvPicPr>
          <p:nvPr/>
        </p:nvPicPr>
        <p:blipFill>
          <a:blip r:embed="rId1"/>
          <a:stretch>
            <a:fillRect/>
          </a:stretch>
        </p:blipFill>
        <p:spPr>
          <a:xfrm>
            <a:off x="777240" y="1783080"/>
            <a:ext cx="5449824" cy="4507992"/>
          </a:xfrm>
          <a:prstGeom prst="rect">
            <a:avLst/>
          </a:prstGeom>
        </p:spPr>
      </p:pic>
      <p:sp>
        <p:nvSpPr>
          <p:cNvPr id="7" name="connect-form-frame"/>
          <p:cNvSpPr/>
          <p:nvPr/>
        </p:nvSpPr>
        <p:spPr>
          <a:xfrm>
            <a:off x="6464808" y="1755648"/>
            <a:ext cx="2267712" cy="4562856"/>
          </a:xfrm>
          <a:prstGeom prst="rect">
            <a:avLst/>
          </a:prstGeom>
          <a:solidFill>
            <a:schemeClr val="bg1"/>
          </a:solidFill>
          <a:ln w="12700">
            <a:solidFill>
              <a:schemeClr val="bg2"/>
            </a:solidFill>
            <a:prstDash val="solid"/>
          </a:ln>
          <a:effectLst>
            <a:outerShdw sx="100000" sy="100000" kx="0" ky="0" algn="bl" rotWithShape="0" blurRad="101600" dist="25400" dir="5400000">
              <a:srgbClr val="00205B">
                <a:alpha val="18000"/>
              </a:srgbClr>
            </a:outerShdw>
          </a:effectLst>
        </p:spPr>
      </p:sp>
      <p:pic>
        <p:nvPicPr>
          <p:cNvPr id="8" name="connect-form" descr="Connect a camera (RTSP) form with a tested frame and the inspection zone drawn on it">    </p:cNvPr>
          <p:cNvPicPr>
            <a:picLocks noChangeAspect="1"/>
          </p:cNvPicPr>
          <p:nvPr/>
        </p:nvPicPr>
        <p:blipFill>
          <a:blip r:embed="rId2"/>
          <a:stretch>
            <a:fillRect/>
          </a:stretch>
        </p:blipFill>
        <p:spPr>
          <a:xfrm>
            <a:off x="6492240" y="1783080"/>
            <a:ext cx="2212848" cy="4507992"/>
          </a:xfrm>
          <a:prstGeom prst="rect">
            <a:avLst/>
          </a:prstGeom>
        </p:spPr>
      </p:pic>
      <p:sp>
        <p:nvSpPr>
          <p:cNvPr id="9" name="what-label"/>
          <p:cNvSpPr txBox="1"/>
          <p:nvPr/>
        </p:nvSpPr>
        <p:spPr>
          <a:xfrm>
            <a:off x="9052560" y="1783080"/>
            <a:ext cx="2788920" cy="365760"/>
          </a:xfrm>
          <a:prstGeom prst="rect">
            <a:avLst/>
          </a:prstGeom>
          <a:noFill/>
          <a:ln/>
        </p:spPr>
        <p:txBody>
          <a:bodyPr wrap="square" lIns="0" tIns="0" rIns="0" bIns="0" rtlCol="0" anchor="ctr"/>
          <a:lstStyle/>
          <a:p>
            <a:pPr indent="0" marL="0">
              <a:buNone/>
            </a:pPr>
            <a:r>
              <a:rPr lang="en-US" sz="1300" b="1" dirty="0">
                <a:solidFill>
                  <a:schemeClr val="accent1"/>
                </a:solidFill>
              </a:rPr>
              <a:t>WHAT IT SHOWS</a:t>
            </a:r>
            <a:endParaRPr lang="en-US" sz="1300" dirty="0"/>
          </a:p>
        </p:txBody>
      </p:sp>
      <p:sp>
        <p:nvSpPr>
          <p:cNvPr id="10" name="what-list"/>
          <p:cNvSpPr txBox="1"/>
          <p:nvPr/>
        </p:nvSpPr>
        <p:spPr>
          <a:xfrm>
            <a:off x="9052560" y="2240280"/>
            <a:ext cx="2788920" cy="4023360"/>
          </a:xfrm>
          <a:prstGeom prst="rect">
            <a:avLst/>
          </a:prstGeom>
          <a:noFill/>
          <a:ln/>
        </p:spPr>
        <p:txBody>
          <a:bodyPr wrap="square" lIns="508" tIns="508" rIns="508" bIns="508" rtlCol="0" anchor="t"/>
          <a:lstStyle/>
          <a:p>
            <a:pPr marL="342900" indent="-342900">
              <a:spcAft>
                <a:spcPts val="1000"/>
              </a:spcAft>
              <a:buSzPct val="100000"/>
              <a:buChar char="■"/>
            </a:pPr>
            <a:r>
              <a:rPr lang="en-US" sz="1600" dirty="0">
                <a:solidFill>
                  <a:schemeClr val="tx1"/>
                </a:solidFill>
              </a:rPr>
              <a:t>Live overlay beside the chat</a:t>
            </a:r>
            <a:endParaRPr lang="en-US" sz="1600" dirty="0"/>
          </a:p>
          <a:p>
            <a:pPr marL="342900" indent="-342900">
              <a:spcAft>
                <a:spcPts val="1000"/>
              </a:spcAft>
              <a:buSzPct val="100000"/>
              <a:buChar char="■"/>
            </a:pPr>
            <a:r>
              <a:rPr lang="en-US" sz="1600" dirty="0">
                <a:solidFill>
                  <a:schemeClr val="tx1"/>
                </a:solidFill>
              </a:rPr>
              <a:t>Chip = what the frame shows</a:t>
            </a:r>
            <a:endParaRPr lang="en-US" sz="1600" dirty="0"/>
          </a:p>
          <a:p>
            <a:pPr marL="342900" indent="-342900">
              <a:spcAft>
                <a:spcPts val="1000"/>
              </a:spcAft>
              <a:buSzPct val="100000"/>
              <a:buChar char="■"/>
            </a:pPr>
            <a:r>
              <a:rPr lang="en-US" sz="1600" dirty="0">
                <a:solidFill>
                  <a:schemeClr val="tx1"/>
                </a:solidFill>
              </a:rPr>
              <a:t>RTSP connect, tested first</a:t>
            </a:r>
            <a:endParaRPr lang="en-US" sz="1600" dirty="0"/>
          </a:p>
          <a:p>
            <a:pPr marL="342900" indent="-342900">
              <a:spcAft>
                <a:spcPts val="1000"/>
              </a:spcAft>
              <a:buSzPct val="100000"/>
              <a:buChar char="■"/>
            </a:pPr>
            <a:r>
              <a:rPr lang="en-US" sz="1600" dirty="0">
                <a:solidFill>
                  <a:schemeClr val="tx1"/>
                </a:solidFill>
              </a:rPr>
              <a:t>Zone drawn on a real frame</a:t>
            </a:r>
            <a:endParaRPr lang="en-US" sz="1600" dirty="0"/>
          </a:p>
        </p:txBody>
      </p:sp>
      <p:sp>
        <p:nvSpPr>
          <p:cNvPr id="25" name="Slide Number Placeholder 0"/>
          <p:cNvSpPr>
            <a:spLocks noGrp="1"/>
          </p:cNvSpPr>
          <p:nvPr>
            <p:ph type="sldNum" sz="quarter" idx="4294967295"/>
          </p:nvPr>
        </p:nvSpPr>
        <p:spPr>
          <a:xfrm>
            <a:off x="10972800" y="6400800"/>
            <a:ext cx="310896"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100">
                <a:solidFill>
                  <a:schemeClr val="accent4"/>
                </a:solidFill>
                <a:latin typeface="+mn-lt"/>
                <a:ea typeface="+mn-lt"/>
                <a:cs typeface="+mn-lt"/>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body" hasCustomPrompt="1"/>
          </p:nvPr>
        </p:nvSpPr>
        <p:spPr>
          <a:xfrm>
            <a:off x="777240" y="384048"/>
            <a:ext cx="10058400" cy="365760"/>
          </a:xfrm>
          <a:prstGeom prst="rect">
            <a:avLst/>
          </a:prstGeom>
          <a:noFill/>
          <a:ln/>
        </p:spPr>
        <p:txBody>
          <a:bodyPr wrap="square" lIns="0" tIns="0" rIns="0" bIns="0" rtlCol="0" anchor="ctr"/>
          <a:lstStyle/>
          <a:p>
            <a:pPr indent="0" marL="0">
              <a:buNone/>
            </a:pPr>
            <a:r>
              <a:rPr lang="en-US" sz="1400" b="1" dirty="0">
                <a:solidFill>
                  <a:schemeClr val="accent1"/>
                </a:solidFill>
              </a:rPr>
              <a:t>DASHBOARD ANALYSIS | SECOND OPINION</a:t>
            </a:r>
            <a:endParaRPr lang="en-US" sz="1400" dirty="0"/>
          </a:p>
        </p:txBody>
      </p:sp>
      <p:sp>
        <p:nvSpPr>
          <p:cNvPr id="3" name="Text 2"/>
          <p:cNvSpPr/>
          <p:nvPr>
            <p:ph idx="103" type="title" hasCustomPrompt="1"/>
          </p:nvPr>
        </p:nvSpPr>
        <p:spPr>
          <a:xfrm>
            <a:off x="777240" y="731520"/>
            <a:ext cx="11064240" cy="822960"/>
          </a:xfrm>
          <a:prstGeom prst="rect">
            <a:avLst/>
          </a:prstGeom>
          <a:noFill/>
          <a:ln/>
        </p:spPr>
        <p:txBody>
          <a:bodyPr wrap="square" lIns="0" tIns="0" rIns="0" bIns="0" rtlCol="0" anchor="ctr"/>
          <a:lstStyle/>
          <a:p>
            <a:pPr algn="l" indent="0" marL="0">
              <a:buNone/>
            </a:pPr>
            <a:r>
              <a:rPr lang="en-US" sz="3000" b="1" i="1" dirty="0">
                <a:solidFill>
                  <a:schemeClr val="tx2"/>
                </a:solidFill>
              </a:rPr>
              <a:t>A missed gash, caught by a second look</a:t>
            </a:r>
            <a:endParaRPr lang="en-US" sz="3000" dirty="0"/>
          </a:p>
        </p:txBody>
      </p:sp>
      <p:sp>
        <p:nvSpPr>
          <p:cNvPr id="5" name="what-label"/>
          <p:cNvSpPr txBox="1"/>
          <p:nvPr/>
        </p:nvSpPr>
        <p:spPr>
          <a:xfrm>
            <a:off x="777240" y="1755648"/>
            <a:ext cx="4480560" cy="365760"/>
          </a:xfrm>
          <a:prstGeom prst="rect">
            <a:avLst/>
          </a:prstGeom>
          <a:noFill/>
          <a:ln/>
        </p:spPr>
        <p:txBody>
          <a:bodyPr wrap="square" lIns="0" tIns="0" rIns="0" bIns="0" rtlCol="0" anchor="ctr"/>
          <a:lstStyle/>
          <a:p>
            <a:pPr indent="0" marL="0">
              <a:buNone/>
            </a:pPr>
            <a:r>
              <a:rPr lang="en-US" sz="1300" b="1" dirty="0">
                <a:solidFill>
                  <a:schemeClr val="accent1"/>
                </a:solidFill>
              </a:rPr>
              <a:t>WHAT IT SHOWS</a:t>
            </a:r>
            <a:endParaRPr lang="en-US" sz="1300" dirty="0"/>
          </a:p>
        </p:txBody>
      </p:sp>
      <p:sp>
        <p:nvSpPr>
          <p:cNvPr id="6" name="what-list"/>
          <p:cNvSpPr txBox="1"/>
          <p:nvPr/>
        </p:nvSpPr>
        <p:spPr>
          <a:xfrm>
            <a:off x="777240" y="2212848"/>
            <a:ext cx="4434840" cy="4023360"/>
          </a:xfrm>
          <a:prstGeom prst="rect">
            <a:avLst/>
          </a:prstGeom>
          <a:noFill/>
          <a:ln/>
        </p:spPr>
        <p:txBody>
          <a:bodyPr wrap="square" lIns="508" tIns="508" rIns="508" bIns="508" rtlCol="0" anchor="t"/>
          <a:lstStyle/>
          <a:p>
            <a:pPr marL="342900" indent="-342900">
              <a:spcAft>
                <a:spcPts val="1000"/>
              </a:spcAft>
              <a:buSzPct val="100000"/>
              <a:buChar char="■"/>
            </a:pPr>
            <a:r>
              <a:rPr lang="en-US" sz="1900" dirty="0">
                <a:solidFill>
                  <a:schemeClr val="tx1"/>
                </a:solidFill>
              </a:rPr>
              <a:t>Classifier alone: an auto-clear</a:t>
            </a:r>
            <a:endParaRPr lang="en-US" sz="1900" dirty="0"/>
          </a:p>
          <a:p>
            <a:pPr marL="342900" indent="-342900">
              <a:spcAft>
                <a:spcPts val="1000"/>
              </a:spcAft>
              <a:buSzPct val="100000"/>
              <a:buChar char="■"/>
            </a:pPr>
            <a:r>
              <a:rPr lang="en-US" sz="1900" dirty="0">
                <a:solidFill>
                  <a:schemeClr val="tx1"/>
                </a:solidFill>
              </a:rPr>
              <a:t>Vision model: gash, exposed cords</a:t>
            </a:r>
            <a:endParaRPr lang="en-US" sz="1900" dirty="0"/>
          </a:p>
          <a:p>
            <a:pPr marL="342900" indent="-342900">
              <a:spcAft>
                <a:spcPts val="1000"/>
              </a:spcAft>
              <a:buSzPct val="100000"/>
              <a:buChar char="■"/>
            </a:pPr>
            <a:r>
              <a:rPr lang="en-US" sz="1900" dirty="0">
                <a:solidFill>
                  <a:schemeClr val="tx1"/>
                </a:solidFill>
              </a:rPr>
              <a:t>Result: Uncertain, sent to an expert</a:t>
            </a:r>
            <a:endParaRPr lang="en-US" sz="1900" dirty="0"/>
          </a:p>
          <a:p>
            <a:pPr marL="342900" indent="-342900">
              <a:spcAft>
                <a:spcPts val="1000"/>
              </a:spcAft>
              <a:buSzPct val="100000"/>
              <a:buChar char="■"/>
            </a:pPr>
            <a:r>
              <a:rPr lang="en-US" sz="1900" dirty="0">
                <a:solidFill>
                  <a:schemeClr val="tx1"/>
                </a:solidFill>
              </a:rPr>
              <a:t>Test set misses: 3 → 1 of 150</a:t>
            </a:r>
            <a:endParaRPr lang="en-US" sz="1900" dirty="0"/>
          </a:p>
        </p:txBody>
      </p:sp>
      <p:sp>
        <p:nvSpPr>
          <p:cNvPr id="7" name="shot-frame"/>
          <p:cNvSpPr/>
          <p:nvPr/>
        </p:nvSpPr>
        <p:spPr>
          <a:xfrm>
            <a:off x="5458968" y="1755648"/>
            <a:ext cx="6364224" cy="4526280"/>
          </a:xfrm>
          <a:prstGeom prst="rect">
            <a:avLst/>
          </a:prstGeom>
          <a:solidFill>
            <a:schemeClr val="bg1"/>
          </a:solidFill>
          <a:ln w="12700">
            <a:solidFill>
              <a:schemeClr val="bg2"/>
            </a:solidFill>
            <a:prstDash val="solid"/>
          </a:ln>
          <a:effectLst>
            <a:outerShdw sx="100000" sy="100000" kx="0" ky="0" algn="bl" rotWithShape="0" blurRad="101600" dist="25400" dir="5400000">
              <a:srgbClr val="00205B">
                <a:alpha val="18000"/>
              </a:srgbClr>
            </a:outerShdw>
          </a:effectLst>
        </p:spPr>
      </p:sp>
      <p:pic>
        <p:nvPicPr>
          <p:cNvPr id="8" name="screenshot" descr="A missed gash, caught by a second look">    </p:cNvPr>
          <p:cNvPicPr>
            <a:picLocks noChangeAspect="1"/>
          </p:cNvPicPr>
          <p:nvPr/>
        </p:nvPicPr>
        <p:blipFill>
          <a:blip r:embed="rId1"/>
          <a:stretch>
            <a:fillRect/>
          </a:stretch>
        </p:blipFill>
        <p:spPr>
          <a:xfrm>
            <a:off x="5486400" y="1783080"/>
            <a:ext cx="6309360" cy="4471416"/>
          </a:xfrm>
          <a:prstGeom prst="rect">
            <a:avLst/>
          </a:prstGeom>
        </p:spPr>
      </p:pic>
      <p:sp>
        <p:nvSpPr>
          <p:cNvPr id="25" name="Slide Number Placeholder 0"/>
          <p:cNvSpPr>
            <a:spLocks noGrp="1"/>
          </p:cNvSpPr>
          <p:nvPr>
            <p:ph type="sldNum" sz="quarter" idx="4294967295"/>
          </p:nvPr>
        </p:nvSpPr>
        <p:spPr>
          <a:xfrm>
            <a:off x="10972800" y="6400800"/>
            <a:ext cx="310896"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100">
                <a:solidFill>
                  <a:schemeClr val="accent4"/>
                </a:solidFill>
                <a:latin typeface="+mn-lt"/>
                <a:ea typeface="+mn-lt"/>
                <a:cs typeface="+mn-lt"/>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body" hasCustomPrompt="1"/>
          </p:nvPr>
        </p:nvSpPr>
        <p:spPr>
          <a:xfrm>
            <a:off x="777240" y="384048"/>
            <a:ext cx="10058400" cy="365760"/>
          </a:xfrm>
          <a:prstGeom prst="rect">
            <a:avLst/>
          </a:prstGeom>
          <a:noFill/>
          <a:ln/>
        </p:spPr>
        <p:txBody>
          <a:bodyPr wrap="square" lIns="0" tIns="0" rIns="0" bIns="0" rtlCol="0" anchor="ctr"/>
          <a:lstStyle/>
          <a:p>
            <a:pPr indent="0" marL="0">
              <a:buNone/>
            </a:pPr>
            <a:r>
              <a:rPr lang="en-US" sz="1400" b="1" dirty="0">
                <a:solidFill>
                  <a:schemeClr val="accent1"/>
                </a:solidFill>
              </a:rPr>
              <a:t>DASHBOARD ANALYSIS | MODELS</a:t>
            </a:r>
            <a:endParaRPr lang="en-US" sz="1400" dirty="0"/>
          </a:p>
        </p:txBody>
      </p:sp>
      <p:sp>
        <p:nvSpPr>
          <p:cNvPr id="3" name="Text 2"/>
          <p:cNvSpPr/>
          <p:nvPr>
            <p:ph idx="103" type="title" hasCustomPrompt="1"/>
          </p:nvPr>
        </p:nvSpPr>
        <p:spPr>
          <a:xfrm>
            <a:off x="777240" y="731520"/>
            <a:ext cx="11064240" cy="822960"/>
          </a:xfrm>
          <a:prstGeom prst="rect">
            <a:avLst/>
          </a:prstGeom>
          <a:noFill/>
          <a:ln/>
        </p:spPr>
        <p:txBody>
          <a:bodyPr wrap="square" lIns="0" tIns="0" rIns="0" bIns="0" rtlCol="0" anchor="ctr"/>
          <a:lstStyle/>
          <a:p>
            <a:pPr algn="l" indent="0" marL="0">
              <a:buNone/>
            </a:pPr>
            <a:r>
              <a:rPr lang="en-US" sz="3000" b="1" i="1" dirty="0">
                <a:solidFill>
                  <a:schemeClr val="tx2"/>
                </a:solidFill>
              </a:rPr>
              <a:t>Gates decide what can ship</a:t>
            </a:r>
            <a:endParaRPr lang="en-US" sz="3000" dirty="0"/>
          </a:p>
        </p:txBody>
      </p:sp>
      <p:sp>
        <p:nvSpPr>
          <p:cNvPr id="5" name="what-label"/>
          <p:cNvSpPr txBox="1"/>
          <p:nvPr/>
        </p:nvSpPr>
        <p:spPr>
          <a:xfrm>
            <a:off x="777240" y="1755648"/>
            <a:ext cx="4480560" cy="365760"/>
          </a:xfrm>
          <a:prstGeom prst="rect">
            <a:avLst/>
          </a:prstGeom>
          <a:noFill/>
          <a:ln/>
        </p:spPr>
        <p:txBody>
          <a:bodyPr wrap="square" lIns="0" tIns="0" rIns="0" bIns="0" rtlCol="0" anchor="ctr"/>
          <a:lstStyle/>
          <a:p>
            <a:pPr indent="0" marL="0">
              <a:buNone/>
            </a:pPr>
            <a:r>
              <a:rPr lang="en-US" sz="1300" b="1" dirty="0">
                <a:solidFill>
                  <a:schemeClr val="accent1"/>
                </a:solidFill>
              </a:rPr>
              <a:t>WHAT IT SHOWS</a:t>
            </a:r>
            <a:endParaRPr lang="en-US" sz="1300" dirty="0"/>
          </a:p>
        </p:txBody>
      </p:sp>
      <p:sp>
        <p:nvSpPr>
          <p:cNvPr id="6" name="what-list"/>
          <p:cNvSpPr txBox="1"/>
          <p:nvPr/>
        </p:nvSpPr>
        <p:spPr>
          <a:xfrm>
            <a:off x="777240" y="2212848"/>
            <a:ext cx="4434840" cy="4023360"/>
          </a:xfrm>
          <a:prstGeom prst="rect">
            <a:avLst/>
          </a:prstGeom>
          <a:noFill/>
          <a:ln/>
        </p:spPr>
        <p:txBody>
          <a:bodyPr wrap="square" lIns="508" tIns="508" rIns="508" bIns="508" rtlCol="0" anchor="t"/>
          <a:lstStyle/>
          <a:p>
            <a:pPr marL="342900" indent="-342900">
              <a:spcAft>
                <a:spcPts val="1000"/>
              </a:spcAft>
              <a:buSzPct val="100000"/>
              <a:buChar char="■"/>
            </a:pPr>
            <a:r>
              <a:rPr lang="en-US" sz="1900" dirty="0">
                <a:solidFill>
                  <a:schemeClr val="tx1"/>
                </a:solidFill>
              </a:rPr>
              <a:t>ConvNeXt-Tiny v4: champion, gates passed</a:t>
            </a:r>
            <a:endParaRPr lang="en-US" sz="1900" dirty="0"/>
          </a:p>
          <a:p>
            <a:pPr marL="342900" indent="-342900">
              <a:spcAft>
                <a:spcPts val="1000"/>
              </a:spcAft>
              <a:buSzPct val="100000"/>
              <a:buChar char="■"/>
            </a:pPr>
            <a:r>
              <a:rPr lang="en-US" sz="1900" dirty="0">
                <a:solidFill>
                  <a:schemeClr val="tx1"/>
                </a:solidFill>
              </a:rPr>
              <a:t>Test recall 91.1% shown, not hidden</a:t>
            </a:r>
            <a:endParaRPr lang="en-US" sz="1900" dirty="0"/>
          </a:p>
          <a:p>
            <a:pPr marL="342900" indent="-342900">
              <a:spcAft>
                <a:spcPts val="1000"/>
              </a:spcAft>
              <a:buSzPct val="100000"/>
              <a:buChar char="■"/>
            </a:pPr>
            <a:r>
              <a:rPr lang="en-US" sz="1900" dirty="0">
                <a:solidFill>
                  <a:schemeClr val="tx1"/>
                </a:solidFill>
              </a:rPr>
              <a:t>v1 failed specificity: never promoted</a:t>
            </a:r>
            <a:endParaRPr lang="en-US" sz="1900" dirty="0"/>
          </a:p>
          <a:p>
            <a:pPr marL="342900" indent="-342900">
              <a:spcAft>
                <a:spcPts val="1000"/>
              </a:spcAft>
              <a:buSzPct val="100000"/>
              <a:buChar char="■"/>
            </a:pPr>
            <a:r>
              <a:rPr lang="en-US" sz="1900" dirty="0">
                <a:solidFill>
                  <a:schemeClr val="tx1"/>
                </a:solidFill>
              </a:rPr>
              <a:t>Promotion: reason, warm-up, generation check</a:t>
            </a:r>
            <a:endParaRPr lang="en-US" sz="1900" dirty="0"/>
          </a:p>
        </p:txBody>
      </p:sp>
      <p:sp>
        <p:nvSpPr>
          <p:cNvPr id="7" name="shot-frame"/>
          <p:cNvSpPr/>
          <p:nvPr/>
        </p:nvSpPr>
        <p:spPr>
          <a:xfrm>
            <a:off x="5458968" y="1755648"/>
            <a:ext cx="6364224" cy="4526280"/>
          </a:xfrm>
          <a:prstGeom prst="rect">
            <a:avLst/>
          </a:prstGeom>
          <a:solidFill>
            <a:schemeClr val="bg1"/>
          </a:solidFill>
          <a:ln w="12700">
            <a:solidFill>
              <a:schemeClr val="bg2"/>
            </a:solidFill>
            <a:prstDash val="solid"/>
          </a:ln>
          <a:effectLst>
            <a:outerShdw sx="100000" sy="100000" kx="0" ky="0" algn="bl" rotWithShape="0" blurRad="101600" dist="25400" dir="5400000">
              <a:srgbClr val="00205B">
                <a:alpha val="18000"/>
              </a:srgbClr>
            </a:outerShdw>
          </a:effectLst>
        </p:spPr>
      </p:sp>
      <p:pic>
        <p:nvPicPr>
          <p:cNvPr id="8" name="screenshot" descr="Gates decide what can ship">    </p:cNvPr>
          <p:cNvPicPr>
            <a:picLocks noChangeAspect="1"/>
          </p:cNvPicPr>
          <p:nvPr/>
        </p:nvPicPr>
        <p:blipFill>
          <a:blip r:embed="rId1"/>
          <a:stretch>
            <a:fillRect/>
          </a:stretch>
        </p:blipFill>
        <p:spPr>
          <a:xfrm>
            <a:off x="5486400" y="1783080"/>
            <a:ext cx="6309360" cy="4471416"/>
          </a:xfrm>
          <a:prstGeom prst="rect">
            <a:avLst/>
          </a:prstGeom>
        </p:spPr>
      </p:pic>
      <p:sp>
        <p:nvSpPr>
          <p:cNvPr id="25" name="Slide Number Placeholder 0"/>
          <p:cNvSpPr>
            <a:spLocks noGrp="1"/>
          </p:cNvSpPr>
          <p:nvPr>
            <p:ph type="sldNum" sz="quarter" idx="4294967295"/>
          </p:nvPr>
        </p:nvSpPr>
        <p:spPr>
          <a:xfrm>
            <a:off x="10972800" y="6400800"/>
            <a:ext cx="310896"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100">
                <a:solidFill>
                  <a:schemeClr val="accent4"/>
                </a:solidFill>
                <a:latin typeface="+mn-lt"/>
                <a:ea typeface="+mn-lt"/>
                <a:cs typeface="+mn-lt"/>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body" hasCustomPrompt="1"/>
          </p:nvPr>
        </p:nvSpPr>
        <p:spPr>
          <a:xfrm>
            <a:off x="777240" y="384048"/>
            <a:ext cx="10058400" cy="365760"/>
          </a:xfrm>
          <a:prstGeom prst="rect">
            <a:avLst/>
          </a:prstGeom>
          <a:noFill/>
          <a:ln/>
        </p:spPr>
        <p:txBody>
          <a:bodyPr wrap="square" lIns="0" tIns="0" rIns="0" bIns="0" rtlCol="0" anchor="ctr"/>
          <a:lstStyle/>
          <a:p>
            <a:pPr indent="0" marL="0">
              <a:buNone/>
            </a:pPr>
            <a:r>
              <a:rPr lang="en-US" sz="1400" b="1" dirty="0">
                <a:solidFill>
                  <a:schemeClr val="accent1"/>
                </a:solidFill>
              </a:rPr>
              <a:t>DASHBOARD ANALYSIS | LLMOPS IN MLFLOW</a:t>
            </a:r>
            <a:endParaRPr lang="en-US" sz="1400" dirty="0"/>
          </a:p>
        </p:txBody>
      </p:sp>
      <p:sp>
        <p:nvSpPr>
          <p:cNvPr id="3" name="Text 2"/>
          <p:cNvSpPr/>
          <p:nvPr>
            <p:ph idx="103" type="title" hasCustomPrompt="1"/>
          </p:nvPr>
        </p:nvSpPr>
        <p:spPr>
          <a:xfrm>
            <a:off x="777240" y="731520"/>
            <a:ext cx="11064240" cy="822960"/>
          </a:xfrm>
          <a:prstGeom prst="rect">
            <a:avLst/>
          </a:prstGeom>
          <a:noFill/>
          <a:ln/>
        </p:spPr>
        <p:txBody>
          <a:bodyPr wrap="square" lIns="0" tIns="0" rIns="0" bIns="0" rtlCol="0" anchor="ctr"/>
          <a:lstStyle/>
          <a:p>
            <a:pPr algn="l" indent="0" marL="0">
              <a:buNone/>
            </a:pPr>
            <a:r>
              <a:rPr lang="en-US" sz="3000" b="1" i="1" dirty="0">
                <a:solidFill>
                  <a:schemeClr val="tx2"/>
                </a:solidFill>
              </a:rPr>
              <a:t>Every Bib turn is an MLflow trace</a:t>
            </a:r>
            <a:endParaRPr lang="en-US" sz="3000" dirty="0"/>
          </a:p>
        </p:txBody>
      </p:sp>
      <p:sp>
        <p:nvSpPr>
          <p:cNvPr id="5" name="what-label"/>
          <p:cNvSpPr txBox="1"/>
          <p:nvPr/>
        </p:nvSpPr>
        <p:spPr>
          <a:xfrm>
            <a:off x="777240" y="1755648"/>
            <a:ext cx="4480560" cy="365760"/>
          </a:xfrm>
          <a:prstGeom prst="rect">
            <a:avLst/>
          </a:prstGeom>
          <a:noFill/>
          <a:ln/>
        </p:spPr>
        <p:txBody>
          <a:bodyPr wrap="square" lIns="0" tIns="0" rIns="0" bIns="0" rtlCol="0" anchor="ctr"/>
          <a:lstStyle/>
          <a:p>
            <a:pPr indent="0" marL="0">
              <a:buNone/>
            </a:pPr>
            <a:r>
              <a:rPr lang="en-US" sz="1300" b="1" dirty="0">
                <a:solidFill>
                  <a:schemeClr val="accent1"/>
                </a:solidFill>
              </a:rPr>
              <a:t>WHAT IT SHOWS</a:t>
            </a:r>
            <a:endParaRPr lang="en-US" sz="1300" dirty="0"/>
          </a:p>
        </p:txBody>
      </p:sp>
      <p:sp>
        <p:nvSpPr>
          <p:cNvPr id="6" name="what-list"/>
          <p:cNvSpPr txBox="1"/>
          <p:nvPr/>
        </p:nvSpPr>
        <p:spPr>
          <a:xfrm>
            <a:off x="777240" y="2212848"/>
            <a:ext cx="4434840" cy="4023360"/>
          </a:xfrm>
          <a:prstGeom prst="rect">
            <a:avLst/>
          </a:prstGeom>
          <a:noFill/>
          <a:ln/>
        </p:spPr>
        <p:txBody>
          <a:bodyPr wrap="square" lIns="508" tIns="508" rIns="508" bIns="508" rtlCol="0" anchor="t"/>
          <a:lstStyle/>
          <a:p>
            <a:pPr marL="342900" indent="-342900">
              <a:spcAft>
                <a:spcPts val="1000"/>
              </a:spcAft>
              <a:buSzPct val="100000"/>
              <a:buChar char="■"/>
            </a:pPr>
            <a:r>
              <a:rPr lang="en-US" sz="1900" dirty="0">
                <a:solidFill>
                  <a:schemeClr val="tx1"/>
                </a:solidFill>
              </a:rPr>
              <a:t>Agent, guardrail, LLM and tool spans</a:t>
            </a:r>
            <a:endParaRPr lang="en-US" sz="1900" dirty="0"/>
          </a:p>
          <a:p>
            <a:pPr marL="342900" indent="-342900">
              <a:spcAft>
                <a:spcPts val="1000"/>
              </a:spcAft>
              <a:buSzPct val="100000"/>
              <a:buChar char="■"/>
            </a:pPr>
            <a:r>
              <a:rPr lang="en-US" sz="1900" dirty="0">
                <a:solidFill>
                  <a:schemeClr val="tx1"/>
                </a:solidFill>
              </a:rPr>
              <a:t>Session, user, prompt version, status tags</a:t>
            </a:r>
            <a:endParaRPr lang="en-US" sz="1900" dirty="0"/>
          </a:p>
          <a:p>
            <a:pPr marL="342900" indent="-342900">
              <a:spcAft>
                <a:spcPts val="1000"/>
              </a:spcAft>
              <a:buSzPct val="100000"/>
              <a:buChar char="■"/>
            </a:pPr>
            <a:r>
              <a:rPr lang="en-US" sz="1900" dirty="0">
                <a:solidFill>
                  <a:schemeClr val="tx1"/>
                </a:solidFill>
              </a:rPr>
              <a:t>PII redacted, images removed before export</a:t>
            </a:r>
            <a:endParaRPr lang="en-US" sz="1900" dirty="0"/>
          </a:p>
          <a:p>
            <a:pPr marL="342900" indent="-342900">
              <a:spcAft>
                <a:spcPts val="1000"/>
              </a:spcAft>
              <a:buSzPct val="100000"/>
              <a:buChar char="■"/>
            </a:pPr>
            <a:r>
              <a:rPr lang="en-US" sz="1900" dirty="0">
                <a:solidFill>
                  <a:schemeClr val="tx1"/>
                </a:solidFill>
              </a:rPr>
              <a:t>Feedback and golden cases logged on traces</a:t>
            </a:r>
            <a:endParaRPr lang="en-US" sz="1900" dirty="0"/>
          </a:p>
        </p:txBody>
      </p:sp>
      <p:sp>
        <p:nvSpPr>
          <p:cNvPr id="7" name="shot-frame"/>
          <p:cNvSpPr/>
          <p:nvPr/>
        </p:nvSpPr>
        <p:spPr>
          <a:xfrm>
            <a:off x="5458968" y="1755648"/>
            <a:ext cx="6364224" cy="4526280"/>
          </a:xfrm>
          <a:prstGeom prst="rect">
            <a:avLst/>
          </a:prstGeom>
          <a:solidFill>
            <a:schemeClr val="bg1"/>
          </a:solidFill>
          <a:ln w="12700">
            <a:solidFill>
              <a:schemeClr val="bg2"/>
            </a:solidFill>
            <a:prstDash val="solid"/>
          </a:ln>
          <a:effectLst>
            <a:outerShdw sx="100000" sy="100000" kx="0" ky="0" algn="bl" rotWithShape="0" blurRad="101600" dist="25400" dir="5400000">
              <a:srgbClr val="00205B">
                <a:alpha val="18000"/>
              </a:srgbClr>
            </a:outerShdw>
          </a:effectLst>
        </p:spPr>
      </p:sp>
      <p:pic>
        <p:nvPicPr>
          <p:cNvPr id="8" name="screenshot" descr="Every Bib turn is an MLflow trace">    </p:cNvPr>
          <p:cNvPicPr>
            <a:picLocks noChangeAspect="1"/>
          </p:cNvPicPr>
          <p:nvPr/>
        </p:nvPicPr>
        <p:blipFill>
          <a:blip r:embed="rId1"/>
          <a:stretch>
            <a:fillRect/>
          </a:stretch>
        </p:blipFill>
        <p:spPr>
          <a:xfrm>
            <a:off x="5486400" y="1783080"/>
            <a:ext cx="6309360" cy="4471416"/>
          </a:xfrm>
          <a:prstGeom prst="rect">
            <a:avLst/>
          </a:prstGeom>
        </p:spPr>
      </p:pic>
      <p:sp>
        <p:nvSpPr>
          <p:cNvPr id="25" name="Slide Number Placeholder 0"/>
          <p:cNvSpPr>
            <a:spLocks noGrp="1"/>
          </p:cNvSpPr>
          <p:nvPr>
            <p:ph type="sldNum" sz="quarter" idx="4294967295"/>
          </p:nvPr>
        </p:nvSpPr>
        <p:spPr>
          <a:xfrm>
            <a:off x="10972800" y="6400800"/>
            <a:ext cx="310896"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100">
                <a:solidFill>
                  <a:schemeClr val="accent4"/>
                </a:solidFill>
                <a:latin typeface="+mn-lt"/>
                <a:ea typeface="+mn-lt"/>
                <a:cs typeface="+mn-lt"/>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body" hasCustomPrompt="1"/>
          </p:nvPr>
        </p:nvSpPr>
        <p:spPr>
          <a:xfrm>
            <a:off x="777240" y="384048"/>
            <a:ext cx="10058400" cy="365760"/>
          </a:xfrm>
          <a:prstGeom prst="rect">
            <a:avLst/>
          </a:prstGeom>
          <a:noFill/>
          <a:ln/>
        </p:spPr>
        <p:txBody>
          <a:bodyPr wrap="square" lIns="0" tIns="0" rIns="0" bIns="0" rtlCol="0" anchor="ctr"/>
          <a:lstStyle/>
          <a:p>
            <a:pPr indent="0" marL="0">
              <a:buNone/>
            </a:pPr>
            <a:r>
              <a:rPr lang="en-US" sz="1400" b="1" dirty="0">
                <a:solidFill>
                  <a:schemeClr val="accent1"/>
                </a:solidFill>
              </a:rPr>
              <a:t>WHERE WE STAND</a:t>
            </a:r>
            <a:endParaRPr lang="en-US" sz="1400" dirty="0"/>
          </a:p>
        </p:txBody>
      </p:sp>
      <p:sp>
        <p:nvSpPr>
          <p:cNvPr id="3" name="Text 2"/>
          <p:cNvSpPr/>
          <p:nvPr>
            <p:ph idx="103" type="title" hasCustomPrompt="1"/>
          </p:nvPr>
        </p:nvSpPr>
        <p:spPr>
          <a:xfrm>
            <a:off x="777240" y="731520"/>
            <a:ext cx="11064240" cy="822960"/>
          </a:xfrm>
          <a:prstGeom prst="rect">
            <a:avLst/>
          </a:prstGeom>
          <a:noFill/>
          <a:ln/>
        </p:spPr>
        <p:txBody>
          <a:bodyPr wrap="square" lIns="0" tIns="0" rIns="0" bIns="0" rtlCol="0" anchor="ctr"/>
          <a:lstStyle/>
          <a:p>
            <a:pPr algn="l" indent="0" marL="0">
              <a:buNone/>
            </a:pPr>
            <a:r>
              <a:rPr lang="en-US" sz="3000" b="1" i="1" dirty="0">
                <a:solidFill>
                  <a:schemeClr val="tx2"/>
                </a:solidFill>
              </a:rPr>
              <a:t>TreadVision works in the plant; we pre-screen with proof</a:t>
            </a:r>
            <a:endParaRPr lang="en-US" sz="3000" dirty="0"/>
          </a:p>
        </p:txBody>
      </p:sp>
      <p:graphicFrame>
        <p:nvGraphicFramePr>
          <p:cNvPr id="18" name="tv-table"/>
          <p:cNvGraphicFramePr>
            <a:graphicFrameLocks noGrp="1"/>
          </p:cNvGraphicFramePr>
          <p:nvPr>
            <p:extLst>
              <p:ext uri="{D42A27DB-BD31-4B8C-83A1-F6EECF244321}">
                <p14:modId xmlns:p14="http://schemas.microsoft.com/office/powerpoint/2010/main" val="1579011935"/>
              </p:ext>
            </p:extLst>
          </p:nvPr>
        </p:nvGraphicFramePr>
        <p:xfrm>
          <a:off x="777240" y="1783080"/>
          <a:ext cx="11064240" cy="914400"/>
        </p:xfrm>
        <a:graphic>
          <a:graphicData uri="http://schemas.openxmlformats.org/drawingml/2006/table">
            <a:tbl>
              <a:tblPr/>
              <a:tblGrid>
                <a:gridCol w="1920240"/>
                <a:gridCol w="4572000"/>
                <a:gridCol w="4572000"/>
              </a:tblGrid>
              <a:tr h="566928">
                <a:tc>
                  <a:txBody>
                    <a:bodyPr/>
                    <a:lstStyle/>
                    <a:p>
                      <a:pPr indent="0" marL="0">
                        <a:buNone/>
                      </a:pPr>
                      <a:endParaRPr lang="en-US" sz="1500" dirty="0"/>
                    </a:p>
                  </a:txBody>
                  <a:tcPr marL="101600" marR="101600" marT="50800" marB="50800" anchor="ctr">
                    <a:lnL w="9525" cap="flat" cmpd="sng" algn="ctr">
                      <a:solidFill>
                        <a:srgbClr val="D7DBE4"/>
                      </a:solidFill>
                      <a:prstDash val="solid"/>
                      <a:round/>
                      <a:headEnd type="none" w="med" len="med"/>
                      <a:tailEnd type="none" w="med" len="med"/>
                    </a:lnL>
                    <a:lnR w="9525" cap="flat" cmpd="sng" algn="ctr">
                      <a:solidFill>
                        <a:srgbClr val="D7DBE4"/>
                      </a:solidFill>
                      <a:prstDash val="solid"/>
                      <a:round/>
                      <a:headEnd type="none" w="med" len="med"/>
                      <a:tailEnd type="none" w="med" len="med"/>
                    </a:lnR>
                    <a:lnT w="9525" cap="flat" cmpd="sng" algn="ctr">
                      <a:solidFill>
                        <a:srgbClr val="D7DBE4"/>
                      </a:solidFill>
                      <a:prstDash val="solid"/>
                      <a:round/>
                      <a:headEnd type="none" w="med" len="med"/>
                      <a:tailEnd type="none" w="med" len="med"/>
                    </a:lnT>
                    <a:lnB w="9525" cap="flat" cmpd="sng" algn="ctr">
                      <a:solidFill>
                        <a:srgbClr val="D7DBE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Michelin TreadVision (stated)</a:t>
                      </a:r>
                      <a:endParaRPr lang="en-US" sz="1500" dirty="0"/>
                    </a:p>
                  </a:txBody>
                  <a:tcPr marL="101600" marR="101600" marT="50800" marB="50800" anchor="ctr">
                    <a:lnL w="9525" cap="flat" cmpd="sng" algn="ctr">
                      <a:solidFill>
                        <a:srgbClr val="D7DBE4"/>
                      </a:solidFill>
                      <a:prstDash val="solid"/>
                      <a:round/>
                      <a:headEnd type="none" w="med" len="med"/>
                      <a:tailEnd type="none" w="med" len="med"/>
                    </a:lnL>
                    <a:lnR w="9525" cap="flat" cmpd="sng" algn="ctr">
                      <a:solidFill>
                        <a:srgbClr val="D7DBE4"/>
                      </a:solidFill>
                      <a:prstDash val="solid"/>
                      <a:round/>
                      <a:headEnd type="none" w="med" len="med"/>
                      <a:tailEnd type="none" w="med" len="med"/>
                    </a:lnR>
                    <a:lnT w="9525" cap="flat" cmpd="sng" algn="ctr">
                      <a:solidFill>
                        <a:srgbClr val="D7DBE4"/>
                      </a:solidFill>
                      <a:prstDash val="solid"/>
                      <a:round/>
                      <a:headEnd type="none" w="med" len="med"/>
                      <a:tailEnd type="none" w="med" len="med"/>
                    </a:lnT>
                    <a:lnB w="9525" cap="flat" cmpd="sng" algn="ctr">
                      <a:solidFill>
                        <a:srgbClr val="D7DBE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TreadOps (measured)</a:t>
                      </a:r>
                      <a:endParaRPr lang="en-US" sz="1500" dirty="0"/>
                    </a:p>
                  </a:txBody>
                  <a:tcPr marL="101600" marR="101600" marT="50800" marB="50800" anchor="ctr">
                    <a:lnL w="9525" cap="flat" cmpd="sng" algn="ctr">
                      <a:solidFill>
                        <a:srgbClr val="D7DBE4"/>
                      </a:solidFill>
                      <a:prstDash val="solid"/>
                      <a:round/>
                      <a:headEnd type="none" w="med" len="med"/>
                      <a:tailEnd type="none" w="med" len="med"/>
                    </a:lnL>
                    <a:lnR w="9525" cap="flat" cmpd="sng" algn="ctr">
                      <a:solidFill>
                        <a:srgbClr val="D7DBE4"/>
                      </a:solidFill>
                      <a:prstDash val="solid"/>
                      <a:round/>
                      <a:headEnd type="none" w="med" len="med"/>
                      <a:tailEnd type="none" w="med" len="med"/>
                    </a:lnR>
                    <a:lnT w="9525" cap="flat" cmpd="sng" algn="ctr">
                      <a:solidFill>
                        <a:srgbClr val="D7DBE4"/>
                      </a:solidFill>
                      <a:prstDash val="solid"/>
                      <a:round/>
                      <a:headEnd type="none" w="med" len="med"/>
                      <a:tailEnd type="none" w="med" len="med"/>
                    </a:lnT>
                    <a:lnB w="9525" cap="flat" cmpd="sng" algn="ctr">
                      <a:solidFill>
                        <a:srgbClr val="D7DBE4"/>
                      </a:solidFill>
                      <a:prstDash val="solid"/>
                      <a:round/>
                      <a:headEnd type="none" w="med" len="med"/>
                      <a:tailEnd type="none" w="med" len="med"/>
                    </a:lnB>
                    <a:solidFill>
                      <a:schemeClr val="tx2"/>
                    </a:solidFill>
                  </a:tcPr>
                </a:tc>
              </a:tr>
              <a:tr h="566928">
                <a:tc>
                  <a:txBody>
                    <a:bodyPr/>
                    <a:lstStyle/>
                    <a:p>
                      <a:pPr indent="0" marL="0">
                        <a:buNone/>
                      </a:pPr>
                      <a:r>
                        <a:rPr lang="en-US" sz="1500" b="1" dirty="0">
                          <a:solidFill>
                            <a:schemeClr val="tx2"/>
                          </a:solidFill>
                        </a:rPr>
                        <a:t>Input</a:t>
                      </a:r>
                      <a:endParaRPr lang="en-US" sz="1500" dirty="0"/>
                    </a:p>
                  </a:txBody>
                  <a:tcPr marL="101600" marR="101600" marT="50800" marB="50800" anchor="ctr">
                    <a:lnL w="9525" cap="flat" cmpd="sng" algn="ctr">
                      <a:solidFill>
                        <a:srgbClr val="D7DBE4"/>
                      </a:solidFill>
                      <a:prstDash val="solid"/>
                      <a:round/>
                      <a:headEnd type="none" w="med" len="med"/>
                      <a:tailEnd type="none" w="med" len="med"/>
                    </a:lnL>
                    <a:lnR w="9525" cap="flat" cmpd="sng" algn="ctr">
                      <a:solidFill>
                        <a:srgbClr val="D7DBE4"/>
                      </a:solidFill>
                      <a:prstDash val="solid"/>
                      <a:round/>
                      <a:headEnd type="none" w="med" len="med"/>
                      <a:tailEnd type="none" w="med" len="med"/>
                    </a:lnR>
                    <a:lnT w="9525" cap="flat" cmpd="sng" algn="ctr">
                      <a:solidFill>
                        <a:srgbClr val="D7DBE4"/>
                      </a:solidFill>
                      <a:prstDash val="solid"/>
                      <a:round/>
                      <a:headEnd type="none" w="med" len="med"/>
                      <a:tailEnd type="none" w="med" len="med"/>
                    </a:lnT>
                    <a:lnB w="9525" cap="flat" cmpd="sng" algn="ctr">
                      <a:solidFill>
                        <a:srgbClr val="D7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plant imaging, TreadEye, shearography</a:t>
                      </a:r>
                      <a:endParaRPr lang="en-US" sz="1500" dirty="0"/>
                    </a:p>
                  </a:txBody>
                  <a:tcPr marL="101600" marR="101600" marT="50800" marB="50800" anchor="ctr">
                    <a:lnL w="9525" cap="flat" cmpd="sng" algn="ctr">
                      <a:solidFill>
                        <a:srgbClr val="D7DBE4"/>
                      </a:solidFill>
                      <a:prstDash val="solid"/>
                      <a:round/>
                      <a:headEnd type="none" w="med" len="med"/>
                      <a:tailEnd type="none" w="med" len="med"/>
                    </a:lnL>
                    <a:lnR w="9525" cap="flat" cmpd="sng" algn="ctr">
                      <a:solidFill>
                        <a:srgbClr val="D7DBE4"/>
                      </a:solidFill>
                      <a:prstDash val="solid"/>
                      <a:round/>
                      <a:headEnd type="none" w="med" len="med"/>
                      <a:tailEnd type="none" w="med" len="med"/>
                    </a:lnR>
                    <a:lnT w="9525" cap="flat" cmpd="sng" algn="ctr">
                      <a:solidFill>
                        <a:srgbClr val="D7DBE4"/>
                      </a:solidFill>
                      <a:prstDash val="solid"/>
                      <a:round/>
                      <a:headEnd type="none" w="med" len="med"/>
                      <a:tailEnd type="none" w="med" len="med"/>
                    </a:lnT>
                    <a:lnB w="9525" cap="flat" cmpd="sng" algn="ctr">
                      <a:solidFill>
                        <a:srgbClr val="D7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phone photo, video, RTSP line camera</a:t>
                      </a:r>
                      <a:endParaRPr lang="en-US" sz="1500" dirty="0"/>
                    </a:p>
                  </a:txBody>
                  <a:tcPr marL="101600" marR="101600" marT="50800" marB="50800" anchor="ctr">
                    <a:lnL w="9525" cap="flat" cmpd="sng" algn="ctr">
                      <a:solidFill>
                        <a:srgbClr val="D7DBE4"/>
                      </a:solidFill>
                      <a:prstDash val="solid"/>
                      <a:round/>
                      <a:headEnd type="none" w="med" len="med"/>
                      <a:tailEnd type="none" w="med" len="med"/>
                    </a:lnL>
                    <a:lnR w="9525" cap="flat" cmpd="sng" algn="ctr">
                      <a:solidFill>
                        <a:srgbClr val="D7DBE4"/>
                      </a:solidFill>
                      <a:prstDash val="solid"/>
                      <a:round/>
                      <a:headEnd type="none" w="med" len="med"/>
                      <a:tailEnd type="none" w="med" len="med"/>
                    </a:lnR>
                    <a:lnT w="9525" cap="flat" cmpd="sng" algn="ctr">
                      <a:solidFill>
                        <a:srgbClr val="D7DBE4"/>
                      </a:solidFill>
                      <a:prstDash val="solid"/>
                      <a:round/>
                      <a:headEnd type="none" w="med" len="med"/>
                      <a:tailEnd type="none" w="med" len="med"/>
                    </a:lnT>
                    <a:lnB w="9525" cap="flat" cmpd="sng" algn="ctr">
                      <a:solidFill>
                        <a:srgbClr val="D7DBE4"/>
                      </a:solidFill>
                      <a:prstDash val="solid"/>
                      <a:round/>
                      <a:headEnd type="none" w="med" len="med"/>
                      <a:tailEnd type="none" w="med" len="med"/>
                    </a:lnB>
                    <a:solidFill>
                      <a:schemeClr val="bg1"/>
                    </a:solidFill>
                  </a:tcPr>
                </a:tc>
              </a:tr>
              <a:tr h="566928">
                <a:tc>
                  <a:txBody>
                    <a:bodyPr/>
                    <a:lstStyle/>
                    <a:p>
                      <a:pPr indent="0" marL="0">
                        <a:buNone/>
                      </a:pPr>
                      <a:r>
                        <a:rPr lang="en-US" sz="1500" b="1" dirty="0">
                          <a:solidFill>
                            <a:schemeClr val="tx2"/>
                          </a:solidFill>
                        </a:rPr>
                        <a:t>Casing defects</a:t>
                      </a:r>
                      <a:endParaRPr lang="en-US" sz="1500" dirty="0"/>
                    </a:p>
                  </a:txBody>
                  <a:tcPr marL="101600" marR="101600" marT="50800" marB="50800" anchor="ctr">
                    <a:lnL w="9525" cap="flat" cmpd="sng" algn="ctr">
                      <a:solidFill>
                        <a:srgbClr val="D7DBE4"/>
                      </a:solidFill>
                      <a:prstDash val="solid"/>
                      <a:round/>
                      <a:headEnd type="none" w="med" len="med"/>
                      <a:tailEnd type="none" w="med" len="med"/>
                    </a:lnL>
                    <a:lnR w="9525" cap="flat" cmpd="sng" algn="ctr">
                      <a:solidFill>
                        <a:srgbClr val="D7DBE4"/>
                      </a:solidFill>
                      <a:prstDash val="solid"/>
                      <a:round/>
                      <a:headEnd type="none" w="med" len="med"/>
                      <a:tailEnd type="none" w="med" len="med"/>
                    </a:lnR>
                    <a:lnT w="9525" cap="flat" cmpd="sng" algn="ctr">
                      <a:solidFill>
                        <a:srgbClr val="D7DBE4"/>
                      </a:solidFill>
                      <a:prstDash val="solid"/>
                      <a:round/>
                      <a:headEnd type="none" w="med" len="med"/>
                      <a:tailEnd type="none" w="med" len="med"/>
                    </a:lnT>
                    <a:lnB w="9525" cap="flat" cmpd="sng" algn="ctr">
                      <a:solidFill>
                        <a:srgbClr val="D7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AI flags defects; AI reads shearography</a:t>
                      </a:r>
                      <a:endParaRPr lang="en-US" sz="1500" dirty="0"/>
                    </a:p>
                  </a:txBody>
                  <a:tcPr marL="101600" marR="101600" marT="50800" marB="50800" anchor="ctr">
                    <a:lnL w="9525" cap="flat" cmpd="sng" algn="ctr">
                      <a:solidFill>
                        <a:srgbClr val="D7DBE4"/>
                      </a:solidFill>
                      <a:prstDash val="solid"/>
                      <a:round/>
                      <a:headEnd type="none" w="med" len="med"/>
                      <a:tailEnd type="none" w="med" len="med"/>
                    </a:lnL>
                    <a:lnR w="9525" cap="flat" cmpd="sng" algn="ctr">
                      <a:solidFill>
                        <a:srgbClr val="D7DBE4"/>
                      </a:solidFill>
                      <a:prstDash val="solid"/>
                      <a:round/>
                      <a:headEnd type="none" w="med" len="med"/>
                      <a:tailEnd type="none" w="med" len="med"/>
                    </a:lnR>
                    <a:lnT w="9525" cap="flat" cmpd="sng" algn="ctr">
                      <a:solidFill>
                        <a:srgbClr val="D7DBE4"/>
                      </a:solidFill>
                      <a:prstDash val="solid"/>
                      <a:round/>
                      <a:headEnd type="none" w="med" len="med"/>
                      <a:tailEnd type="none" w="med" len="med"/>
                    </a:lnT>
                    <a:lnB w="9525" cap="flat" cmpd="sng" algn="ctr">
                      <a:solidFill>
                        <a:srgbClr val="D7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classifier, locator boxes, second opinion</a:t>
                      </a:r>
                      <a:endParaRPr lang="en-US" sz="1500" dirty="0"/>
                    </a:p>
                  </a:txBody>
                  <a:tcPr marL="101600" marR="101600" marT="50800" marB="50800" anchor="ctr">
                    <a:lnL w="9525" cap="flat" cmpd="sng" algn="ctr">
                      <a:solidFill>
                        <a:srgbClr val="D7DBE4"/>
                      </a:solidFill>
                      <a:prstDash val="solid"/>
                      <a:round/>
                      <a:headEnd type="none" w="med" len="med"/>
                      <a:tailEnd type="none" w="med" len="med"/>
                    </a:lnL>
                    <a:lnR w="9525" cap="flat" cmpd="sng" algn="ctr">
                      <a:solidFill>
                        <a:srgbClr val="D7DBE4"/>
                      </a:solidFill>
                      <a:prstDash val="solid"/>
                      <a:round/>
                      <a:headEnd type="none" w="med" len="med"/>
                      <a:tailEnd type="none" w="med" len="med"/>
                    </a:lnR>
                    <a:lnT w="9525" cap="flat" cmpd="sng" algn="ctr">
                      <a:solidFill>
                        <a:srgbClr val="D7DBE4"/>
                      </a:solidFill>
                      <a:prstDash val="solid"/>
                      <a:round/>
                      <a:headEnd type="none" w="med" len="med"/>
                      <a:tailEnd type="none" w="med" len="med"/>
                    </a:lnT>
                    <a:lnB w="9525" cap="flat" cmpd="sng" algn="ctr">
                      <a:solidFill>
                        <a:srgbClr val="D7DBE4"/>
                      </a:solidFill>
                      <a:prstDash val="solid"/>
                      <a:round/>
                      <a:headEnd type="none" w="med" len="med"/>
                      <a:tailEnd type="none" w="med" len="med"/>
                    </a:lnB>
                    <a:solidFill>
                      <a:schemeClr val="bg2"/>
                    </a:solidFill>
                  </a:tcPr>
                </a:tc>
              </a:tr>
              <a:tr h="566928">
                <a:tc>
                  <a:txBody>
                    <a:bodyPr/>
                    <a:lstStyle/>
                    <a:p>
                      <a:pPr indent="0" marL="0">
                        <a:buNone/>
                      </a:pPr>
                      <a:r>
                        <a:rPr lang="en-US" sz="1500" b="1" dirty="0">
                          <a:solidFill>
                            <a:schemeClr val="tx2"/>
                          </a:solidFill>
                        </a:rPr>
                        <a:t>Plant</a:t>
                      </a:r>
                      <a:endParaRPr lang="en-US" sz="1500" dirty="0"/>
                    </a:p>
                  </a:txBody>
                  <a:tcPr marL="101600" marR="101600" marT="50800" marB="50800" anchor="ctr">
                    <a:lnL w="9525" cap="flat" cmpd="sng" algn="ctr">
                      <a:solidFill>
                        <a:srgbClr val="D7DBE4"/>
                      </a:solidFill>
                      <a:prstDash val="solid"/>
                      <a:round/>
                      <a:headEnd type="none" w="med" len="med"/>
                      <a:tailEnd type="none" w="med" len="med"/>
                    </a:lnL>
                    <a:lnR w="9525" cap="flat" cmpd="sng" algn="ctr">
                      <a:solidFill>
                        <a:srgbClr val="D7DBE4"/>
                      </a:solidFill>
                      <a:prstDash val="solid"/>
                      <a:round/>
                      <a:headEnd type="none" w="med" len="med"/>
                      <a:tailEnd type="none" w="med" len="med"/>
                    </a:lnR>
                    <a:lnT w="9525" cap="flat" cmpd="sng" algn="ctr">
                      <a:solidFill>
                        <a:srgbClr val="D7DBE4"/>
                      </a:solidFill>
                      <a:prstDash val="solid"/>
                      <a:round/>
                      <a:headEnd type="none" w="med" len="med"/>
                      <a:tailEnd type="none" w="med" len="med"/>
                    </a:lnT>
                    <a:lnB w="9525" cap="flat" cmpd="sng" algn="ctr">
                      <a:solidFill>
                        <a:srgbClr val="D7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robotics, automated flow</a:t>
                      </a:r>
                      <a:endParaRPr lang="en-US" sz="1500" dirty="0"/>
                    </a:p>
                  </a:txBody>
                  <a:tcPr marL="101600" marR="101600" marT="50800" marB="50800" anchor="ctr">
                    <a:lnL w="9525" cap="flat" cmpd="sng" algn="ctr">
                      <a:solidFill>
                        <a:srgbClr val="D7DBE4"/>
                      </a:solidFill>
                      <a:prstDash val="solid"/>
                      <a:round/>
                      <a:headEnd type="none" w="med" len="med"/>
                      <a:tailEnd type="none" w="med" len="med"/>
                    </a:lnL>
                    <a:lnR w="9525" cap="flat" cmpd="sng" algn="ctr">
                      <a:solidFill>
                        <a:srgbClr val="D7DBE4"/>
                      </a:solidFill>
                      <a:prstDash val="solid"/>
                      <a:round/>
                      <a:headEnd type="none" w="med" len="med"/>
                      <a:tailEnd type="none" w="med" len="med"/>
                    </a:lnR>
                    <a:lnT w="9525" cap="flat" cmpd="sng" algn="ctr">
                      <a:solidFill>
                        <a:srgbClr val="D7DBE4"/>
                      </a:solidFill>
                      <a:prstDash val="solid"/>
                      <a:round/>
                      <a:headEnd type="none" w="med" len="med"/>
                      <a:tailEnd type="none" w="med" len="med"/>
                    </a:lnT>
                    <a:lnB w="9525" cap="flat" cmpd="sng" algn="ctr">
                      <a:solidFill>
                        <a:srgbClr val="D7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software only; no plant data yet</a:t>
                      </a:r>
                      <a:endParaRPr lang="en-US" sz="1500" dirty="0"/>
                    </a:p>
                  </a:txBody>
                  <a:tcPr marL="101600" marR="101600" marT="50800" marB="50800" anchor="ctr">
                    <a:lnL w="9525" cap="flat" cmpd="sng" algn="ctr">
                      <a:solidFill>
                        <a:srgbClr val="D7DBE4"/>
                      </a:solidFill>
                      <a:prstDash val="solid"/>
                      <a:round/>
                      <a:headEnd type="none" w="med" len="med"/>
                      <a:tailEnd type="none" w="med" len="med"/>
                    </a:lnL>
                    <a:lnR w="9525" cap="flat" cmpd="sng" algn="ctr">
                      <a:solidFill>
                        <a:srgbClr val="D7DBE4"/>
                      </a:solidFill>
                      <a:prstDash val="solid"/>
                      <a:round/>
                      <a:headEnd type="none" w="med" len="med"/>
                      <a:tailEnd type="none" w="med" len="med"/>
                    </a:lnR>
                    <a:lnT w="9525" cap="flat" cmpd="sng" algn="ctr">
                      <a:solidFill>
                        <a:srgbClr val="D7DBE4"/>
                      </a:solidFill>
                      <a:prstDash val="solid"/>
                      <a:round/>
                      <a:headEnd type="none" w="med" len="med"/>
                      <a:tailEnd type="none" w="med" len="med"/>
                    </a:lnT>
                    <a:lnB w="9525" cap="flat" cmpd="sng" algn="ctr">
                      <a:solidFill>
                        <a:srgbClr val="D7DBE4"/>
                      </a:solidFill>
                      <a:prstDash val="solid"/>
                      <a:round/>
                      <a:headEnd type="none" w="med" len="med"/>
                      <a:tailEnd type="none" w="med" len="med"/>
                    </a:lnB>
                    <a:solidFill>
                      <a:schemeClr val="bg1"/>
                    </a:solidFill>
                  </a:tcPr>
                </a:tc>
              </a:tr>
              <a:tr h="566928">
                <a:tc>
                  <a:txBody>
                    <a:bodyPr/>
                    <a:lstStyle/>
                    <a:p>
                      <a:pPr indent="0" marL="0">
                        <a:buNone/>
                      </a:pPr>
                      <a:r>
                        <a:rPr lang="en-US" sz="1500" b="1" dirty="0">
                          <a:solidFill>
                            <a:schemeClr val="tx2"/>
                          </a:solidFill>
                        </a:rPr>
                        <a:t>Evidence</a:t>
                      </a:r>
                      <a:endParaRPr lang="en-US" sz="1500" dirty="0"/>
                    </a:p>
                  </a:txBody>
                  <a:tcPr marL="101600" marR="101600" marT="50800" marB="50800" anchor="ctr">
                    <a:lnL w="9525" cap="flat" cmpd="sng" algn="ctr">
                      <a:solidFill>
                        <a:srgbClr val="D7DBE4"/>
                      </a:solidFill>
                      <a:prstDash val="solid"/>
                      <a:round/>
                      <a:headEnd type="none" w="med" len="med"/>
                      <a:tailEnd type="none" w="med" len="med"/>
                    </a:lnL>
                    <a:lnR w="9525" cap="flat" cmpd="sng" algn="ctr">
                      <a:solidFill>
                        <a:srgbClr val="D7DBE4"/>
                      </a:solidFill>
                      <a:prstDash val="solid"/>
                      <a:round/>
                      <a:headEnd type="none" w="med" len="med"/>
                      <a:tailEnd type="none" w="med" len="med"/>
                    </a:lnR>
                    <a:lnT w="9525" cap="flat" cmpd="sng" algn="ctr">
                      <a:solidFill>
                        <a:srgbClr val="D7DBE4"/>
                      </a:solidFill>
                      <a:prstDash val="solid"/>
                      <a:round/>
                      <a:headEnd type="none" w="med" len="med"/>
                      <a:tailEnd type="none" w="med" len="med"/>
                    </a:lnT>
                    <a:lnB w="9525" cap="flat" cmpd="sng" algn="ctr">
                      <a:solidFill>
                        <a:srgbClr val="D7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company-stated, not public</a:t>
                      </a:r>
                      <a:endParaRPr lang="en-US" sz="1500" dirty="0"/>
                    </a:p>
                  </a:txBody>
                  <a:tcPr marL="101600" marR="101600" marT="50800" marB="50800" anchor="ctr">
                    <a:lnL w="9525" cap="flat" cmpd="sng" algn="ctr">
                      <a:solidFill>
                        <a:srgbClr val="D7DBE4"/>
                      </a:solidFill>
                      <a:prstDash val="solid"/>
                      <a:round/>
                      <a:headEnd type="none" w="med" len="med"/>
                      <a:tailEnd type="none" w="med" len="med"/>
                    </a:lnL>
                    <a:lnR w="9525" cap="flat" cmpd="sng" algn="ctr">
                      <a:solidFill>
                        <a:srgbClr val="D7DBE4"/>
                      </a:solidFill>
                      <a:prstDash val="solid"/>
                      <a:round/>
                      <a:headEnd type="none" w="med" len="med"/>
                      <a:tailEnd type="none" w="med" len="med"/>
                    </a:lnR>
                    <a:lnT w="9525" cap="flat" cmpd="sng" algn="ctr">
                      <a:solidFill>
                        <a:srgbClr val="D7DBE4"/>
                      </a:solidFill>
                      <a:prstDash val="solid"/>
                      <a:round/>
                      <a:headEnd type="none" w="med" len="med"/>
                      <a:tailEnd type="none" w="med" len="med"/>
                    </a:lnT>
                    <a:lnB w="9525" cap="flat" cmpd="sng" algn="ctr">
                      <a:solidFill>
                        <a:srgbClr val="D7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locked test, per source, open lineage</a:t>
                      </a:r>
                      <a:endParaRPr lang="en-US" sz="1500" dirty="0"/>
                    </a:p>
                  </a:txBody>
                  <a:tcPr marL="101600" marR="101600" marT="50800" marB="50800" anchor="ctr">
                    <a:lnL w="9525" cap="flat" cmpd="sng" algn="ctr">
                      <a:solidFill>
                        <a:srgbClr val="D7DBE4"/>
                      </a:solidFill>
                      <a:prstDash val="solid"/>
                      <a:round/>
                      <a:headEnd type="none" w="med" len="med"/>
                      <a:tailEnd type="none" w="med" len="med"/>
                    </a:lnL>
                    <a:lnR w="9525" cap="flat" cmpd="sng" algn="ctr">
                      <a:solidFill>
                        <a:srgbClr val="D7DBE4"/>
                      </a:solidFill>
                      <a:prstDash val="solid"/>
                      <a:round/>
                      <a:headEnd type="none" w="med" len="med"/>
                      <a:tailEnd type="none" w="med" len="med"/>
                    </a:lnR>
                    <a:lnT w="9525" cap="flat" cmpd="sng" algn="ctr">
                      <a:solidFill>
                        <a:srgbClr val="D7DBE4"/>
                      </a:solidFill>
                      <a:prstDash val="solid"/>
                      <a:round/>
                      <a:headEnd type="none" w="med" len="med"/>
                      <a:tailEnd type="none" w="med" len="med"/>
                    </a:lnT>
                    <a:lnB w="9525" cap="flat" cmpd="sng" algn="ctr">
                      <a:solidFill>
                        <a:srgbClr val="D7DBE4"/>
                      </a:solidFill>
                      <a:prstDash val="solid"/>
                      <a:round/>
                      <a:headEnd type="none" w="med" len="med"/>
                      <a:tailEnd type="none" w="med" len="med"/>
                    </a:lnB>
                    <a:solidFill>
                      <a:schemeClr val="bg2"/>
                    </a:solidFill>
                  </a:tcPr>
                </a:tc>
              </a:tr>
            </a:tbl>
          </a:graphicData>
        </a:graphic>
      </p:graphicFrame>
      <p:sp>
        <p:nvSpPr>
          <p:cNvPr id="6" name="limit-band"/>
          <p:cNvSpPr/>
          <p:nvPr/>
        </p:nvSpPr>
        <p:spPr>
          <a:xfrm>
            <a:off x="777240" y="5120640"/>
            <a:ext cx="11064240" cy="868680"/>
          </a:xfrm>
          <a:prstGeom prst="rect">
            <a:avLst/>
          </a:prstGeom>
          <a:solidFill>
            <a:schemeClr val="tx2"/>
          </a:solidFill>
          <a:ln w="12700">
            <a:solidFill>
              <a:schemeClr val="tx2"/>
            </a:solidFill>
            <a:prstDash val="solid"/>
          </a:ln>
        </p:spPr>
      </p:sp>
      <p:sp>
        <p:nvSpPr>
          <p:cNvPr id="7" name="limit-text"/>
          <p:cNvSpPr txBox="1"/>
          <p:nvPr/>
        </p:nvSpPr>
        <p:spPr>
          <a:xfrm>
            <a:off x="1097280" y="5120640"/>
            <a:ext cx="10515600" cy="868680"/>
          </a:xfrm>
          <a:prstGeom prst="rect">
            <a:avLst/>
          </a:prstGeom>
          <a:noFill/>
          <a:ln/>
        </p:spPr>
        <p:txBody>
          <a:bodyPr wrap="square" lIns="0" tIns="0" rIns="0" bIns="0" rtlCol="0" anchor="ctr"/>
          <a:lstStyle/>
          <a:p>
            <a:pPr indent="0" marL="0">
              <a:buNone/>
            </a:pPr>
            <a:r>
              <a:rPr lang="en-US" sz="1800" b="1" dirty="0">
                <a:solidFill>
                  <a:schemeClr val="accent2"/>
                </a:solidFill>
              </a:rPr>
              <a:t>Honest limits: public photos only, no plant trial, locator below its gate, D1 test recall 0.88</a:t>
            </a:r>
            <a:endParaRPr lang="en-US" sz="1800" dirty="0"/>
          </a:p>
        </p:txBody>
      </p:sp>
      <p:sp>
        <p:nvSpPr>
          <p:cNvPr id="25" name="Slide Number Placeholder 0"/>
          <p:cNvSpPr>
            <a:spLocks noGrp="1"/>
          </p:cNvSpPr>
          <p:nvPr>
            <p:ph type="sldNum" sz="quarter" idx="4294967295"/>
          </p:nvPr>
        </p:nvSpPr>
        <p:spPr>
          <a:xfrm>
            <a:off x="10972800" y="6400800"/>
            <a:ext cx="310896"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100">
                <a:solidFill>
                  <a:schemeClr val="accent4"/>
                </a:solidFill>
                <a:latin typeface="+mn-lt"/>
                <a:ea typeface="+mn-lt"/>
                <a:cs typeface="+mn-lt"/>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body" hasCustomPrompt="1"/>
          </p:nvPr>
        </p:nvSpPr>
        <p:spPr>
          <a:xfrm>
            <a:off x="777240" y="384048"/>
            <a:ext cx="10058400" cy="365760"/>
          </a:xfrm>
          <a:prstGeom prst="rect">
            <a:avLst/>
          </a:prstGeom>
          <a:noFill/>
          <a:ln/>
        </p:spPr>
        <p:txBody>
          <a:bodyPr wrap="square" lIns="0" tIns="0" rIns="0" bIns="0" rtlCol="0" anchor="ctr"/>
          <a:lstStyle/>
          <a:p>
            <a:pPr indent="0" marL="0">
              <a:buNone/>
            </a:pPr>
            <a:r>
              <a:rPr lang="en-US" sz="1400" b="1" dirty="0">
                <a:solidFill>
                  <a:schemeClr val="accent1"/>
                </a:solidFill>
              </a:rPr>
              <a:t>CONCLUSION</a:t>
            </a:r>
            <a:endParaRPr lang="en-US" sz="1400" dirty="0"/>
          </a:p>
        </p:txBody>
      </p:sp>
      <p:sp>
        <p:nvSpPr>
          <p:cNvPr id="3" name="Text 2"/>
          <p:cNvSpPr/>
          <p:nvPr>
            <p:ph idx="103" type="title" hasCustomPrompt="1"/>
          </p:nvPr>
        </p:nvSpPr>
        <p:spPr>
          <a:xfrm>
            <a:off x="777240" y="731520"/>
            <a:ext cx="11064240" cy="822960"/>
          </a:xfrm>
          <a:prstGeom prst="rect">
            <a:avLst/>
          </a:prstGeom>
          <a:noFill/>
          <a:ln/>
        </p:spPr>
        <p:txBody>
          <a:bodyPr wrap="square" lIns="0" tIns="0" rIns="0" bIns="0" rtlCol="0" anchor="ctr"/>
          <a:lstStyle/>
          <a:p>
            <a:pPr algn="l" indent="0" marL="0">
              <a:buNone/>
            </a:pPr>
            <a:r>
              <a:rPr lang="en-US" sz="3000" b="1" i="1" dirty="0">
                <a:solidFill>
                  <a:schemeClr val="tx2"/>
                </a:solidFill>
              </a:rPr>
              <a:t>A safe, traceable path to more retreads</a:t>
            </a:r>
            <a:endParaRPr lang="en-US" sz="3000" dirty="0"/>
          </a:p>
        </p:txBody>
      </p:sp>
      <p:sp>
        <p:nvSpPr>
          <p:cNvPr id="5" name="end-0-card"/>
          <p:cNvSpPr/>
          <p:nvPr/>
        </p:nvSpPr>
        <p:spPr>
          <a:xfrm>
            <a:off x="777240" y="1783080"/>
            <a:ext cx="5212080" cy="3291840"/>
          </a:xfrm>
          <a:prstGeom prst="rect">
            <a:avLst/>
          </a:prstGeom>
          <a:solidFill>
            <a:schemeClr val="bg1"/>
          </a:solidFill>
          <a:ln w="12700">
            <a:solidFill>
              <a:schemeClr val="bg2"/>
            </a:solidFill>
            <a:prstDash val="solid"/>
          </a:ln>
        </p:spPr>
      </p:sp>
      <p:sp>
        <p:nvSpPr>
          <p:cNvPr id="6" name="end-0-bar"/>
          <p:cNvSpPr/>
          <p:nvPr/>
        </p:nvSpPr>
        <p:spPr>
          <a:xfrm>
            <a:off x="777240" y="1783080"/>
            <a:ext cx="5212080" cy="82296"/>
          </a:xfrm>
          <a:prstGeom prst="rect">
            <a:avLst/>
          </a:prstGeom>
          <a:solidFill>
            <a:schemeClr val="accent2"/>
          </a:solidFill>
          <a:ln w="12700">
            <a:solidFill>
              <a:schemeClr val="accent2"/>
            </a:solidFill>
            <a:prstDash val="solid"/>
          </a:ln>
        </p:spPr>
      </p:sp>
      <p:sp>
        <p:nvSpPr>
          <p:cNvPr id="7" name="end-0-head"/>
          <p:cNvSpPr txBox="1"/>
          <p:nvPr/>
        </p:nvSpPr>
        <p:spPr>
          <a:xfrm>
            <a:off x="1051560" y="1965960"/>
            <a:ext cx="4663440" cy="548640"/>
          </a:xfrm>
          <a:prstGeom prst="rect">
            <a:avLst/>
          </a:prstGeom>
          <a:noFill/>
          <a:ln/>
        </p:spPr>
        <p:txBody>
          <a:bodyPr wrap="square" lIns="0" tIns="0" rIns="0" bIns="0" rtlCol="0" anchor="ctr"/>
          <a:lstStyle/>
          <a:p>
            <a:pPr indent="0" marL="0">
              <a:buNone/>
            </a:pPr>
            <a:r>
              <a:rPr lang="en-US" sz="2200" b="1" i="1" dirty="0">
                <a:solidFill>
                  <a:schemeClr val="tx2"/>
                </a:solidFill>
                <a:latin typeface="+mj-lt" pitchFamily="34" charset="0"/>
                <a:ea typeface="+mj-lt" pitchFamily="34" charset="-122"/>
                <a:cs typeface="+mj-lt" pitchFamily="34" charset="-120"/>
              </a:rPr>
              <a:t>Findings</a:t>
            </a:r>
            <a:endParaRPr lang="en-US" sz="2200" dirty="0"/>
          </a:p>
        </p:txBody>
      </p:sp>
      <p:sp>
        <p:nvSpPr>
          <p:cNvPr id="8" name="end-0-list"/>
          <p:cNvSpPr txBox="1"/>
          <p:nvPr/>
        </p:nvSpPr>
        <p:spPr>
          <a:xfrm>
            <a:off x="1051560" y="2697480"/>
            <a:ext cx="4709160" cy="2286000"/>
          </a:xfrm>
          <a:prstGeom prst="rect">
            <a:avLst/>
          </a:prstGeom>
          <a:noFill/>
          <a:ln/>
        </p:spPr>
        <p:txBody>
          <a:bodyPr wrap="square" lIns="508" tIns="508" rIns="508" bIns="508" rtlCol="0" anchor="t"/>
          <a:lstStyle/>
          <a:p>
            <a:pPr marL="342900" indent="-342900">
              <a:spcAft>
                <a:spcPts val="1000"/>
              </a:spcAft>
              <a:buSzPct val="100000"/>
              <a:buChar char="■"/>
            </a:pPr>
            <a:r>
              <a:rPr lang="en-US" sz="1800" dirty="0">
                <a:solidFill>
                  <a:schemeClr val="tx1"/>
                </a:solidFill>
              </a:rPr>
              <a:t>ConvNeXt v4: 4 of 282 defects auto-cleared</a:t>
            </a:r>
            <a:endParaRPr lang="en-US" sz="1800" dirty="0"/>
          </a:p>
          <a:p>
            <a:pPr marL="342900" indent="-342900">
              <a:spcAft>
                <a:spcPts val="1000"/>
              </a:spcAft>
              <a:buSzPct val="100000"/>
              <a:buChar char="■"/>
            </a:pPr>
            <a:r>
              <a:rPr lang="en-US" sz="1800" dirty="0">
                <a:solidFill>
                  <a:schemeClr val="tx1"/>
                </a:solidFill>
              </a:rPr>
              <a:t>Low-light recall 0.76 → 0.90</a:t>
            </a:r>
            <a:endParaRPr lang="en-US" sz="1800" dirty="0"/>
          </a:p>
          <a:p>
            <a:pPr marL="342900" indent="-342900">
              <a:spcAft>
                <a:spcPts val="1000"/>
              </a:spcAft>
              <a:buSzPct val="100000"/>
              <a:buChar char="■"/>
            </a:pPr>
            <a:r>
              <a:rPr lang="en-US" sz="1800" dirty="0">
                <a:solidFill>
                  <a:schemeClr val="tx1"/>
                </a:solidFill>
              </a:rPr>
              <a:t>Live line camera with boxes, RTSP from Bib</a:t>
            </a:r>
            <a:endParaRPr lang="en-US" sz="1800" dirty="0"/>
          </a:p>
        </p:txBody>
      </p:sp>
      <p:sp>
        <p:nvSpPr>
          <p:cNvPr id="9" name="end-1-card"/>
          <p:cNvSpPr/>
          <p:nvPr/>
        </p:nvSpPr>
        <p:spPr>
          <a:xfrm>
            <a:off x="6263640" y="1783080"/>
            <a:ext cx="5212080" cy="3291840"/>
          </a:xfrm>
          <a:prstGeom prst="rect">
            <a:avLst/>
          </a:prstGeom>
          <a:solidFill>
            <a:schemeClr val="bg1"/>
          </a:solidFill>
          <a:ln w="12700">
            <a:solidFill>
              <a:schemeClr val="bg2"/>
            </a:solidFill>
            <a:prstDash val="solid"/>
          </a:ln>
        </p:spPr>
      </p:sp>
      <p:sp>
        <p:nvSpPr>
          <p:cNvPr id="10" name="end-1-bar"/>
          <p:cNvSpPr/>
          <p:nvPr/>
        </p:nvSpPr>
        <p:spPr>
          <a:xfrm>
            <a:off x="6263640" y="1783080"/>
            <a:ext cx="5212080" cy="82296"/>
          </a:xfrm>
          <a:prstGeom prst="rect">
            <a:avLst/>
          </a:prstGeom>
          <a:solidFill>
            <a:schemeClr val="accent2"/>
          </a:solidFill>
          <a:ln w="12700">
            <a:solidFill>
              <a:schemeClr val="accent2"/>
            </a:solidFill>
            <a:prstDash val="solid"/>
          </a:ln>
        </p:spPr>
      </p:sp>
      <p:sp>
        <p:nvSpPr>
          <p:cNvPr id="11" name="end-1-head"/>
          <p:cNvSpPr txBox="1"/>
          <p:nvPr/>
        </p:nvSpPr>
        <p:spPr>
          <a:xfrm>
            <a:off x="6537960" y="1965960"/>
            <a:ext cx="4663440" cy="548640"/>
          </a:xfrm>
          <a:prstGeom prst="rect">
            <a:avLst/>
          </a:prstGeom>
          <a:noFill/>
          <a:ln/>
        </p:spPr>
        <p:txBody>
          <a:bodyPr wrap="square" lIns="0" tIns="0" rIns="0" bIns="0" rtlCol="0" anchor="ctr"/>
          <a:lstStyle/>
          <a:p>
            <a:pPr indent="0" marL="0">
              <a:buNone/>
            </a:pPr>
            <a:r>
              <a:rPr lang="en-US" sz="2200" b="1" i="1" dirty="0">
                <a:solidFill>
                  <a:schemeClr val="tx2"/>
                </a:solidFill>
                <a:latin typeface="+mj-lt" pitchFamily="34" charset="0"/>
                <a:ea typeface="+mj-lt" pitchFamily="34" charset="-122"/>
                <a:cs typeface="+mj-lt" pitchFamily="34" charset="-120"/>
              </a:rPr>
              <a:t>Next steps</a:t>
            </a:r>
            <a:endParaRPr lang="en-US" sz="2200" dirty="0"/>
          </a:p>
        </p:txBody>
      </p:sp>
      <p:sp>
        <p:nvSpPr>
          <p:cNvPr id="12" name="end-1-list"/>
          <p:cNvSpPr txBox="1"/>
          <p:nvPr/>
        </p:nvSpPr>
        <p:spPr>
          <a:xfrm>
            <a:off x="6537960" y="2697480"/>
            <a:ext cx="4709160" cy="2286000"/>
          </a:xfrm>
          <a:prstGeom prst="rect">
            <a:avLst/>
          </a:prstGeom>
          <a:noFill/>
          <a:ln/>
        </p:spPr>
        <p:txBody>
          <a:bodyPr wrap="square" lIns="508" tIns="508" rIns="508" bIns="508" rtlCol="0" anchor="t"/>
          <a:lstStyle/>
          <a:p>
            <a:pPr marL="342900" indent="-342900">
              <a:spcAft>
                <a:spcPts val="1000"/>
              </a:spcAft>
              <a:buSzPct val="100000"/>
              <a:buChar char="■"/>
            </a:pPr>
            <a:r>
              <a:rPr lang="en-US" sz="1800" dirty="0">
                <a:solidFill>
                  <a:schemeClr val="tx1"/>
                </a:solidFill>
              </a:rPr>
              <a:t>Label cuts and gashes on new tyres</a:t>
            </a:r>
            <a:endParaRPr lang="en-US" sz="1800" dirty="0"/>
          </a:p>
          <a:p>
            <a:pPr marL="342900" indent="-342900">
              <a:spcAft>
                <a:spcPts val="1000"/>
              </a:spcAft>
              <a:buSzPct val="100000"/>
              <a:buChar char="■"/>
            </a:pPr>
            <a:r>
              <a:rPr lang="en-US" sz="1800" dirty="0">
                <a:solidFill>
                  <a:schemeClr val="tx1"/>
                </a:solidFill>
              </a:rPr>
              <a:t>Plant pilot: time and cost per casing</a:t>
            </a:r>
            <a:endParaRPr lang="en-US" sz="1800" dirty="0"/>
          </a:p>
          <a:p>
            <a:pPr marL="342900" indent="-342900">
              <a:spcAft>
                <a:spcPts val="1000"/>
              </a:spcAft>
              <a:buSzPct val="100000"/>
              <a:buChar char="■"/>
            </a:pPr>
            <a:r>
              <a:rPr lang="en-US" sz="1800" dirty="0">
                <a:solidFill>
                  <a:schemeClr val="tx1"/>
                </a:solidFill>
              </a:rPr>
              <a:t>Pre-screen before shearography, not instead</a:t>
            </a:r>
            <a:endParaRPr lang="en-US" sz="1800" dirty="0"/>
          </a:p>
        </p:txBody>
      </p:sp>
      <p:sp>
        <p:nvSpPr>
          <p:cNvPr id="13" name="future-band"/>
          <p:cNvSpPr/>
          <p:nvPr/>
        </p:nvSpPr>
        <p:spPr>
          <a:xfrm>
            <a:off x="777240" y="5440680"/>
            <a:ext cx="10698480" cy="868680"/>
          </a:xfrm>
          <a:prstGeom prst="rect">
            <a:avLst/>
          </a:prstGeom>
          <a:solidFill>
            <a:schemeClr val="tx2"/>
          </a:solidFill>
          <a:ln w="12700">
            <a:solidFill>
              <a:schemeClr val="tx2"/>
            </a:solidFill>
            <a:prstDash val="solid"/>
          </a:ln>
        </p:spPr>
      </p:sp>
      <p:sp>
        <p:nvSpPr>
          <p:cNvPr id="14" name="future-text"/>
          <p:cNvSpPr txBox="1"/>
          <p:nvPr/>
        </p:nvSpPr>
        <p:spPr>
          <a:xfrm>
            <a:off x="1097280" y="5440680"/>
            <a:ext cx="10149840" cy="868680"/>
          </a:xfrm>
          <a:prstGeom prst="rect">
            <a:avLst/>
          </a:prstGeom>
          <a:noFill/>
          <a:ln/>
        </p:spPr>
        <p:txBody>
          <a:bodyPr wrap="square" lIns="0" tIns="0" rIns="0" bIns="0" rtlCol="0" anchor="ctr"/>
          <a:lstStyle/>
          <a:p>
            <a:pPr indent="0" marL="0">
              <a:buNone/>
            </a:pPr>
            <a:r>
              <a:rPr lang="en-US" sz="2000" b="1" dirty="0">
                <a:solidFill>
                  <a:schemeClr val="accent2"/>
                </a:solidFill>
              </a:rPr>
              <a:t>Future work: damage data, plant pilot, edge cameras   ·   Thank you</a:t>
            </a:r>
            <a:endParaRPr lang="en-US" sz="2000" dirty="0"/>
          </a:p>
        </p:txBody>
      </p:sp>
      <p:sp>
        <p:nvSpPr>
          <p:cNvPr id="25" name="Slide Number Placeholder 0"/>
          <p:cNvSpPr>
            <a:spLocks noGrp="1"/>
          </p:cNvSpPr>
          <p:nvPr>
            <p:ph type="sldNum" sz="quarter" idx="4294967295"/>
          </p:nvPr>
        </p:nvSpPr>
        <p:spPr>
          <a:xfrm>
            <a:off x="10972800" y="6400800"/>
            <a:ext cx="310896"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100">
                <a:solidFill>
                  <a:schemeClr val="accent4"/>
                </a:solidFill>
                <a:latin typeface="+mn-lt"/>
                <a:ea typeface="+mn-lt"/>
                <a:cs typeface="+mn-lt"/>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TreadOps Michelin">
  <a:themeElements>
    <a:clrScheme name="TreadOps Michelin">
      <a:dk1>
        <a:srgbClr val="111111"/>
      </a:dk1>
      <a:lt1>
        <a:srgbClr val="FFFFFF"/>
      </a:lt1>
      <a:dk2>
        <a:srgbClr val="00205B"/>
      </a:dk2>
      <a:lt2>
        <a:srgbClr val="F4F5F8"/>
      </a:lt2>
      <a:accent1>
        <a:srgbClr val="27509B"/>
      </a:accent1>
      <a:accent2>
        <a:srgbClr val="FCE500"/>
      </a:accent2>
      <a:accent3>
        <a:srgbClr val="E9EEF8"/>
      </a:accent3>
      <a:accent4>
        <a:srgbClr val="5B6677"/>
      </a:accent4>
      <a:accent5>
        <a:srgbClr val="C62839"/>
      </a:accent5>
      <a:accent6>
        <a:srgbClr val="0D8A5C"/>
      </a:accent6>
      <a:hlink>
        <a:srgbClr val="27509B"/>
      </a:hlink>
      <a:folHlink>
        <a:srgbClr val="5B6677"/>
      </a:folHlink>
    </a:clrScheme>
    <a:fontScheme name="TreadOps Michelin">
      <a:majorFont>
        <a:latin typeface="Saira Expande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TreadOps</dc:title>
  <dc:subject>PptxGenJS Presentation</dc:subject>
  <dc:creator>Arav Saxena, Mahi Laddha</dc:creator>
  <cp:lastModifiedBy>Arav Saxena, Mahi Laddha</cp:lastModifiedBy>
  <cp:revision>1</cp:revision>
  <dcterms:created xsi:type="dcterms:W3CDTF">2026-10-24T18:25:04Z</dcterms:created>
  <dcterms:modified xsi:type="dcterms:W3CDTF">2026-10-24T18:25:04Z</dcterms:modified>
</cp:coreProperties>
</file>